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</p:sldIdLst>
  <p:notesMasterIdLst>
    <p:notesMasterId r:id="rId38"/>
  </p:notesMasterIdLst>
  <p:sldSz cx="12192000" cy="6858000" type="custom"/>
  <p:notesSz cx="12192000" cy="6858000"/>
</p:presentation>
</file>

<file path=ppt/presProps.xml><?xml version="1.0" encoding="utf-8"?>
<p:presentationPr xmlns:p="http://schemas.openxmlformats.org/presentationml/2006/main" xmlns:a="http://schemas.openxmlformats.org/drawingml/2006/main" xmlns:r="http://schemas.openxmlformats.org/officeDocument/2006/relationships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xmlns:r="http://schemas.openxmlformats.org/officeDocument/2006/relationships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/>
          <p:nvPr>
            <p:ph type="body" idx="1"/>
          </p:nvPr>
        </p:nvSpPr>
        <p:spPr/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Harness 核心概念页。左侧三层嵌套图:内核模型、中层 Harness、外层组织;右侧一句话定义与公司类比。检查:说出 Harness 至少 3 个组成。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Loop Engineering 四要素方法页。顶部循环图:目标→行动→反馈→验证+回环线;每要素一条设计标准;下半页正反对照:散文反馈 vs 结构化 JSON 校验结果。检查:验证由谁做。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工具设计方法页。左侧工具说明书三要素(名字/参数/返回)+原则;右侧示意代码块:把物联网平台查墒情接口写成工具描述;底部行动:盘点第一批工具化接口。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验证与护栏三层:程序化校验→模型自检→人在回路。左侧三层带升级箭头;右侧公司映射、结论"护栏不是不信任 AI,是让循环可托付"与检查提问。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案例演示:墒情巡检报告智能体五步流程(目标→行动→反馈→验证→交付),每步标注对应 Loop 要素;验证不通过回到行动;效果对比为教学演示数据;检查提问聚焦最容易被省掉的环节。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第四章章节页:把智能体装进每个岗位。学习问题:你的岗位里,哪 20% 的重复工作可以派出去?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岗位页·研发:Coding Agent 是新同事。工作流四步(需求拆解→代码生成→自测→评审-人);适用三类场景;三个上手动作分别对应上下文工程/Loop/护栏;行动:本周让一个 bug 修复从 Agent 开始。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售前与市场岗位页:从资料到方案的四棒流水线——调研、生成、改写、核查,最后一棒必须人工把关。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交付与运维岗位页:异常排查智能体循环五步,最后一步人确认派单;价值在夜间周末自动值守。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职能与管理岗位页:三个低门槛智能体,每个给目标-工具-验收一句话委派单;行动是写出第一张任务委派单。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第五章章节页:内部案例——智能体已经在我们的项目里。用四个真实项目(onsub.pub 智能灌溉、e生态平台重构、IST-OS 固件、耘曜重构)串起第二/三章的智能体思维、Harness 与 Loop 四要素;讲师点评与事实区分,沉淀可复用经验。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案例①(上)onsub.pub 策略 Skill:左栏事实速览为报告原文事实(产品定位、策略 Skill 上线、每日 8 点判灌切换 Skill 版本、分组 AI 助手、18 次有效提交、分层墒情);右栏讲师点评用 Loop 四要素拆解(目标/行动/反馈/验证),呼应第 11 页委派单、第 16 页 Loop 四要素、第 18 页人在回路;底部亮点条:规则文档化=把上下文工程交给业务,呼应第 13 页。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案例①(下)onsub.pub 控制 Skill Demo:左栏事实速览为报告原文事实(Demo 验证目标、意图→确认→执行→返回链路、AI 语义/代码协议分工、沙箱不真实下发);右栏讲师点评:确定性封装(第 17 页)、用户确认=人在回路(第 18 页)、沙箱=护栏、边界声明(第 34 页风险红线);底部 paleT 待补条:真实凭证绑定后的权限细分与审计(报告已列入计划)。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案例② e生态平台重构:左栏事实速览(14个VEP/7已交付、98.6%满足率、9模块仅经api包通信、VEP-0007目录规范支撑AI协作、VEP-0003数字人探索不阻塞主线);右栏讲师点评:目录规范=给Coding Agent的可导航环境(第15页Harness)、VEP提案=委派单(第11页)、两轮评审=人在回路(第18页)、探索性提案单列=风险分级(第16页)。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案例③ IST-OS:左栏事实速览(503/503主机测试、62/62 HIL、MISRA≤17、PRECOMMIT_FULL全通过;Wave 6云端联调因缺Insentek测试/沙箱环境阻塞);右栏讲师点评:验证自动化=护栏(第16页Loop·验证、第18页)、缺沙箱=Harness断点(第15页)、造环境与写代码同等重要(第17页工具设计)。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案例④耘曜:左栏为报告事实(架构重构成果/现场调试关键问题/cron 兜底未部署教训),右栏讲师点评挂回课程概念——代码层可加速(第 11 页委派单)、物理验证循环不可压缩(第 16 页 Loop 四要素)、反馈断在环境侧(第 15 页 Harness)、回退原版的智慧(第 18 页验证护栏)。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案例总评:4 项目 × Loop 四要素(目标/行动/反馈/验证)对照表,强=松绿、弱=赭石;共同启示为「验证与环境是共同短板」;迁移建议把判灌 Skill 经验复制到墒情巡检报告场景,呼应第 19 页与第 33 页。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第六章章节页:从知道到做到——落地与边界。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机会地图:价值×实施难度 2×2 散点,8 个候选场景;建议优先高价值低难度象限;教学盘点,供内部讨论。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风险与边界:三条红线(数据安全、幻觉核查、责任边界)+ 可以做 vs 必须人在回路正反对照。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结尾页:30 天行动计划四周节奏 + 结束语「从会问到会派活」,低密度呼应封面。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15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16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17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18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19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20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21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22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23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24" Type="http://schemas.openxmlformats.org/officeDocument/2006/relationships/notesSlide" Target="../notesSlides/notesSlide24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25" Type="http://schemas.openxmlformats.org/officeDocument/2006/relationships/notesSlide" Target="../notesSlides/notesSlide25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26" Type="http://schemas.openxmlformats.org/officeDocument/2006/relationships/notesSlide" Target="../notesSlides/notesSlide26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27" Type="http://schemas.openxmlformats.org/officeDocument/2006/relationships/notesSlide" Target="../notesSlides/notesSlide27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28" Type="http://schemas.openxmlformats.org/officeDocument/2006/relationships/notesSlide" Target="../notesSlides/notesSlide28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29" Type="http://schemas.openxmlformats.org/officeDocument/2006/relationships/notesSlide" Target="../notesSlides/notesSlide29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30" Type="http://schemas.openxmlformats.org/officeDocument/2006/relationships/notesSlide" Target="../notesSlides/notesSlide30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31" Type="http://schemas.openxmlformats.org/officeDocument/2006/relationships/notesSlide" Target="../notesSlides/notesSlide31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32" Type="http://schemas.openxmlformats.org/officeDocument/2006/relationships/notesSlide" Target="../notesSlides/notesSlide32.xm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33" Type="http://schemas.openxmlformats.org/officeDocument/2006/relationships/notesSlide" Target="../notesSlides/notesSlide33.xml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34" Type="http://schemas.openxmlformats.org/officeDocument/2006/relationships/notesSlide" Target="../notesSlides/notesSlide34.xml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35" Type="http://schemas.openxmlformats.org/officeDocument/2006/relationships/notesSlide" Target="../notesSlides/notesSlide35.xml"/></Relationships>
</file>

<file path=ppt/slides/slide1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1905000"/>
            <a:ext cx="711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100" b="1" spc="200" kern="0">
                <a:solidFill>
                  <a:srgbClr val="C26A2E"/>
                </a:solidFill>
                <a:latin typeface="Liter"/>
                <a:ea typeface="Liter"/>
              </a:rPr>
              <a:t>东方智感 · AI 内训第三期</a:t>
            </a:r>
            <a:endParaRPr lang="en-US" sz="1100"/>
          </a:p>
        </p:txBody>
      </p:sp>
      <p:sp>
        <p:nvSpPr>
          <p:cNvPr id="3" name="main-title"/>
          <p:cNvSpPr txBox="1"/>
          <p:nvPr/>
        </p:nvSpPr>
        <p:spPr>
          <a:xfrm>
            <a:off x="711200" y="2336800"/>
            <a:ext cx="81280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4400" b="1">
                <a:solidFill>
                  <a:srgbClr val="1E4D3B"/>
                </a:solidFill>
                <a:latin typeface="Liter"/>
                <a:ea typeface="Liter"/>
              </a:rPr>
              <a:t>智能体与 AI 最新发展</a:t>
            </a:r>
            <a:endParaRPr lang="en-US" sz="4400"/>
          </a:p>
        </p:txBody>
      </p:sp>
      <p:sp>
        <p:nvSpPr>
          <p:cNvPr id="4" name="sub-title"/>
          <p:cNvSpPr txBox="1"/>
          <p:nvPr/>
        </p:nvSpPr>
        <p:spPr>
          <a:xfrm>
            <a:off x="711200" y="3225800"/>
            <a:ext cx="812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2800" b="1">
                <a:solidFill>
                  <a:srgbClr val="C26A2E"/>
                </a:solidFill>
                <a:latin typeface="MiSans"/>
                <a:ea typeface="MiSans"/>
              </a:rPr>
              <a:t>从「会问」到「会派活」</a:t>
            </a:r>
            <a:endParaRPr lang="en-US" sz="2800"/>
          </a:p>
        </p:txBody>
      </p:sp>
      <p:sp>
        <p:nvSpPr>
          <p:cNvPr id="5" name="accent-bar"/>
          <p:cNvSpPr/>
          <p:nvPr/>
        </p:nvSpPr>
        <p:spPr>
          <a:xfrm>
            <a:off x="711200" y="4013200"/>
            <a:ext cx="914400" cy="50800"/>
          </a:xfrm>
          <a:prstGeom prst="rect">
            <a:avLst/>
          </a:prstGeom>
          <a:solidFill>
            <a:srgbClr val="C26A2E"/>
          </a:solidFill>
          <a:ln>
            <a:noFill/>
          </a:ln>
        </p:spPr>
      </p:sp>
      <p:sp>
        <p:nvSpPr>
          <p:cNvPr id="6" name="subtitle"/>
          <p:cNvSpPr txBox="1"/>
          <p:nvPr/>
        </p:nvSpPr>
        <p:spPr>
          <a:xfrm>
            <a:off x="711200" y="4292600"/>
            <a:ext cx="812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22211E"/>
                </a:solidFill>
                <a:latin typeface="MiSans"/>
                <a:ea typeface="MiSans"/>
              </a:rPr>
              <a:t>智能体思维 · Harness 与 Loop Engineering</a:t>
            </a:r>
            <a:endParaRPr lang="en-US" sz="1500"/>
          </a:p>
        </p:txBody>
      </p:sp>
      <p:sp>
        <p:nvSpPr>
          <p:cNvPr id="7" name="series-note"/>
          <p:cNvSpPr txBox="1"/>
          <p:nvPr/>
        </p:nvSpPr>
        <p:spPr>
          <a:xfrm>
            <a:off x="711200" y="4699000"/>
            <a:ext cx="812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50000"/>
              </a:lnSpc>
            </a:pPr>
            <a:r>
              <a:rPr lang="en-US" sz="1200">
                <a:solidFill>
                  <a:srgbClr val="6B675F"/>
                </a:solidFill>
                <a:latin typeface="Liter"/>
                <a:ea typeface="Liter"/>
              </a:rPr>
              <a:t>承接《机器学习基础》《Prompt Engineering》两期培训，走向「派任务 + 验收」</a:t>
            </a:r>
            <a:endParaRPr lang="en-US" sz="1200"/>
          </a:p>
        </p:txBody>
      </p:sp>
      <p:sp>
        <p:nvSpPr>
          <p:cNvPr id="8" name="date-line"/>
          <p:cNvSpPr txBox="1"/>
          <p:nvPr/>
        </p:nvSpPr>
        <p:spPr>
          <a:xfrm>
            <a:off x="711200" y="59436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55000"/>
              </a:lnSpc>
            </a:pPr>
            <a:r>
              <a:rPr lang="en-US" sz="1300">
                <a:solidFill>
                  <a:srgbClr val="22211E"/>
                </a:solidFill>
                <a:latin typeface="Liter"/>
                <a:ea typeface="Liter"/>
              </a:rPr>
              <a:t>东方智感 Insentek · 2026 年 7 月</a:t>
            </a:r>
            <a:endParaRPr lang="en-US" sz="1300"/>
          </a:p>
        </p:txBody>
      </p:sp>
      <p:sp>
        <p:nvSpPr>
          <p:cNvPr id="9" name="ring-outer"/>
          <p:cNvSpPr/>
          <p:nvPr/>
        </p:nvSpPr>
        <p:spPr>
          <a:xfrm>
            <a:off x="7620000" y="1778000"/>
            <a:ext cx="3810000" cy="3810000"/>
          </a:xfrm>
          <a:prstGeom prst="ellipse">
            <a:avLst/>
          </a:prstGeom>
          <a:noFill/>
          <a:ln w="19050">
            <a:solidFill>
              <a:srgbClr val="1E4D3B"/>
            </a:solidFill>
          </a:ln>
        </p:spPr>
      </p:sp>
      <p:sp>
        <p:nvSpPr>
          <p:cNvPr id="10" name="ring-mid"/>
          <p:cNvSpPr/>
          <p:nvPr/>
        </p:nvSpPr>
        <p:spPr>
          <a:xfrm>
            <a:off x="8255000" y="2413000"/>
            <a:ext cx="2540000" cy="2540000"/>
          </a:xfrm>
          <a:prstGeom prst="ellipse">
            <a:avLst/>
          </a:prstGeom>
          <a:noFill/>
          <a:ln w="12700">
            <a:solidFill>
              <a:srgbClr val="D8D3C8"/>
            </a:solidFill>
          </a:ln>
        </p:spPr>
      </p:sp>
      <p:sp>
        <p:nvSpPr>
          <p:cNvPr id="11" name="ring-core"/>
          <p:cNvSpPr/>
          <p:nvPr/>
        </p:nvSpPr>
        <p:spPr>
          <a:xfrm>
            <a:off x="8890000" y="3048000"/>
            <a:ext cx="1270000" cy="1270000"/>
          </a:xfrm>
          <a:prstGeom prst="ellipse">
            <a:avLst/>
          </a:prstGeom>
          <a:solidFill>
            <a:srgbClr val="1E4D3B"/>
          </a:solidFill>
          <a:ln>
            <a:noFill/>
          </a:ln>
        </p:spPr>
      </p:sp>
      <p:sp>
        <p:nvSpPr>
          <p:cNvPr id="12" name="ring-icon"/>
          <p:cNvSpPr/>
          <p:nvPr>
            <p:extLst>
              <p:ext uri="{F5677B7D-0D2A-4D9B-9A5C-6D8D7D0E5A5D}">
                <pptd:icon encoding="base64url">eyJpY29uTmFtZSI6ImZhczphcnJvd3Mtcm90YXRlIn0</pptd:icon>
              </p:ext>
            </p:extLst>
          </p:nvPr>
        </p:nvSpPr>
        <p:spPr>
          <a:xfrm>
            <a:off x="9220200" y="3378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66" y="229"/>
                </a:moveTo>
                <a:cubicBezTo>
                  <a:pt x="79" y="136"/>
                  <a:pt x="159" y="64"/>
                  <a:pt x="256" y="64"/>
                </a:cubicBezTo>
                <a:cubicBezTo>
                  <a:pt x="309" y="64"/>
                  <a:pt x="357" y="86"/>
                  <a:pt x="392" y="120"/>
                </a:cubicBezTo>
                <a:cubicBezTo>
                  <a:pt x="392" y="120"/>
                  <a:pt x="392" y="121"/>
                  <a:pt x="392" y="121"/>
                </a:cubicBezTo>
                <a:lnTo>
                  <a:pt x="400" y="128"/>
                </a:lnTo>
                <a:lnTo>
                  <a:pt x="352" y="128"/>
                </a:lnTo>
                <a:cubicBezTo>
                  <a:pt x="334" y="128"/>
                  <a:pt x="320" y="142"/>
                  <a:pt x="320" y="160"/>
                </a:cubicBezTo>
                <a:cubicBezTo>
                  <a:pt x="320" y="178"/>
                  <a:pt x="334" y="192"/>
                  <a:pt x="352" y="192"/>
                </a:cubicBezTo>
                <a:lnTo>
                  <a:pt x="480" y="192"/>
                </a:lnTo>
                <a:cubicBezTo>
                  <a:pt x="498" y="192"/>
                  <a:pt x="512" y="178"/>
                  <a:pt x="512" y="160"/>
                </a:cubicBezTo>
                <a:lnTo>
                  <a:pt x="512" y="32"/>
                </a:lnTo>
                <a:cubicBezTo>
                  <a:pt x="512" y="14"/>
                  <a:pt x="498" y="0"/>
                  <a:pt x="480" y="0"/>
                </a:cubicBezTo>
                <a:cubicBezTo>
                  <a:pt x="462" y="0"/>
                  <a:pt x="448" y="14"/>
                  <a:pt x="448" y="32"/>
                </a:cubicBezTo>
                <a:lnTo>
                  <a:pt x="448" y="85"/>
                </a:lnTo>
                <a:lnTo>
                  <a:pt x="437" y="75"/>
                </a:lnTo>
                <a:cubicBezTo>
                  <a:pt x="391" y="29"/>
                  <a:pt x="327" y="0"/>
                  <a:pt x="256" y="0"/>
                </a:cubicBezTo>
                <a:cubicBezTo>
                  <a:pt x="127" y="0"/>
                  <a:pt x="20" y="95"/>
                  <a:pt x="3" y="220"/>
                </a:cubicBezTo>
                <a:cubicBezTo>
                  <a:pt x="0" y="237"/>
                  <a:pt x="12" y="253"/>
                  <a:pt x="30" y="256"/>
                </a:cubicBezTo>
                <a:cubicBezTo>
                  <a:pt x="47" y="258"/>
                  <a:pt x="63" y="246"/>
                  <a:pt x="66" y="229"/>
                </a:cubicBezTo>
                <a:close/>
                <a:moveTo>
                  <a:pt x="509" y="293"/>
                </a:moveTo>
                <a:cubicBezTo>
                  <a:pt x="512" y="275"/>
                  <a:pt x="500" y="259"/>
                  <a:pt x="482" y="256"/>
                </a:cubicBezTo>
                <a:cubicBezTo>
                  <a:pt x="465" y="254"/>
                  <a:pt x="449" y="266"/>
                  <a:pt x="446" y="283"/>
                </a:cubicBezTo>
                <a:cubicBezTo>
                  <a:pt x="433" y="376"/>
                  <a:pt x="353" y="448"/>
                  <a:pt x="256" y="448"/>
                </a:cubicBezTo>
                <a:cubicBezTo>
                  <a:pt x="203" y="448"/>
                  <a:pt x="155" y="426"/>
                  <a:pt x="120" y="392"/>
                </a:cubicBezTo>
                <a:cubicBezTo>
                  <a:pt x="120" y="392"/>
                  <a:pt x="120" y="391"/>
                  <a:pt x="120" y="391"/>
                </a:cubicBezTo>
                <a:lnTo>
                  <a:pt x="112" y="384"/>
                </a:lnTo>
                <a:lnTo>
                  <a:pt x="160" y="384"/>
                </a:lnTo>
                <a:cubicBezTo>
                  <a:pt x="178" y="384"/>
                  <a:pt x="192" y="370"/>
                  <a:pt x="192" y="352"/>
                </a:cubicBezTo>
                <a:cubicBezTo>
                  <a:pt x="192" y="334"/>
                  <a:pt x="178" y="320"/>
                  <a:pt x="160" y="320"/>
                </a:cubicBezTo>
                <a:lnTo>
                  <a:pt x="32" y="320"/>
                </a:lnTo>
                <a:cubicBezTo>
                  <a:pt x="24" y="320"/>
                  <a:pt x="15" y="323"/>
                  <a:pt x="9" y="330"/>
                </a:cubicBezTo>
                <a:cubicBezTo>
                  <a:pt x="3" y="336"/>
                  <a:pt x="0" y="344"/>
                  <a:pt x="0" y="352"/>
                </a:cubicBezTo>
                <a:lnTo>
                  <a:pt x="1" y="479"/>
                </a:lnTo>
                <a:cubicBezTo>
                  <a:pt x="1" y="497"/>
                  <a:pt x="16" y="511"/>
                  <a:pt x="33" y="511"/>
                </a:cubicBezTo>
                <a:cubicBezTo>
                  <a:pt x="51" y="511"/>
                  <a:pt x="65" y="496"/>
                  <a:pt x="65" y="479"/>
                </a:cubicBezTo>
                <a:lnTo>
                  <a:pt x="65" y="427"/>
                </a:lnTo>
                <a:lnTo>
                  <a:pt x="75" y="437"/>
                </a:lnTo>
                <a:cubicBezTo>
                  <a:pt x="122" y="483"/>
                  <a:pt x="186" y="512"/>
                  <a:pt x="256" y="512"/>
                </a:cubicBezTo>
                <a:cubicBezTo>
                  <a:pt x="385" y="512"/>
                  <a:pt x="492" y="417"/>
                  <a:pt x="509" y="293"/>
                </a:cubicBezTo>
                <a:close/>
              </a:path>
            </a:pathLst>
          </a:custGeom>
          <a:solidFill>
            <a:srgbClr val="F7F5F0"/>
          </a:solidFill>
          <a:ln>
            <a:noFill/>
          </a:ln>
        </p:spPr>
      </p:sp>
      <p:sp>
        <p:nvSpPr>
          <p:cNvPr id="13" name="ring-caption"/>
          <p:cNvSpPr txBox="1"/>
          <p:nvPr/>
        </p:nvSpPr>
        <p:spPr>
          <a:xfrm>
            <a:off x="7620000" y="57404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ctr">
              <a:lnSpc>
                <a:spcPct val="140000"/>
              </a:lnSpc>
            </a:pPr>
            <a:r>
              <a:rPr lang="en-US" sz="1000">
                <a:solidFill>
                  <a:srgbClr val="6B675F"/>
                </a:solidFill>
                <a:latin typeface="Liter"/>
                <a:ea typeface="Liter"/>
              </a:rPr>
              <a:t>观察 · 思考 · 行动 · 再观察</a:t>
            </a:r>
            <a:endParaRPr lang="en-US" sz="10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5080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100" b="1" spc="200" kern="0">
                <a:solidFill>
                  <a:srgbClr val="C26A2E"/>
                </a:solidFill>
                <a:latin typeface="Liter"/>
                <a:ea typeface="Liter"/>
              </a:rPr>
              <a:t>AI 内训第三期 · 学习路线</a:t>
            </a:r>
            <a:endParaRPr lang="en-US" sz="1100"/>
          </a:p>
        </p:txBody>
      </p:sp>
      <p:sp>
        <p:nvSpPr>
          <p:cNvPr id="3" name="title"/>
          <p:cNvSpPr txBox="1"/>
          <p:nvPr/>
        </p:nvSpPr>
        <p:spPr>
          <a:xfrm>
            <a:off x="711200" y="7874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22211E"/>
                </a:solidFill>
                <a:latin typeface="Liter"/>
                <a:ea typeface="Liter"/>
              </a:rPr>
              <a:t>前两期学会「用模型」，这一期学会「用智能体」</a:t>
            </a:r>
            <a:endParaRPr lang="en-US" sz="2600"/>
          </a:p>
        </p:txBody>
      </p:sp>
      <p:sp>
        <p:nvSpPr>
          <p:cNvPr id="4" name="phase1-label"/>
          <p:cNvSpPr txBox="1"/>
          <p:nvPr/>
        </p:nvSpPr>
        <p:spPr>
          <a:xfrm>
            <a:off x="1270000" y="1905000"/>
            <a:ext cx="203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ctr">
              <a:lnSpc>
                <a:spcPct val="150000"/>
              </a:lnSpc>
            </a:pPr>
            <a:r>
              <a:rPr lang="en-US" sz="1100" b="1">
                <a:solidFill>
                  <a:srgbClr val="1E4D3B"/>
                </a:solidFill>
                <a:latin typeface="Liter"/>
                <a:ea typeface="Liter"/>
              </a:rPr>
              <a:t>第一期 · 已完成</a:t>
            </a:r>
            <a:endParaRPr lang="en-US" sz="1100"/>
          </a:p>
        </p:txBody>
      </p:sp>
      <p:sp>
        <p:nvSpPr>
          <p:cNvPr id="5" name="phase2-label"/>
          <p:cNvSpPr txBox="1"/>
          <p:nvPr/>
        </p:nvSpPr>
        <p:spPr>
          <a:xfrm>
            <a:off x="5080000" y="1905000"/>
            <a:ext cx="203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ctr">
              <a:lnSpc>
                <a:spcPct val="150000"/>
              </a:lnSpc>
            </a:pPr>
            <a:r>
              <a:rPr lang="en-US" sz="1100" b="1">
                <a:solidFill>
                  <a:srgbClr val="1E4D3B"/>
                </a:solidFill>
                <a:latin typeface="Liter"/>
                <a:ea typeface="Liter"/>
              </a:rPr>
              <a:t>第二期 · 已完成</a:t>
            </a:r>
            <a:endParaRPr lang="en-US" sz="1100"/>
          </a:p>
        </p:txBody>
      </p:sp>
      <p:sp>
        <p:nvSpPr>
          <p:cNvPr id="6" name="phase3-label"/>
          <p:cNvSpPr txBox="1"/>
          <p:nvPr/>
        </p:nvSpPr>
        <p:spPr>
          <a:xfrm>
            <a:off x="8890000" y="1905000"/>
            <a:ext cx="203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ctr">
              <a:lnSpc>
                <a:spcPct val="150000"/>
              </a:lnSpc>
            </a:pPr>
            <a:r>
              <a:rPr lang="en-US" sz="1100" b="1">
                <a:solidFill>
                  <a:srgbClr val="C26A2E"/>
                </a:solidFill>
                <a:latin typeface="Liter"/>
                <a:ea typeface="Liter"/>
              </a:rPr>
              <a:t>第三期 · 本期</a:t>
            </a:r>
            <a:endParaRPr lang="en-US" sz="1100"/>
          </a:p>
        </p:txBody>
      </p:sp>
      <p:sp>
        <p:nvSpPr>
          <p:cNvPr id="7" name="track"/>
          <p:cNvSpPr/>
          <p:nvPr>
            <p:extLst>
              <p:ext uri="{F5677B7D-0D2A-4D9B-9A5C-6D8D7D0E5A5D}">
                <pptd:line encoding="base64url">eyJjdXJ2ZSI6InJvdW5kIiwicG9pbnRzIjoiMCwxIDc2OCwxIiwidmlld0JveCI6Wzc2OCwyXX0</pptd:line>
              </p:ext>
            </p:extLst>
          </p:nvPr>
        </p:nvSpPr>
        <p:spPr>
          <a:xfrm>
            <a:off x="1219200" y="2235200"/>
            <a:ext cx="9753600" cy="25400"/>
          </a:xfrm>
          <a:custGeom>
            <a:avLst/>
            <a:gdLst/>
            <a:ahLst/>
            <a:cxnLst/>
            <a:rect l="l" t="t" r="r" b="b"/>
            <a:pathLst>
              <a:path w="768" h="2">
                <a:moveTo>
                  <a:pt x="0" y="1"/>
                </a:moveTo>
                <a:lnTo>
                  <a:pt x="768" y="1"/>
                </a:lnTo>
              </a:path>
            </a:pathLst>
          </a:custGeom>
          <a:noFill/>
          <a:ln w="25400" cap="rnd">
            <a:solidFill>
              <a:srgbClr val="1E4D3B"/>
            </a:solidFill>
            <a:round/>
            <a:tailEnd type="arrow"/>
          </a:ln>
        </p:spPr>
      </p:sp>
      <p:sp>
        <p:nvSpPr>
          <p:cNvPr id="8" name="node1"/>
          <p:cNvSpPr/>
          <p:nvPr/>
        </p:nvSpPr>
        <p:spPr>
          <a:xfrm>
            <a:off x="2184400" y="2146300"/>
            <a:ext cx="203200" cy="203200"/>
          </a:xfrm>
          <a:prstGeom prst="ellipse">
            <a:avLst/>
          </a:prstGeom>
          <a:solidFill>
            <a:srgbClr val="1E4D3B"/>
          </a:solidFill>
          <a:ln>
            <a:noFill/>
          </a:ln>
        </p:spPr>
      </p:sp>
      <p:sp>
        <p:nvSpPr>
          <p:cNvPr id="9" name="node2"/>
          <p:cNvSpPr/>
          <p:nvPr/>
        </p:nvSpPr>
        <p:spPr>
          <a:xfrm>
            <a:off x="5994400" y="2146300"/>
            <a:ext cx="203200" cy="203200"/>
          </a:xfrm>
          <a:prstGeom prst="ellipse">
            <a:avLst/>
          </a:prstGeom>
          <a:solidFill>
            <a:srgbClr val="1E4D3B"/>
          </a:solidFill>
          <a:ln>
            <a:noFill/>
          </a:ln>
        </p:spPr>
      </p:sp>
      <p:sp>
        <p:nvSpPr>
          <p:cNvPr id="10" name="node3"/>
          <p:cNvSpPr/>
          <p:nvPr/>
        </p:nvSpPr>
        <p:spPr>
          <a:xfrm>
            <a:off x="9804400" y="2146300"/>
            <a:ext cx="203200" cy="203200"/>
          </a:xfrm>
          <a:prstGeom prst="ellipse">
            <a:avLst/>
          </a:prstGeom>
          <a:solidFill>
            <a:srgbClr val="C26A2E"/>
          </a:solidFill>
          <a:ln>
            <a:noFill/>
          </a:ln>
        </p:spPr>
      </p:sp>
      <p:sp>
        <p:nvSpPr>
          <p:cNvPr id="11" name="phase1-name"/>
          <p:cNvSpPr txBox="1"/>
          <p:nvPr/>
        </p:nvSpPr>
        <p:spPr>
          <a:xfrm>
            <a:off x="1270000" y="2514600"/>
            <a:ext cx="203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ctr">
              <a:lnSpc>
                <a:spcPct val="120000"/>
              </a:lnSpc>
            </a:pPr>
            <a:r>
              <a:rPr lang="en-US" sz="1400" b="1">
                <a:solidFill>
                  <a:srgbClr val="22211E"/>
                </a:solidFill>
                <a:latin typeface="MiSans"/>
                <a:ea typeface="MiSans"/>
              </a:rPr>
              <a:t>机器学习基础</a:t>
            </a:r>
            <a:endParaRPr lang="en-US" sz="1400"/>
          </a:p>
        </p:txBody>
      </p:sp>
      <p:sp>
        <p:nvSpPr>
          <p:cNvPr id="12" name="phase2-name"/>
          <p:cNvSpPr txBox="1"/>
          <p:nvPr/>
        </p:nvSpPr>
        <p:spPr>
          <a:xfrm>
            <a:off x="5080000" y="2514600"/>
            <a:ext cx="203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ctr">
              <a:lnSpc>
                <a:spcPct val="120000"/>
              </a:lnSpc>
            </a:pPr>
            <a:r>
              <a:rPr lang="en-US" sz="1400" b="1">
                <a:solidFill>
                  <a:srgbClr val="22211E"/>
                </a:solidFill>
                <a:latin typeface="MiSans"/>
                <a:ea typeface="MiSans"/>
              </a:rPr>
              <a:t>Prompt Engineering</a:t>
            </a:r>
            <a:endParaRPr lang="en-US" sz="1400"/>
          </a:p>
        </p:txBody>
      </p:sp>
      <p:sp>
        <p:nvSpPr>
          <p:cNvPr id="13" name="phase3-name"/>
          <p:cNvSpPr txBox="1"/>
          <p:nvPr/>
        </p:nvSpPr>
        <p:spPr>
          <a:xfrm>
            <a:off x="8890000" y="2514600"/>
            <a:ext cx="203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ctr">
              <a:lnSpc>
                <a:spcPct val="120000"/>
              </a:lnSpc>
            </a:pPr>
            <a:r>
              <a:rPr lang="en-US" sz="1400" b="1">
                <a:solidFill>
                  <a:srgbClr val="C26A2E"/>
                </a:solidFill>
                <a:latin typeface="MiSans"/>
                <a:ea typeface="MiSans"/>
              </a:rPr>
              <a:t>智能体思维</a:t>
            </a:r>
            <a:endParaRPr lang="en-US" sz="1400"/>
          </a:p>
        </p:txBody>
      </p:sp>
      <p:sp>
        <p:nvSpPr>
          <p:cNvPr id="14" name="phase1-desc"/>
          <p:cNvSpPr txBox="1"/>
          <p:nvPr/>
        </p:nvSpPr>
        <p:spPr>
          <a:xfrm>
            <a:off x="1270000" y="2844800"/>
            <a:ext cx="2032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ctr">
              <a:lnSpc>
                <a:spcPct val="150000"/>
              </a:lnSpc>
            </a:pPr>
            <a:r>
              <a:rPr lang="en-US" sz="1100">
                <a:solidFill>
                  <a:srgbClr val="6B675F"/>
                </a:solidFill>
                <a:latin typeface="Liter"/>
                <a:ea typeface="Liter"/>
              </a:rPr>
              <a:t>理解数据与模型的基本原理</a:t>
            </a:r>
            <a:endParaRPr lang="en-US" sz="1100"/>
          </a:p>
        </p:txBody>
      </p:sp>
      <p:sp>
        <p:nvSpPr>
          <p:cNvPr id="15" name="phase2-desc"/>
          <p:cNvSpPr txBox="1"/>
          <p:nvPr/>
        </p:nvSpPr>
        <p:spPr>
          <a:xfrm>
            <a:off x="5080000" y="2844800"/>
            <a:ext cx="2032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ctr">
              <a:lnSpc>
                <a:spcPct val="150000"/>
              </a:lnSpc>
            </a:pPr>
            <a:r>
              <a:rPr lang="en-US" sz="1100">
                <a:solidFill>
                  <a:srgbClr val="6B675F"/>
                </a:solidFill>
                <a:latin typeface="Liter"/>
                <a:ea typeface="Liter"/>
              </a:rPr>
              <a:t>把话说清楚，让模型听懂意图</a:t>
            </a:r>
            <a:endParaRPr lang="en-US" sz="1100"/>
          </a:p>
        </p:txBody>
      </p:sp>
      <p:sp>
        <p:nvSpPr>
          <p:cNvPr id="16" name="phase3-desc"/>
          <p:cNvSpPr txBox="1"/>
          <p:nvPr/>
        </p:nvSpPr>
        <p:spPr>
          <a:xfrm>
            <a:off x="8890000" y="2844800"/>
            <a:ext cx="2032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ctr">
              <a:lnSpc>
                <a:spcPct val="150000"/>
              </a:lnSpc>
            </a:pPr>
            <a:r>
              <a:rPr lang="en-US" sz="1100">
                <a:solidFill>
                  <a:srgbClr val="6B675F"/>
                </a:solidFill>
                <a:latin typeface="Liter"/>
                <a:ea typeface="Liter"/>
              </a:rPr>
              <a:t>把活派出去，并对结果验收</a:t>
            </a:r>
            <a:endParaRPr lang="en-US" sz="1100"/>
          </a:p>
        </p:txBody>
      </p:sp>
      <p:sp>
        <p:nvSpPr>
          <p:cNvPr id="17" name="outcome-head"/>
          <p:cNvSpPr txBox="1"/>
          <p:nvPr/>
        </p:nvSpPr>
        <p:spPr>
          <a:xfrm>
            <a:off x="711200" y="38100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E4D3B"/>
                </a:solidFill>
                <a:latin typeface="Liter"/>
                <a:ea typeface="Liter"/>
              </a:rPr>
              <a:t>学完本期，你能做到（本期 4 条出口能力）</a:t>
            </a:r>
            <a:endParaRPr lang="en-US" sz="1500"/>
          </a:p>
        </p:txBody>
      </p:sp>
      <p:sp>
        <p:nvSpPr>
          <p:cNvPr id="18" name="out1-num"/>
          <p:cNvSpPr txBox="1"/>
          <p:nvPr/>
        </p:nvSpPr>
        <p:spPr>
          <a:xfrm>
            <a:off x="711200" y="42418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800" b="1">
                <a:solidFill>
                  <a:srgbClr val="C26A2E"/>
                </a:solidFill>
                <a:latin typeface="MiSans"/>
                <a:ea typeface="MiSans"/>
              </a:rPr>
              <a:t>01</a:t>
            </a:r>
            <a:endParaRPr lang="en-US" sz="1800"/>
          </a:p>
        </p:txBody>
      </p:sp>
      <p:sp>
        <p:nvSpPr>
          <p:cNvPr id="19" name="out1-text"/>
          <p:cNvSpPr txBox="1"/>
          <p:nvPr/>
        </p:nvSpPr>
        <p:spPr>
          <a:xfrm>
            <a:off x="1244600" y="4267200"/>
            <a:ext cx="4724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50000"/>
              </a:lnSpc>
            </a:pPr>
            <a:r>
              <a:rPr lang="en-US" sz="1200">
                <a:solidFill>
                  <a:srgbClr val="22211E"/>
                </a:solidFill>
                <a:latin typeface="MiSans"/>
                <a:ea typeface="MiSans"/>
              </a:rPr>
              <a:t>复述智能体的定义与要素，说清它与单次问答的边界</a:t>
            </a:r>
            <a:endParaRPr lang="en-US" sz="1200"/>
          </a:p>
        </p:txBody>
      </p:sp>
      <p:sp>
        <p:nvSpPr>
          <p:cNvPr id="20" name="out2-num"/>
          <p:cNvSpPr txBox="1"/>
          <p:nvPr/>
        </p:nvSpPr>
        <p:spPr>
          <a:xfrm>
            <a:off x="6223000" y="42418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800" b="1">
                <a:solidFill>
                  <a:srgbClr val="C26A2E"/>
                </a:solidFill>
                <a:latin typeface="MiSans"/>
                <a:ea typeface="MiSans"/>
              </a:rPr>
              <a:t>02</a:t>
            </a:r>
            <a:endParaRPr lang="en-US" sz="1800"/>
          </a:p>
        </p:txBody>
      </p:sp>
      <p:sp>
        <p:nvSpPr>
          <p:cNvPr id="21" name="out2-text"/>
          <p:cNvSpPr txBox="1"/>
          <p:nvPr/>
        </p:nvSpPr>
        <p:spPr>
          <a:xfrm>
            <a:off x="6756400" y="4267200"/>
            <a:ext cx="4724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50000"/>
              </a:lnSpc>
            </a:pPr>
            <a:r>
              <a:rPr lang="en-US" sz="1200">
                <a:solidFill>
                  <a:srgbClr val="22211E"/>
                </a:solidFill>
                <a:latin typeface="MiSans"/>
                <a:ea typeface="MiSans"/>
              </a:rPr>
              <a:t>判断一个任务该用 Prompt、Workflow 还是 Agent</a:t>
            </a:r>
            <a:endParaRPr lang="en-US" sz="1200"/>
          </a:p>
        </p:txBody>
      </p:sp>
      <p:sp>
        <p:nvSpPr>
          <p:cNvPr id="22" name="out3-num"/>
          <p:cNvSpPr txBox="1"/>
          <p:nvPr/>
        </p:nvSpPr>
        <p:spPr>
          <a:xfrm>
            <a:off x="711200" y="50546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800" b="1">
                <a:solidFill>
                  <a:srgbClr val="C26A2E"/>
                </a:solidFill>
                <a:latin typeface="MiSans"/>
                <a:ea typeface="MiSans"/>
              </a:rPr>
              <a:t>03</a:t>
            </a:r>
            <a:endParaRPr lang="en-US" sz="1800"/>
          </a:p>
        </p:txBody>
      </p:sp>
      <p:sp>
        <p:nvSpPr>
          <p:cNvPr id="23" name="out3-text"/>
          <p:cNvSpPr txBox="1"/>
          <p:nvPr/>
        </p:nvSpPr>
        <p:spPr>
          <a:xfrm>
            <a:off x="1244600" y="5080000"/>
            <a:ext cx="4724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50000"/>
              </a:lnSpc>
            </a:pPr>
            <a:r>
              <a:rPr lang="en-US" sz="1200">
                <a:solidFill>
                  <a:srgbClr val="22211E"/>
                </a:solidFill>
                <a:latin typeface="MiSans"/>
                <a:ea typeface="MiSans"/>
              </a:rPr>
              <a:t>解释 Harness 与 Loop Engineering，指出循环缺失环节的风险</a:t>
            </a:r>
            <a:endParaRPr lang="en-US" sz="1200"/>
          </a:p>
        </p:txBody>
      </p:sp>
      <p:sp>
        <p:nvSpPr>
          <p:cNvPr id="24" name="out4-num"/>
          <p:cNvSpPr txBox="1"/>
          <p:nvPr/>
        </p:nvSpPr>
        <p:spPr>
          <a:xfrm>
            <a:off x="6223000" y="50546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800" b="1">
                <a:solidFill>
                  <a:srgbClr val="C26A2E"/>
                </a:solidFill>
                <a:latin typeface="MiSans"/>
                <a:ea typeface="MiSans"/>
              </a:rPr>
              <a:t>04</a:t>
            </a:r>
            <a:endParaRPr lang="en-US" sz="1800"/>
          </a:p>
        </p:txBody>
      </p:sp>
      <p:sp>
        <p:nvSpPr>
          <p:cNvPr id="25" name="out4-text"/>
          <p:cNvSpPr txBox="1"/>
          <p:nvPr/>
        </p:nvSpPr>
        <p:spPr>
          <a:xfrm>
            <a:off x="6756400" y="5080000"/>
            <a:ext cx="4724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50000"/>
              </a:lnSpc>
            </a:pPr>
            <a:r>
              <a:rPr lang="en-US" sz="1200">
                <a:solidFill>
                  <a:srgbClr val="22211E"/>
                </a:solidFill>
                <a:latin typeface="MiSans"/>
                <a:ea typeface="MiSans"/>
              </a:rPr>
              <a:t>结合本岗位，写出 1–2 个可落地的智能体场景</a:t>
            </a:r>
            <a:endParaRPr lang="en-US" sz="1200"/>
          </a:p>
        </p:txBody>
      </p:sp>
      <p:sp>
        <p:nvSpPr>
          <p:cNvPr id="26" name="footer-line"/>
          <p:cNvSpPr/>
          <p:nvPr/>
        </p:nvSpPr>
        <p:spPr>
          <a:xfrm>
            <a:off x="711200" y="6375400"/>
            <a:ext cx="10769600" cy="12700"/>
          </a:xfrm>
          <a:prstGeom prst="rect">
            <a:avLst/>
          </a:prstGeom>
          <a:solidFill>
            <a:srgbClr val="D8D3C8"/>
          </a:solidFill>
          <a:ln>
            <a:noFill/>
          </a:ln>
        </p:spPr>
      </p:sp>
      <p:sp>
        <p:nvSpPr>
          <p:cNvPr id="27" name="footer-left"/>
          <p:cNvSpPr txBox="1"/>
          <p:nvPr/>
        </p:nvSpPr>
        <p:spPr>
          <a:xfrm>
            <a:off x="711200" y="64770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40000"/>
              </a:lnSpc>
            </a:pPr>
            <a:r>
              <a:rPr lang="en-US" sz="1000">
                <a:solidFill>
                  <a:srgbClr val="6B675F"/>
                </a:solidFill>
                <a:latin typeface="Liter"/>
                <a:ea typeface="Liter"/>
              </a:rPr>
              <a:t>东方智感 · AI 内训第三期</a:t>
            </a:r>
            <a:endParaRPr lang="en-US" sz="1000"/>
          </a:p>
        </p:txBody>
      </p:sp>
      <p:sp>
        <p:nvSpPr>
          <p:cNvPr id="28" name="footer-page"/>
          <p:cNvSpPr txBox="1"/>
          <p:nvPr/>
        </p:nvSpPr>
        <p:spPr>
          <a:xfrm>
            <a:off x="10845800" y="6477000"/>
            <a:ext cx="635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r">
              <a:lnSpc>
                <a:spcPct val="140000"/>
              </a:lnSpc>
            </a:pPr>
            <a:r>
              <a:rPr lang="en-US" sz="1000">
                <a:solidFill>
                  <a:srgbClr val="6B675F"/>
                </a:solidFill>
                <a:latin typeface="Liter"/>
                <a:ea typeface="Liter"/>
              </a:rPr>
              <a:t>02</a:t>
            </a:r>
            <a:endParaRPr lang="en-US" sz="10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1E4D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urse-tag"/>
          <p:cNvSpPr txBox="1"/>
          <p:nvPr/>
        </p:nvSpPr>
        <p:spPr>
          <a:xfrm>
            <a:off x="711200" y="7366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40000"/>
              </a:lnSpc>
            </a:pPr>
            <a:r>
              <a:rPr lang="en-US" sz="1000">
                <a:solidFill>
                  <a:srgbClr val="D8D3C8"/>
                </a:solidFill>
                <a:latin typeface="Liter"/>
                <a:ea typeface="Liter"/>
              </a:rPr>
              <a:t>智能体与 AI 最新发展 · 东方智感 AI 内训第三期</a:t>
            </a:r>
            <a:endParaRPr lang="en-US" sz="1000"/>
          </a:p>
        </p:txBody>
      </p:sp>
      <p:sp>
        <p:nvSpPr>
          <p:cNvPr id="3" name="chapter-num"/>
          <p:cNvSpPr txBox="1"/>
          <p:nvPr/>
        </p:nvSpPr>
        <p:spPr>
          <a:xfrm>
            <a:off x="711200" y="1625600"/>
            <a:ext cx="30480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6400" b="1">
                <a:solidFill>
                  <a:srgbClr val="C26A2E"/>
                </a:solidFill>
                <a:latin typeface="Liter"/>
                <a:ea typeface="Liter"/>
              </a:rPr>
              <a:t>01</a:t>
            </a:r>
            <a:endParaRPr lang="en-US" sz="6400"/>
          </a:p>
        </p:txBody>
      </p:sp>
      <p:sp>
        <p:nvSpPr>
          <p:cNvPr id="4" name="accent-bar"/>
          <p:cNvSpPr/>
          <p:nvPr/>
        </p:nvSpPr>
        <p:spPr>
          <a:xfrm>
            <a:off x="711200" y="2946400"/>
            <a:ext cx="812800" cy="38100"/>
          </a:xfrm>
          <a:prstGeom prst="rect">
            <a:avLst/>
          </a:prstGeom>
          <a:solidFill>
            <a:srgbClr val="C26A2E"/>
          </a:solidFill>
          <a:ln>
            <a:noFill/>
          </a:ln>
        </p:spPr>
      </p:sp>
      <p:sp>
        <p:nvSpPr>
          <p:cNvPr id="5" name="chapter-title"/>
          <p:cNvSpPr txBox="1"/>
          <p:nvPr/>
        </p:nvSpPr>
        <p:spPr>
          <a:xfrm>
            <a:off x="711200" y="3225800"/>
            <a:ext cx="9906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3400" b="1">
                <a:solidFill>
                  <a:srgbClr val="F7F5F0"/>
                </a:solidFill>
                <a:latin typeface="Liter"/>
                <a:ea typeface="Liter"/>
              </a:rPr>
              <a:t>为什么是现在：从「对话」到「干活」</a:t>
            </a:r>
            <a:endParaRPr lang="en-US" sz="3400"/>
          </a:p>
        </p:txBody>
      </p:sp>
      <p:sp>
        <p:nvSpPr>
          <p:cNvPr id="6" name="question-label"/>
          <p:cNvSpPr txBox="1"/>
          <p:nvPr/>
        </p:nvSpPr>
        <p:spPr>
          <a:xfrm>
            <a:off x="711200" y="42164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40000"/>
              </a:lnSpc>
            </a:pPr>
            <a:r>
              <a:rPr lang="en-US" sz="1000" b="1" spc="200" kern="0">
                <a:solidFill>
                  <a:srgbClr val="C26A2E"/>
                </a:solidFill>
                <a:latin typeface="Liter"/>
                <a:ea typeface="Liter"/>
              </a:rPr>
              <a:t>本章学习问题</a:t>
            </a:r>
            <a:endParaRPr lang="en-US" sz="1000"/>
          </a:p>
        </p:txBody>
      </p:sp>
      <p:sp>
        <p:nvSpPr>
          <p:cNvPr id="7" name="question"/>
          <p:cNvSpPr txBox="1"/>
          <p:nvPr/>
        </p:nvSpPr>
        <p:spPr>
          <a:xfrm>
            <a:off x="711200" y="4495800"/>
            <a:ext cx="9906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600">
                <a:solidFill>
                  <a:srgbClr val="F7F5F0"/>
                </a:solidFill>
                <a:latin typeface="MiSans"/>
                <a:ea typeface="MiSans"/>
              </a:rPr>
              <a:t>AI 为什么突然开始能「独立完成一件事」？</a:t>
            </a:r>
            <a:endParaRPr lang="en-US" sz="1600"/>
          </a:p>
        </p:txBody>
      </p:sp>
      <p:sp>
        <p:nvSpPr>
          <p:cNvPr id="8" name="kw-line"/>
          <p:cNvSpPr/>
          <p:nvPr/>
        </p:nvSpPr>
        <p:spPr>
          <a:xfrm>
            <a:off x="711200" y="5283200"/>
            <a:ext cx="7112000" cy="12700"/>
          </a:xfrm>
          <a:prstGeom prst="rect">
            <a:avLst/>
          </a:prstGeom>
          <a:solidFill>
            <a:srgbClr val="D8D3C8"/>
          </a:solidFill>
          <a:ln>
            <a:noFill/>
          </a:ln>
        </p:spPr>
      </p:sp>
      <p:sp>
        <p:nvSpPr>
          <p:cNvPr id="9" name="kw-label"/>
          <p:cNvSpPr txBox="1"/>
          <p:nvPr/>
        </p:nvSpPr>
        <p:spPr>
          <a:xfrm>
            <a:off x="711200" y="54610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40000"/>
              </a:lnSpc>
            </a:pPr>
            <a:r>
              <a:rPr lang="en-US" sz="1000" spc="200" kern="0">
                <a:solidFill>
                  <a:srgbClr val="D8D3C8"/>
                </a:solidFill>
                <a:latin typeface="Liter"/>
                <a:ea typeface="Liter"/>
              </a:rPr>
              <a:t>本章关键词</a:t>
            </a:r>
            <a:endParaRPr lang="en-US" sz="1000"/>
          </a:p>
        </p:txBody>
      </p:sp>
      <p:sp>
        <p:nvSpPr>
          <p:cNvPr id="10" name="keywords"/>
          <p:cNvSpPr txBox="1"/>
          <p:nvPr/>
        </p:nvSpPr>
        <p:spPr>
          <a:xfrm>
            <a:off x="711200" y="5740400"/>
            <a:ext cx="711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600" b="1">
                <a:solidFill>
                  <a:srgbClr val="F7F5F0"/>
                </a:solidFill>
                <a:latin typeface="MiSans"/>
                <a:ea typeface="MiSans"/>
              </a:rPr>
              <a:t>推理能力　·　工具调用　·　长任务</a:t>
            </a:r>
            <a:endParaRPr lang="en-US" sz="1600"/>
          </a:p>
        </p:txBody>
      </p:sp>
      <p:sp>
        <p:nvSpPr>
          <p:cNvPr id="11" name="deco-ring"/>
          <p:cNvSpPr/>
          <p:nvPr/>
        </p:nvSpPr>
        <p:spPr>
          <a:xfrm>
            <a:off x="9398000" y="4064000"/>
            <a:ext cx="2794000" cy="2794000"/>
          </a:xfrm>
          <a:prstGeom prst="ellipse">
            <a:avLst/>
          </a:prstGeom>
          <a:noFill/>
          <a:ln w="19050">
            <a:solidFill>
              <a:srgbClr val="F7F5F0">
                <a:alpha val="14902"/>
              </a:srgbClr>
            </a:solidFill>
          </a:ln>
        </p:spPr>
      </p:sp>
      <p:sp>
        <p:nvSpPr>
          <p:cNvPr id="12" name="footer-line"/>
          <p:cNvSpPr/>
          <p:nvPr/>
        </p:nvSpPr>
        <p:spPr>
          <a:xfrm>
            <a:off x="711200" y="6375400"/>
            <a:ext cx="10769600" cy="12700"/>
          </a:xfrm>
          <a:prstGeom prst="rect">
            <a:avLst/>
          </a:prstGeom>
          <a:solidFill>
            <a:srgbClr val="D8D3C8"/>
          </a:solidFill>
          <a:ln>
            <a:noFill/>
          </a:ln>
        </p:spPr>
      </p:sp>
      <p:sp>
        <p:nvSpPr>
          <p:cNvPr id="13" name="footer-left"/>
          <p:cNvSpPr txBox="1"/>
          <p:nvPr/>
        </p:nvSpPr>
        <p:spPr>
          <a:xfrm>
            <a:off x="711200" y="64770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40000"/>
              </a:lnSpc>
            </a:pPr>
            <a:r>
              <a:rPr lang="en-US" sz="1000">
                <a:solidFill>
                  <a:srgbClr val="D8D3C8"/>
                </a:solidFill>
                <a:latin typeface="Liter"/>
                <a:ea typeface="Liter"/>
              </a:rPr>
              <a:t>东方智感 · AI 内训第三期</a:t>
            </a:r>
            <a:endParaRPr lang="en-US" sz="1000"/>
          </a:p>
        </p:txBody>
      </p:sp>
      <p:sp>
        <p:nvSpPr>
          <p:cNvPr id="14" name="footer-page"/>
          <p:cNvSpPr txBox="1"/>
          <p:nvPr/>
        </p:nvSpPr>
        <p:spPr>
          <a:xfrm>
            <a:off x="10845800" y="6477000"/>
            <a:ext cx="635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r">
              <a:lnSpc>
                <a:spcPct val="140000"/>
              </a:lnSpc>
            </a:pPr>
            <a:r>
              <a:rPr lang="en-US" sz="1000">
                <a:solidFill>
                  <a:srgbClr val="D8D3C8"/>
                </a:solidFill>
                <a:latin typeface="Liter"/>
                <a:ea typeface="Liter"/>
              </a:rPr>
              <a:t>03</a:t>
            </a:r>
            <a:endParaRPr lang="en-US" sz="10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5080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100" b="1" spc="200" kern="0">
                <a:solidFill>
                  <a:srgbClr val="C26A2E"/>
                </a:solidFill>
                <a:latin typeface="Liter"/>
                <a:ea typeface="Liter"/>
              </a:rPr>
              <a:t>01 · 为什么是现在</a:t>
            </a:r>
            <a:endParaRPr lang="en-US" sz="1100"/>
          </a:p>
        </p:txBody>
      </p:sp>
      <p:sp>
        <p:nvSpPr>
          <p:cNvPr id="3" name="title"/>
          <p:cNvSpPr txBox="1"/>
          <p:nvPr/>
        </p:nvSpPr>
        <p:spPr>
          <a:xfrm>
            <a:off x="711200" y="7874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22211E"/>
                </a:solidFill>
                <a:latin typeface="Liter"/>
                <a:ea typeface="Liter"/>
              </a:rPr>
              <a:t>你已经会写 Prompt 了，为什么还是「差点什么」？</a:t>
            </a:r>
            <a:endParaRPr lang="en-US" sz="2600"/>
          </a:p>
        </p:txBody>
      </p:sp>
      <p:sp>
        <p:nvSpPr>
          <p:cNvPr id="4" name="s1-icon"/>
          <p:cNvSpPr/>
          <p:nvPr>
            <p:extLst>
              <p:ext uri="{F5677B7D-0D2A-4D9B-9A5C-6D8D7D0E5A5D}">
                <pptd:icon encoding="base64url">eyJpY29uTmFtZSI6ImZhczpmaWxlLWxpbmVzIn0</pptd:icon>
              </p:ext>
            </p:extLst>
          </p:nvPr>
        </p:nvSpPr>
        <p:spPr>
          <a:xfrm>
            <a:off x="711200" y="1676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0" y="64"/>
                </a:moveTo>
                <a:cubicBezTo>
                  <a:pt x="0" y="29"/>
                  <a:pt x="29" y="0"/>
                  <a:pt x="64" y="0"/>
                </a:cubicBezTo>
                <a:lnTo>
                  <a:pt x="214" y="0"/>
                </a:lnTo>
                <a:cubicBezTo>
                  <a:pt x="231" y="0"/>
                  <a:pt x="247" y="7"/>
                  <a:pt x="259" y="19"/>
                </a:cubicBezTo>
                <a:lnTo>
                  <a:pt x="365" y="125"/>
                </a:lnTo>
                <a:cubicBezTo>
                  <a:pt x="377" y="137"/>
                  <a:pt x="384" y="154"/>
                  <a:pt x="384" y="171"/>
                </a:cubicBezTo>
                <a:lnTo>
                  <a:pt x="384" y="448"/>
                </a:lnTo>
                <a:cubicBezTo>
                  <a:pt x="384" y="483"/>
                  <a:pt x="355" y="512"/>
                  <a:pt x="320" y="512"/>
                </a:cubicBezTo>
                <a:lnTo>
                  <a:pt x="64" y="512"/>
                </a:lnTo>
                <a:cubicBezTo>
                  <a:pt x="29" y="512"/>
                  <a:pt x="0" y="483"/>
                  <a:pt x="0" y="448"/>
                </a:cubicBezTo>
                <a:lnTo>
                  <a:pt x="0" y="64"/>
                </a:lnTo>
                <a:close/>
                <a:moveTo>
                  <a:pt x="208" y="59"/>
                </a:moveTo>
                <a:lnTo>
                  <a:pt x="208" y="152"/>
                </a:lnTo>
                <a:cubicBezTo>
                  <a:pt x="208" y="165"/>
                  <a:pt x="219" y="176"/>
                  <a:pt x="232" y="176"/>
                </a:cubicBezTo>
                <a:lnTo>
                  <a:pt x="326" y="176"/>
                </a:lnTo>
                <a:lnTo>
                  <a:pt x="208" y="59"/>
                </a:lnTo>
                <a:close/>
                <a:moveTo>
                  <a:pt x="120" y="256"/>
                </a:moveTo>
                <a:cubicBezTo>
                  <a:pt x="107" y="256"/>
                  <a:pt x="96" y="267"/>
                  <a:pt x="96" y="280"/>
                </a:cubicBezTo>
                <a:cubicBezTo>
                  <a:pt x="96" y="293"/>
                  <a:pt x="107" y="304"/>
                  <a:pt x="120" y="304"/>
                </a:cubicBezTo>
                <a:lnTo>
                  <a:pt x="264" y="304"/>
                </a:lnTo>
                <a:cubicBezTo>
                  <a:pt x="277" y="304"/>
                  <a:pt x="288" y="293"/>
                  <a:pt x="288" y="280"/>
                </a:cubicBezTo>
                <a:cubicBezTo>
                  <a:pt x="288" y="267"/>
                  <a:pt x="277" y="256"/>
                  <a:pt x="264" y="256"/>
                </a:cubicBezTo>
                <a:lnTo>
                  <a:pt x="120" y="256"/>
                </a:lnTo>
                <a:close/>
                <a:moveTo>
                  <a:pt x="120" y="352"/>
                </a:moveTo>
                <a:cubicBezTo>
                  <a:pt x="107" y="352"/>
                  <a:pt x="96" y="363"/>
                  <a:pt x="96" y="376"/>
                </a:cubicBezTo>
                <a:cubicBezTo>
                  <a:pt x="96" y="389"/>
                  <a:pt x="107" y="400"/>
                  <a:pt x="120" y="400"/>
                </a:cubicBezTo>
                <a:lnTo>
                  <a:pt x="264" y="400"/>
                </a:lnTo>
                <a:cubicBezTo>
                  <a:pt x="277" y="400"/>
                  <a:pt x="288" y="389"/>
                  <a:pt x="288" y="376"/>
                </a:cubicBezTo>
                <a:cubicBezTo>
                  <a:pt x="288" y="363"/>
                  <a:pt x="277" y="352"/>
                  <a:pt x="264" y="352"/>
                </a:cubicBezTo>
                <a:lnTo>
                  <a:pt x="120" y="352"/>
                </a:lnTo>
                <a:close/>
              </a:path>
            </a:pathLst>
          </a:custGeom>
          <a:solidFill>
            <a:srgbClr val="1E4D3B"/>
          </a:solidFill>
          <a:ln>
            <a:noFill/>
          </a:ln>
        </p:spPr>
      </p:sp>
      <p:sp>
        <p:nvSpPr>
          <p:cNvPr id="5" name="s1-title"/>
          <p:cNvSpPr txBox="1"/>
          <p:nvPr/>
        </p:nvSpPr>
        <p:spPr>
          <a:xfrm>
            <a:off x="1270000" y="1651000"/>
            <a:ext cx="6604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22211E"/>
                </a:solidFill>
                <a:latin typeface="MiSans"/>
                <a:ea typeface="MiSans"/>
              </a:rPr>
              <a:t>场景一：让 AI 写巡检报告</a:t>
            </a:r>
            <a:endParaRPr lang="en-US" sz="1500"/>
          </a:p>
        </p:txBody>
      </p:sp>
      <p:sp>
        <p:nvSpPr>
          <p:cNvPr id="6" name="s1-desc"/>
          <p:cNvSpPr txBox="1"/>
          <p:nvPr/>
        </p:nvSpPr>
        <p:spPr>
          <a:xfrm>
            <a:off x="1270000" y="1981200"/>
            <a:ext cx="660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200">
                <a:solidFill>
                  <a:srgbClr val="6B675F"/>
                </a:solidFill>
                <a:latin typeface="MiSans"/>
                <a:ea typeface="MiSans"/>
              </a:rPr>
              <a:t>你得把平台里 6 处数据，一条条复制粘贴进对话框，它才开始写</a:t>
            </a:r>
            <a:endParaRPr lang="en-US" sz="1200"/>
          </a:p>
        </p:txBody>
      </p:sp>
      <p:sp>
        <p:nvSpPr>
          <p:cNvPr id="7" name="s1-tag"/>
          <p:cNvSpPr txBox="1"/>
          <p:nvPr/>
        </p:nvSpPr>
        <p:spPr>
          <a:xfrm>
            <a:off x="8128000" y="1778000"/>
            <a:ext cx="33528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r">
              <a:lnSpc>
                <a:spcPct val="120000"/>
              </a:lnSpc>
            </a:pPr>
            <a:r>
              <a:rPr lang="en-US" sz="1200" b="1">
                <a:solidFill>
                  <a:srgbClr val="C26A2E"/>
                </a:solidFill>
                <a:latin typeface="MiSans"/>
                <a:ea typeface="MiSans"/>
              </a:rPr>
              <a:t>卡点：人在当「搬运工」</a:t>
            </a:r>
            <a:endParaRPr lang="en-US" sz="1200"/>
          </a:p>
        </p:txBody>
      </p:sp>
      <p:sp>
        <p:nvSpPr>
          <p:cNvPr id="8" name="s1-line"/>
          <p:cNvSpPr/>
          <p:nvPr/>
        </p:nvSpPr>
        <p:spPr>
          <a:xfrm>
            <a:off x="711200" y="2387600"/>
            <a:ext cx="10769600" cy="12700"/>
          </a:xfrm>
          <a:prstGeom prst="rect">
            <a:avLst/>
          </a:prstGeom>
          <a:solidFill>
            <a:srgbClr val="D8D3C8"/>
          </a:solidFill>
          <a:ln>
            <a:noFill/>
          </a:ln>
        </p:spPr>
      </p:sp>
      <p:sp>
        <p:nvSpPr>
          <p:cNvPr id="9" name="s2-icon"/>
          <p:cNvSpPr/>
          <p:nvPr>
            <p:extLst>
              <p:ext uri="{F5677B7D-0D2A-4D9B-9A5C-6D8D7D0E5A5D}">
                <pptd:icon encoding="base64url">eyJpY29uTmFtZSI6ImZhczpwbHVnLWNpcmNsZS14bWFyayJ9</pptd:icon>
              </p:ext>
            </p:extLst>
          </p:nvPr>
        </p:nvSpPr>
        <p:spPr>
          <a:xfrm>
            <a:off x="711200" y="2667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192" y="-32"/>
                </a:moveTo>
                <a:cubicBezTo>
                  <a:pt x="210" y="-32"/>
                  <a:pt x="224" y="-18"/>
                  <a:pt x="224" y="0"/>
                </a:cubicBezTo>
                <a:lnTo>
                  <a:pt x="224" y="96"/>
                </a:lnTo>
                <a:lnTo>
                  <a:pt x="352" y="96"/>
                </a:lnTo>
                <a:lnTo>
                  <a:pt x="352" y="0"/>
                </a:lnTo>
                <a:cubicBezTo>
                  <a:pt x="352" y="-18"/>
                  <a:pt x="366" y="-32"/>
                  <a:pt x="384" y="-32"/>
                </a:cubicBezTo>
                <a:cubicBezTo>
                  <a:pt x="402" y="-32"/>
                  <a:pt x="416" y="-18"/>
                  <a:pt x="416" y="0"/>
                </a:cubicBezTo>
                <a:lnTo>
                  <a:pt x="416" y="96"/>
                </a:lnTo>
                <a:lnTo>
                  <a:pt x="480" y="96"/>
                </a:lnTo>
                <a:cubicBezTo>
                  <a:pt x="498" y="96"/>
                  <a:pt x="512" y="110"/>
                  <a:pt x="512" y="128"/>
                </a:cubicBezTo>
                <a:cubicBezTo>
                  <a:pt x="512" y="146"/>
                  <a:pt x="498" y="160"/>
                  <a:pt x="480" y="160"/>
                </a:cubicBezTo>
                <a:lnTo>
                  <a:pt x="480" y="209"/>
                </a:lnTo>
                <a:cubicBezTo>
                  <a:pt x="381" y="217"/>
                  <a:pt x="304" y="299"/>
                  <a:pt x="304" y="400"/>
                </a:cubicBezTo>
                <a:cubicBezTo>
                  <a:pt x="304" y="427"/>
                  <a:pt x="310" y="453"/>
                  <a:pt x="320" y="477"/>
                </a:cubicBezTo>
                <a:lnTo>
                  <a:pt x="320" y="480"/>
                </a:lnTo>
                <a:cubicBezTo>
                  <a:pt x="320" y="498"/>
                  <a:pt x="306" y="512"/>
                  <a:pt x="288" y="512"/>
                </a:cubicBezTo>
                <a:cubicBezTo>
                  <a:pt x="270" y="512"/>
                  <a:pt x="256" y="498"/>
                  <a:pt x="256" y="480"/>
                </a:cubicBezTo>
                <a:lnTo>
                  <a:pt x="256" y="413"/>
                </a:lnTo>
                <a:cubicBezTo>
                  <a:pt x="165" y="398"/>
                  <a:pt x="96" y="319"/>
                  <a:pt x="96" y="224"/>
                </a:cubicBezTo>
                <a:lnTo>
                  <a:pt x="96" y="160"/>
                </a:lnTo>
                <a:cubicBezTo>
                  <a:pt x="78" y="160"/>
                  <a:pt x="64" y="146"/>
                  <a:pt x="64" y="128"/>
                </a:cubicBezTo>
                <a:cubicBezTo>
                  <a:pt x="64" y="110"/>
                  <a:pt x="78" y="96"/>
                  <a:pt x="96" y="96"/>
                </a:cubicBezTo>
                <a:lnTo>
                  <a:pt x="160" y="96"/>
                </a:lnTo>
                <a:lnTo>
                  <a:pt x="160" y="0"/>
                </a:lnTo>
                <a:cubicBezTo>
                  <a:pt x="160" y="-18"/>
                  <a:pt x="174" y="-32"/>
                  <a:pt x="192" y="-32"/>
                </a:cubicBezTo>
                <a:close/>
                <a:moveTo>
                  <a:pt x="496" y="256"/>
                </a:moveTo>
                <a:cubicBezTo>
                  <a:pt x="576" y="256"/>
                  <a:pt x="640" y="320"/>
                  <a:pt x="640" y="400"/>
                </a:cubicBezTo>
                <a:cubicBezTo>
                  <a:pt x="640" y="480"/>
                  <a:pt x="576" y="544"/>
                  <a:pt x="496" y="544"/>
                </a:cubicBezTo>
                <a:cubicBezTo>
                  <a:pt x="416" y="544"/>
                  <a:pt x="352" y="480"/>
                  <a:pt x="352" y="400"/>
                </a:cubicBezTo>
                <a:cubicBezTo>
                  <a:pt x="352" y="320"/>
                  <a:pt x="416" y="256"/>
                  <a:pt x="496" y="256"/>
                </a:cubicBezTo>
                <a:close/>
                <a:moveTo>
                  <a:pt x="555" y="363"/>
                </a:moveTo>
                <a:cubicBezTo>
                  <a:pt x="562" y="357"/>
                  <a:pt x="562" y="347"/>
                  <a:pt x="555" y="341"/>
                </a:cubicBezTo>
                <a:cubicBezTo>
                  <a:pt x="549" y="334"/>
                  <a:pt x="539" y="335"/>
                  <a:pt x="533" y="341"/>
                </a:cubicBezTo>
                <a:lnTo>
                  <a:pt x="496" y="377"/>
                </a:lnTo>
                <a:lnTo>
                  <a:pt x="459" y="341"/>
                </a:lnTo>
                <a:cubicBezTo>
                  <a:pt x="453" y="335"/>
                  <a:pt x="443" y="335"/>
                  <a:pt x="437" y="341"/>
                </a:cubicBezTo>
                <a:cubicBezTo>
                  <a:pt x="430" y="347"/>
                  <a:pt x="430" y="357"/>
                  <a:pt x="437" y="363"/>
                </a:cubicBezTo>
                <a:lnTo>
                  <a:pt x="473" y="400"/>
                </a:lnTo>
                <a:lnTo>
                  <a:pt x="437" y="437"/>
                </a:lnTo>
                <a:cubicBezTo>
                  <a:pt x="430" y="443"/>
                  <a:pt x="430" y="453"/>
                  <a:pt x="437" y="459"/>
                </a:cubicBezTo>
                <a:cubicBezTo>
                  <a:pt x="443" y="466"/>
                  <a:pt x="453" y="466"/>
                  <a:pt x="459" y="459"/>
                </a:cubicBezTo>
                <a:lnTo>
                  <a:pt x="496" y="423"/>
                </a:lnTo>
                <a:lnTo>
                  <a:pt x="533" y="459"/>
                </a:lnTo>
                <a:cubicBezTo>
                  <a:pt x="539" y="466"/>
                  <a:pt x="549" y="466"/>
                  <a:pt x="555" y="459"/>
                </a:cubicBezTo>
                <a:cubicBezTo>
                  <a:pt x="562" y="453"/>
                  <a:pt x="562" y="443"/>
                  <a:pt x="555" y="437"/>
                </a:cubicBezTo>
                <a:lnTo>
                  <a:pt x="519" y="400"/>
                </a:lnTo>
                <a:lnTo>
                  <a:pt x="555" y="363"/>
                </a:lnTo>
                <a:close/>
              </a:path>
            </a:pathLst>
          </a:custGeom>
          <a:solidFill>
            <a:srgbClr val="1E4D3B"/>
          </a:solidFill>
          <a:ln>
            <a:noFill/>
          </a:ln>
        </p:spPr>
      </p:sp>
      <p:sp>
        <p:nvSpPr>
          <p:cNvPr id="10" name="s2-title"/>
          <p:cNvSpPr txBox="1"/>
          <p:nvPr/>
        </p:nvSpPr>
        <p:spPr>
          <a:xfrm>
            <a:off x="1270000" y="2641600"/>
            <a:ext cx="6604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22211E"/>
                </a:solidFill>
                <a:latin typeface="MiSans"/>
                <a:ea typeface="MiSans"/>
              </a:rPr>
              <a:t>场景二：让 AI 排查数据异常</a:t>
            </a:r>
            <a:endParaRPr lang="en-US" sz="1500"/>
          </a:p>
        </p:txBody>
      </p:sp>
      <p:sp>
        <p:nvSpPr>
          <p:cNvPr id="11" name="s2-desc"/>
          <p:cNvSpPr txBox="1"/>
          <p:nvPr/>
        </p:nvSpPr>
        <p:spPr>
          <a:xfrm>
            <a:off x="1270000" y="2971800"/>
            <a:ext cx="660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200">
                <a:solidFill>
                  <a:srgbClr val="6B675F"/>
                </a:solidFill>
                <a:latin typeface="MiSans"/>
                <a:ea typeface="MiSans"/>
              </a:rPr>
              <a:t>它不知道我们平台的接口，连监测数据都拿不到，只能凭空分析</a:t>
            </a:r>
            <a:endParaRPr lang="en-US" sz="1200"/>
          </a:p>
        </p:txBody>
      </p:sp>
      <p:sp>
        <p:nvSpPr>
          <p:cNvPr id="12" name="s2-tag"/>
          <p:cNvSpPr txBox="1"/>
          <p:nvPr/>
        </p:nvSpPr>
        <p:spPr>
          <a:xfrm>
            <a:off x="8128000" y="2768600"/>
            <a:ext cx="33528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r">
              <a:lnSpc>
                <a:spcPct val="120000"/>
              </a:lnSpc>
            </a:pPr>
            <a:r>
              <a:rPr lang="en-US" sz="1200" b="1">
                <a:solidFill>
                  <a:srgbClr val="C26A2E"/>
                </a:solidFill>
                <a:latin typeface="MiSans"/>
                <a:ea typeface="MiSans"/>
              </a:rPr>
              <a:t>卡点：AI 没有「手」（工具）</a:t>
            </a:r>
            <a:endParaRPr lang="en-US" sz="1200"/>
          </a:p>
        </p:txBody>
      </p:sp>
      <p:sp>
        <p:nvSpPr>
          <p:cNvPr id="13" name="s2-line"/>
          <p:cNvSpPr/>
          <p:nvPr/>
        </p:nvSpPr>
        <p:spPr>
          <a:xfrm>
            <a:off x="711200" y="3378200"/>
            <a:ext cx="10769600" cy="12700"/>
          </a:xfrm>
          <a:prstGeom prst="rect">
            <a:avLst/>
          </a:prstGeom>
          <a:solidFill>
            <a:srgbClr val="D8D3C8"/>
          </a:solidFill>
          <a:ln>
            <a:noFill/>
          </a:ln>
        </p:spPr>
      </p:sp>
      <p:sp>
        <p:nvSpPr>
          <p:cNvPr id="14" name="s3-icon"/>
          <p:cNvSpPr/>
          <p:nvPr>
            <p:extLst>
              <p:ext uri="{F5677B7D-0D2A-4D9B-9A5C-6D8D7D0E5A5D}">
                <pptd:icon encoding="base64url">eyJpY29uTmFtZSI6ImZhczpleWUifQ</pptd:icon>
              </p:ext>
            </p:extLst>
          </p:nvPr>
        </p:nvSpPr>
        <p:spPr>
          <a:xfrm>
            <a:off x="711200" y="3657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288" y="32"/>
                </a:moveTo>
                <a:cubicBezTo>
                  <a:pt x="207" y="32"/>
                  <a:pt x="143" y="69"/>
                  <a:pt x="95" y="113"/>
                </a:cubicBezTo>
                <a:cubicBezTo>
                  <a:pt x="49" y="156"/>
                  <a:pt x="17" y="208"/>
                  <a:pt x="2" y="244"/>
                </a:cubicBezTo>
                <a:cubicBezTo>
                  <a:pt x="-1" y="252"/>
                  <a:pt x="-1" y="260"/>
                  <a:pt x="2" y="268"/>
                </a:cubicBezTo>
                <a:cubicBezTo>
                  <a:pt x="17" y="304"/>
                  <a:pt x="49" y="356"/>
                  <a:pt x="95" y="399"/>
                </a:cubicBezTo>
                <a:cubicBezTo>
                  <a:pt x="143" y="443"/>
                  <a:pt x="207" y="480"/>
                  <a:pt x="288" y="480"/>
                </a:cubicBezTo>
                <a:cubicBezTo>
                  <a:pt x="369" y="480"/>
                  <a:pt x="434" y="443"/>
                  <a:pt x="481" y="399"/>
                </a:cubicBezTo>
                <a:cubicBezTo>
                  <a:pt x="527" y="356"/>
                  <a:pt x="559" y="304"/>
                  <a:pt x="574" y="268"/>
                </a:cubicBezTo>
                <a:cubicBezTo>
                  <a:pt x="577" y="260"/>
                  <a:pt x="577" y="252"/>
                  <a:pt x="574" y="244"/>
                </a:cubicBezTo>
                <a:cubicBezTo>
                  <a:pt x="559" y="208"/>
                  <a:pt x="527" y="156"/>
                  <a:pt x="481" y="113"/>
                </a:cubicBezTo>
                <a:cubicBezTo>
                  <a:pt x="434" y="69"/>
                  <a:pt x="369" y="32"/>
                  <a:pt x="288" y="32"/>
                </a:cubicBezTo>
                <a:close/>
                <a:moveTo>
                  <a:pt x="144" y="256"/>
                </a:moveTo>
                <a:cubicBezTo>
                  <a:pt x="144" y="176"/>
                  <a:pt x="208" y="112"/>
                  <a:pt x="288" y="112"/>
                </a:cubicBezTo>
                <a:cubicBezTo>
                  <a:pt x="368" y="112"/>
                  <a:pt x="432" y="176"/>
                  <a:pt x="432" y="256"/>
                </a:cubicBezTo>
                <a:cubicBezTo>
                  <a:pt x="432" y="336"/>
                  <a:pt x="368" y="400"/>
                  <a:pt x="288" y="400"/>
                </a:cubicBezTo>
                <a:cubicBezTo>
                  <a:pt x="208" y="400"/>
                  <a:pt x="144" y="336"/>
                  <a:pt x="144" y="256"/>
                </a:cubicBezTo>
                <a:close/>
                <a:moveTo>
                  <a:pt x="288" y="192"/>
                </a:moveTo>
                <a:cubicBezTo>
                  <a:pt x="288" y="227"/>
                  <a:pt x="259" y="256"/>
                  <a:pt x="224" y="256"/>
                </a:cubicBezTo>
                <a:cubicBezTo>
                  <a:pt x="213" y="256"/>
                  <a:pt x="202" y="253"/>
                  <a:pt x="192" y="248"/>
                </a:cubicBezTo>
                <a:cubicBezTo>
                  <a:pt x="191" y="259"/>
                  <a:pt x="192" y="270"/>
                  <a:pt x="195" y="281"/>
                </a:cubicBezTo>
                <a:cubicBezTo>
                  <a:pt x="209" y="332"/>
                  <a:pt x="262" y="362"/>
                  <a:pt x="313" y="349"/>
                </a:cubicBezTo>
                <a:cubicBezTo>
                  <a:pt x="364" y="335"/>
                  <a:pt x="394" y="282"/>
                  <a:pt x="381" y="231"/>
                </a:cubicBezTo>
                <a:cubicBezTo>
                  <a:pt x="369" y="185"/>
                  <a:pt x="325" y="156"/>
                  <a:pt x="280" y="160"/>
                </a:cubicBezTo>
                <a:cubicBezTo>
                  <a:pt x="285" y="170"/>
                  <a:pt x="288" y="180"/>
                  <a:pt x="288" y="192"/>
                </a:cubicBezTo>
                <a:close/>
              </a:path>
            </a:pathLst>
          </a:custGeom>
          <a:solidFill>
            <a:srgbClr val="1E4D3B"/>
          </a:solidFill>
          <a:ln>
            <a:noFill/>
          </a:ln>
        </p:spPr>
      </p:sp>
      <p:sp>
        <p:nvSpPr>
          <p:cNvPr id="15" name="s3-title"/>
          <p:cNvSpPr txBox="1"/>
          <p:nvPr/>
        </p:nvSpPr>
        <p:spPr>
          <a:xfrm>
            <a:off x="1270000" y="3632200"/>
            <a:ext cx="6604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22211E"/>
                </a:solidFill>
                <a:latin typeface="MiSans"/>
                <a:ea typeface="MiSans"/>
              </a:rPr>
              <a:t>场景三：让它「持续盯着」某监测断面</a:t>
            </a:r>
            <a:endParaRPr lang="en-US" sz="1500"/>
          </a:p>
        </p:txBody>
      </p:sp>
      <p:sp>
        <p:nvSpPr>
          <p:cNvPr id="16" name="s3-desc"/>
          <p:cNvSpPr txBox="1"/>
          <p:nvPr/>
        </p:nvSpPr>
        <p:spPr>
          <a:xfrm>
            <a:off x="1270000" y="3962400"/>
            <a:ext cx="660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200">
                <a:solidFill>
                  <a:srgbClr val="6B675F"/>
                </a:solidFill>
                <a:latin typeface="MiSans"/>
                <a:ea typeface="MiSans"/>
              </a:rPr>
              <a:t>一次问答结束，它就停了 —— 没有人替它值下一班</a:t>
            </a:r>
            <a:endParaRPr lang="en-US" sz="1200"/>
          </a:p>
        </p:txBody>
      </p:sp>
      <p:sp>
        <p:nvSpPr>
          <p:cNvPr id="17" name="s3-tag"/>
          <p:cNvSpPr txBox="1"/>
          <p:nvPr/>
        </p:nvSpPr>
        <p:spPr>
          <a:xfrm>
            <a:off x="8128000" y="3759200"/>
            <a:ext cx="33528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r">
              <a:lnSpc>
                <a:spcPct val="120000"/>
              </a:lnSpc>
            </a:pPr>
            <a:r>
              <a:rPr lang="en-US" sz="1200" b="1">
                <a:solidFill>
                  <a:srgbClr val="C26A2E"/>
                </a:solidFill>
                <a:latin typeface="MiSans"/>
                <a:ea typeface="MiSans"/>
              </a:rPr>
              <a:t>卡点：没有「循环」</a:t>
            </a:r>
            <a:endParaRPr lang="en-US" sz="1200"/>
          </a:p>
        </p:txBody>
      </p:sp>
      <p:sp>
        <p:nvSpPr>
          <p:cNvPr id="18" name="s3-line"/>
          <p:cNvSpPr/>
          <p:nvPr/>
        </p:nvSpPr>
        <p:spPr>
          <a:xfrm>
            <a:off x="711200" y="4368800"/>
            <a:ext cx="10769600" cy="12700"/>
          </a:xfrm>
          <a:prstGeom prst="rect">
            <a:avLst/>
          </a:prstGeom>
          <a:solidFill>
            <a:srgbClr val="D8D3C8"/>
          </a:solidFill>
          <a:ln>
            <a:noFill/>
          </a:ln>
        </p:spPr>
      </p:sp>
      <p:sp>
        <p:nvSpPr>
          <p:cNvPr id="19" name="concl-bg"/>
          <p:cNvSpPr/>
          <p:nvPr/>
        </p:nvSpPr>
        <p:spPr>
          <a:xfrm>
            <a:off x="711200" y="4648200"/>
            <a:ext cx="10769600" cy="838200"/>
          </a:xfrm>
          <a:prstGeom prst="rect">
            <a:avLst/>
          </a:prstGeom>
          <a:solidFill>
            <a:srgbClr val="EAF1EC"/>
          </a:solidFill>
          <a:ln>
            <a:noFill/>
          </a:ln>
        </p:spPr>
      </p:sp>
      <p:sp>
        <p:nvSpPr>
          <p:cNvPr id="20" name="concl-bar"/>
          <p:cNvSpPr/>
          <p:nvPr/>
        </p:nvSpPr>
        <p:spPr>
          <a:xfrm>
            <a:off x="711200" y="4648200"/>
            <a:ext cx="50800" cy="838200"/>
          </a:xfrm>
          <a:prstGeom prst="rect">
            <a:avLst/>
          </a:prstGeom>
          <a:solidFill>
            <a:srgbClr val="1E4D3B"/>
          </a:solidFill>
          <a:ln>
            <a:noFill/>
          </a:ln>
        </p:spPr>
      </p:sp>
      <p:sp>
        <p:nvSpPr>
          <p:cNvPr id="21" name="concl-text"/>
          <p:cNvSpPr txBox="1"/>
          <p:nvPr/>
        </p:nvSpPr>
        <p:spPr>
          <a:xfrm>
            <a:off x="990600" y="4648200"/>
            <a:ext cx="10287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1E4D3B"/>
                </a:solidFill>
                <a:latin typeface="MiSans"/>
                <a:ea typeface="MiSans"/>
              </a:rPr>
              <a:t>结论：单次问答解决不了连续的工作 —— 这正是智能体要解决的问题。</a:t>
            </a:r>
            <a:endParaRPr lang="en-US" sz="1500"/>
          </a:p>
        </p:txBody>
      </p:sp>
      <p:sp>
        <p:nvSpPr>
          <p:cNvPr id="22" name="check-line"/>
          <p:cNvSpPr txBox="1"/>
          <p:nvPr/>
        </p:nvSpPr>
        <p:spPr>
          <a:xfrm>
            <a:off x="711200" y="5715000"/>
            <a:ext cx="762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50000"/>
              </a:lnSpc>
            </a:pPr>
            <a:r>
              <a:rPr lang="en-US" sz="1100">
                <a:solidFill>
                  <a:srgbClr val="6B675F"/>
                </a:solidFill>
                <a:latin typeface="Liter"/>
                <a:ea typeface="Liter"/>
              </a:rPr>
              <a:t>现场对照：这三个场景，你遇到过哪几个？</a:t>
            </a:r>
            <a:endParaRPr lang="en-US" sz="1100"/>
          </a:p>
        </p:txBody>
      </p:sp>
      <p:sp>
        <p:nvSpPr>
          <p:cNvPr id="23" name="footer-line"/>
          <p:cNvSpPr/>
          <p:nvPr/>
        </p:nvSpPr>
        <p:spPr>
          <a:xfrm>
            <a:off x="711200" y="6375400"/>
            <a:ext cx="10769600" cy="12700"/>
          </a:xfrm>
          <a:prstGeom prst="rect">
            <a:avLst/>
          </a:prstGeom>
          <a:solidFill>
            <a:srgbClr val="D8D3C8"/>
          </a:solidFill>
          <a:ln>
            <a:noFill/>
          </a:ln>
        </p:spPr>
      </p:sp>
      <p:sp>
        <p:nvSpPr>
          <p:cNvPr id="24" name="footer-left"/>
          <p:cNvSpPr txBox="1"/>
          <p:nvPr/>
        </p:nvSpPr>
        <p:spPr>
          <a:xfrm>
            <a:off x="711200" y="64770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40000"/>
              </a:lnSpc>
            </a:pPr>
            <a:r>
              <a:rPr lang="en-US" sz="1000">
                <a:solidFill>
                  <a:srgbClr val="6B675F"/>
                </a:solidFill>
                <a:latin typeface="Liter"/>
                <a:ea typeface="Liter"/>
              </a:rPr>
              <a:t>东方智感 · AI 内训第三期</a:t>
            </a:r>
            <a:endParaRPr lang="en-US" sz="1000"/>
          </a:p>
        </p:txBody>
      </p:sp>
      <p:sp>
        <p:nvSpPr>
          <p:cNvPr id="25" name="footer-page"/>
          <p:cNvSpPr txBox="1"/>
          <p:nvPr/>
        </p:nvSpPr>
        <p:spPr>
          <a:xfrm>
            <a:off x="10845800" y="6477000"/>
            <a:ext cx="635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r">
              <a:lnSpc>
                <a:spcPct val="140000"/>
              </a:lnSpc>
            </a:pPr>
            <a:r>
              <a:rPr lang="en-US" sz="1000">
                <a:solidFill>
                  <a:srgbClr val="6B675F"/>
                </a:solidFill>
                <a:latin typeface="Liter"/>
                <a:ea typeface="Liter"/>
              </a:rPr>
              <a:t>04</a:t>
            </a:r>
            <a:endParaRPr lang="en-US" sz="10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5080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100" b="1" spc="200" kern="0">
                <a:solidFill>
                  <a:srgbClr val="C26A2E"/>
                </a:solidFill>
                <a:latin typeface="Liter"/>
                <a:ea typeface="Liter"/>
              </a:rPr>
              <a:t>01 · 为什么是现在</a:t>
            </a:r>
            <a:endParaRPr lang="en-US" sz="1100"/>
          </a:p>
        </p:txBody>
      </p:sp>
      <p:sp>
        <p:nvSpPr>
          <p:cNvPr id="3" name="title"/>
          <p:cNvSpPr txBox="1"/>
          <p:nvPr/>
        </p:nvSpPr>
        <p:spPr>
          <a:xfrm>
            <a:off x="711200" y="7874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22211E"/>
                </a:solidFill>
                <a:latin typeface="Liter"/>
                <a:ea typeface="Liter"/>
              </a:rPr>
              <a:t>2022 → 2026：AI 的四年三级跳</a:t>
            </a:r>
            <a:endParaRPr lang="en-US" sz="2600"/>
          </a:p>
        </p:txBody>
      </p:sp>
      <p:sp>
        <p:nvSpPr>
          <p:cNvPr id="4" name="axis"/>
          <p:cNvSpPr/>
          <p:nvPr>
            <p:extLst>
              <p:ext uri="{F5677B7D-0D2A-4D9B-9A5C-6D8D7D0E5A5D}">
                <pptd:line encoding="base64url">eyJjdXJ2ZSI6InJvdW5kIiwicG9pbnRzIjoiMCwxIDg0MCwxIiwidmlld0JveCI6Wzg0MCwyXX0</pptd:line>
              </p:ext>
            </p:extLst>
          </p:nvPr>
        </p:nvSpPr>
        <p:spPr>
          <a:xfrm>
            <a:off x="762000" y="2628900"/>
            <a:ext cx="10668000" cy="25400"/>
          </a:xfrm>
          <a:custGeom>
            <a:avLst/>
            <a:gdLst/>
            <a:ahLst/>
            <a:cxnLst/>
            <a:rect l="l" t="t" r="r" b="b"/>
            <a:pathLst>
              <a:path w="840" h="2">
                <a:moveTo>
                  <a:pt x="0" y="1"/>
                </a:moveTo>
                <a:lnTo>
                  <a:pt x="840" y="1"/>
                </a:lnTo>
              </a:path>
            </a:pathLst>
          </a:custGeom>
          <a:noFill/>
          <a:ln w="25400" cap="rnd">
            <a:solidFill>
              <a:srgbClr val="1E4D3B"/>
            </a:solidFill>
            <a:round/>
            <a:tailEnd type="arrow"/>
          </a:ln>
        </p:spPr>
      </p:sp>
      <p:sp>
        <p:nvSpPr>
          <p:cNvPr id="5" name="y2022"/>
          <p:cNvSpPr txBox="1"/>
          <p:nvPr/>
        </p:nvSpPr>
        <p:spPr>
          <a:xfrm>
            <a:off x="762000" y="2006600"/>
            <a:ext cx="203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ctr">
              <a:lnSpc>
                <a:spcPct val="120000"/>
              </a:lnSpc>
            </a:pPr>
            <a:r>
              <a:rPr lang="en-US" sz="1800" b="1">
                <a:solidFill>
                  <a:srgbClr val="1E4D3B"/>
                </a:solidFill>
                <a:latin typeface="MiSans"/>
                <a:ea typeface="MiSans"/>
              </a:rPr>
              <a:t>2022</a:t>
            </a:r>
            <a:endParaRPr lang="en-US" sz="1800"/>
          </a:p>
        </p:txBody>
      </p:sp>
      <p:sp>
        <p:nvSpPr>
          <p:cNvPr id="6" name="y2023"/>
          <p:cNvSpPr txBox="1"/>
          <p:nvPr/>
        </p:nvSpPr>
        <p:spPr>
          <a:xfrm>
            <a:off x="3048000" y="2006600"/>
            <a:ext cx="203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ctr">
              <a:lnSpc>
                <a:spcPct val="120000"/>
              </a:lnSpc>
            </a:pPr>
            <a:r>
              <a:rPr lang="en-US" sz="1800" b="1">
                <a:solidFill>
                  <a:srgbClr val="1E4D3B"/>
                </a:solidFill>
                <a:latin typeface="MiSans"/>
                <a:ea typeface="MiSans"/>
              </a:rPr>
              <a:t>2023</a:t>
            </a:r>
            <a:endParaRPr lang="en-US" sz="1800"/>
          </a:p>
        </p:txBody>
      </p:sp>
      <p:sp>
        <p:nvSpPr>
          <p:cNvPr id="7" name="y2024"/>
          <p:cNvSpPr txBox="1"/>
          <p:nvPr/>
        </p:nvSpPr>
        <p:spPr>
          <a:xfrm>
            <a:off x="5334000" y="2006600"/>
            <a:ext cx="203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ctr">
              <a:lnSpc>
                <a:spcPct val="120000"/>
              </a:lnSpc>
            </a:pPr>
            <a:r>
              <a:rPr lang="en-US" sz="1800" b="1">
                <a:solidFill>
                  <a:srgbClr val="1E4D3B"/>
                </a:solidFill>
                <a:latin typeface="MiSans"/>
                <a:ea typeface="MiSans"/>
              </a:rPr>
              <a:t>2024</a:t>
            </a:r>
            <a:endParaRPr lang="en-US" sz="1800"/>
          </a:p>
        </p:txBody>
      </p:sp>
      <p:sp>
        <p:nvSpPr>
          <p:cNvPr id="8" name="y2025"/>
          <p:cNvSpPr txBox="1"/>
          <p:nvPr/>
        </p:nvSpPr>
        <p:spPr>
          <a:xfrm>
            <a:off x="7620000" y="2006600"/>
            <a:ext cx="203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ctr">
              <a:lnSpc>
                <a:spcPct val="120000"/>
              </a:lnSpc>
            </a:pPr>
            <a:r>
              <a:rPr lang="en-US" sz="1800" b="1">
                <a:solidFill>
                  <a:srgbClr val="C26A2E"/>
                </a:solidFill>
                <a:latin typeface="MiSans"/>
                <a:ea typeface="MiSans"/>
              </a:rPr>
              <a:t>2025</a:t>
            </a:r>
            <a:endParaRPr lang="en-US" sz="1800"/>
          </a:p>
        </p:txBody>
      </p:sp>
      <p:sp>
        <p:nvSpPr>
          <p:cNvPr id="9" name="y2026"/>
          <p:cNvSpPr txBox="1"/>
          <p:nvPr/>
        </p:nvSpPr>
        <p:spPr>
          <a:xfrm>
            <a:off x="9652000" y="2006600"/>
            <a:ext cx="203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ctr">
              <a:lnSpc>
                <a:spcPct val="120000"/>
              </a:lnSpc>
            </a:pPr>
            <a:r>
              <a:rPr lang="en-US" sz="1800" b="1">
                <a:solidFill>
                  <a:srgbClr val="C26A2E"/>
                </a:solidFill>
                <a:latin typeface="MiSans"/>
                <a:ea typeface="MiSans"/>
              </a:rPr>
              <a:t>2026</a:t>
            </a:r>
            <a:endParaRPr lang="en-US" sz="1800"/>
          </a:p>
        </p:txBody>
      </p:sp>
      <p:sp>
        <p:nvSpPr>
          <p:cNvPr id="10" name="n2022"/>
          <p:cNvSpPr/>
          <p:nvPr/>
        </p:nvSpPr>
        <p:spPr>
          <a:xfrm>
            <a:off x="1689100" y="2552700"/>
            <a:ext cx="177800" cy="177800"/>
          </a:xfrm>
          <a:prstGeom prst="ellipse">
            <a:avLst/>
          </a:prstGeom>
          <a:solidFill>
            <a:srgbClr val="1E4D3B"/>
          </a:solidFill>
          <a:ln>
            <a:noFill/>
          </a:ln>
        </p:spPr>
      </p:sp>
      <p:sp>
        <p:nvSpPr>
          <p:cNvPr id="11" name="n2023"/>
          <p:cNvSpPr/>
          <p:nvPr/>
        </p:nvSpPr>
        <p:spPr>
          <a:xfrm>
            <a:off x="3975100" y="2552700"/>
            <a:ext cx="177800" cy="177800"/>
          </a:xfrm>
          <a:prstGeom prst="ellipse">
            <a:avLst/>
          </a:prstGeom>
          <a:solidFill>
            <a:srgbClr val="1E4D3B"/>
          </a:solidFill>
          <a:ln>
            <a:noFill/>
          </a:ln>
        </p:spPr>
      </p:sp>
      <p:sp>
        <p:nvSpPr>
          <p:cNvPr id="12" name="n2024"/>
          <p:cNvSpPr/>
          <p:nvPr/>
        </p:nvSpPr>
        <p:spPr>
          <a:xfrm>
            <a:off x="6261100" y="2552700"/>
            <a:ext cx="177800" cy="177800"/>
          </a:xfrm>
          <a:prstGeom prst="ellipse">
            <a:avLst/>
          </a:prstGeom>
          <a:solidFill>
            <a:srgbClr val="1E4D3B"/>
          </a:solidFill>
          <a:ln>
            <a:noFill/>
          </a:ln>
        </p:spPr>
      </p:sp>
      <p:sp>
        <p:nvSpPr>
          <p:cNvPr id="13" name="n2025"/>
          <p:cNvSpPr/>
          <p:nvPr/>
        </p:nvSpPr>
        <p:spPr>
          <a:xfrm>
            <a:off x="8547100" y="2552700"/>
            <a:ext cx="177800" cy="177800"/>
          </a:xfrm>
          <a:prstGeom prst="ellipse">
            <a:avLst/>
          </a:prstGeom>
          <a:solidFill>
            <a:srgbClr val="C26A2E"/>
          </a:solidFill>
          <a:ln>
            <a:noFill/>
          </a:ln>
        </p:spPr>
      </p:sp>
      <p:sp>
        <p:nvSpPr>
          <p:cNvPr id="14" name="n2026"/>
          <p:cNvSpPr/>
          <p:nvPr/>
        </p:nvSpPr>
        <p:spPr>
          <a:xfrm>
            <a:off x="10579100" y="2552700"/>
            <a:ext cx="177800" cy="177800"/>
          </a:xfrm>
          <a:prstGeom prst="ellipse">
            <a:avLst/>
          </a:prstGeom>
          <a:solidFill>
            <a:srgbClr val="C26A2E"/>
          </a:solidFill>
          <a:ln>
            <a:noFill/>
          </a:ln>
        </p:spPr>
      </p:sp>
      <p:sp>
        <p:nvSpPr>
          <p:cNvPr id="15" name="t2022"/>
          <p:cNvSpPr txBox="1"/>
          <p:nvPr/>
        </p:nvSpPr>
        <p:spPr>
          <a:xfrm>
            <a:off x="762000" y="2946400"/>
            <a:ext cx="203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ctr">
              <a:lnSpc>
                <a:spcPct val="120000"/>
              </a:lnSpc>
            </a:pPr>
            <a:r>
              <a:rPr lang="en-US" sz="1200" b="1">
                <a:solidFill>
                  <a:srgbClr val="22211E"/>
                </a:solidFill>
                <a:latin typeface="MiSans"/>
                <a:ea typeface="MiSans"/>
              </a:rPr>
              <a:t>ChatGPT 会对话</a:t>
            </a:r>
            <a:endParaRPr lang="en-US" sz="1200"/>
          </a:p>
        </p:txBody>
      </p:sp>
      <p:sp>
        <p:nvSpPr>
          <p:cNvPr id="16" name="t2023"/>
          <p:cNvSpPr txBox="1"/>
          <p:nvPr/>
        </p:nvSpPr>
        <p:spPr>
          <a:xfrm>
            <a:off x="3048000" y="2946400"/>
            <a:ext cx="203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ctr">
              <a:lnSpc>
                <a:spcPct val="120000"/>
              </a:lnSpc>
            </a:pPr>
            <a:r>
              <a:rPr lang="en-US" sz="1200" b="1">
                <a:solidFill>
                  <a:srgbClr val="22211E"/>
                </a:solidFill>
                <a:latin typeface="MiSans"/>
                <a:ea typeface="MiSans"/>
              </a:rPr>
              <a:t>函数调用接工具</a:t>
            </a:r>
            <a:endParaRPr lang="en-US" sz="1200"/>
          </a:p>
        </p:txBody>
      </p:sp>
      <p:sp>
        <p:nvSpPr>
          <p:cNvPr id="17" name="t2024"/>
          <p:cNvSpPr txBox="1"/>
          <p:nvPr/>
        </p:nvSpPr>
        <p:spPr>
          <a:xfrm>
            <a:off x="5334000" y="2946400"/>
            <a:ext cx="203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ctr">
              <a:lnSpc>
                <a:spcPct val="120000"/>
              </a:lnSpc>
            </a:pPr>
            <a:r>
              <a:rPr lang="en-US" sz="1200" b="1">
                <a:solidFill>
                  <a:srgbClr val="22211E"/>
                </a:solidFill>
                <a:latin typeface="MiSans"/>
                <a:ea typeface="MiSans"/>
              </a:rPr>
              <a:t>推理模型会思考</a:t>
            </a:r>
            <a:endParaRPr lang="en-US" sz="1200"/>
          </a:p>
        </p:txBody>
      </p:sp>
      <p:sp>
        <p:nvSpPr>
          <p:cNvPr id="18" name="t2025"/>
          <p:cNvSpPr txBox="1"/>
          <p:nvPr/>
        </p:nvSpPr>
        <p:spPr>
          <a:xfrm>
            <a:off x="7620000" y="2946400"/>
            <a:ext cx="203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ctr">
              <a:lnSpc>
                <a:spcPct val="120000"/>
              </a:lnSpc>
            </a:pPr>
            <a:r>
              <a:rPr lang="en-US" sz="1200" b="1">
                <a:solidFill>
                  <a:srgbClr val="22211E"/>
                </a:solidFill>
                <a:latin typeface="MiSans"/>
                <a:ea typeface="MiSans"/>
              </a:rPr>
              <a:t>Agent 元年会干活</a:t>
            </a:r>
            <a:endParaRPr lang="en-US" sz="1200"/>
          </a:p>
        </p:txBody>
      </p:sp>
      <p:sp>
        <p:nvSpPr>
          <p:cNvPr id="19" name="t2026"/>
          <p:cNvSpPr txBox="1"/>
          <p:nvPr/>
        </p:nvSpPr>
        <p:spPr>
          <a:xfrm>
            <a:off x="9652000" y="2946400"/>
            <a:ext cx="203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ctr">
              <a:lnSpc>
                <a:spcPct val="120000"/>
              </a:lnSpc>
            </a:pPr>
            <a:r>
              <a:rPr lang="en-US" sz="1200" b="1">
                <a:solidFill>
                  <a:srgbClr val="22211E"/>
                </a:solidFill>
                <a:latin typeface="MiSans"/>
                <a:ea typeface="MiSans"/>
              </a:rPr>
              <a:t>多智能体工程化</a:t>
            </a:r>
            <a:endParaRPr lang="en-US" sz="1200"/>
          </a:p>
        </p:txBody>
      </p:sp>
      <p:sp>
        <p:nvSpPr>
          <p:cNvPr id="20" name="d2022"/>
          <p:cNvSpPr txBox="1"/>
          <p:nvPr/>
        </p:nvSpPr>
        <p:spPr>
          <a:xfrm>
            <a:off x="762000" y="3225800"/>
            <a:ext cx="2032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ctr">
              <a:lnSpc>
                <a:spcPct val="140000"/>
              </a:lnSpc>
            </a:pPr>
            <a:r>
              <a:rPr lang="en-US" sz="1000">
                <a:solidFill>
                  <a:srgbClr val="6B675F"/>
                </a:solidFill>
                <a:latin typeface="Liter"/>
                <a:ea typeface="Liter"/>
              </a:rPr>
              <a:t>自然语言成为入口，AI 走进大众</a:t>
            </a:r>
            <a:endParaRPr lang="en-US" sz="1000"/>
          </a:p>
        </p:txBody>
      </p:sp>
      <p:sp>
        <p:nvSpPr>
          <p:cNvPr id="21" name="d2023"/>
          <p:cNvSpPr txBox="1"/>
          <p:nvPr/>
        </p:nvSpPr>
        <p:spPr>
          <a:xfrm>
            <a:off x="3048000" y="3225800"/>
            <a:ext cx="2032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ctr">
              <a:lnSpc>
                <a:spcPct val="140000"/>
              </a:lnSpc>
            </a:pPr>
            <a:r>
              <a:rPr lang="en-US" sz="1000">
                <a:solidFill>
                  <a:srgbClr val="6B675F"/>
                </a:solidFill>
                <a:latin typeface="Liter"/>
                <a:ea typeface="Liter"/>
              </a:rPr>
              <a:t>模型学会调用外部接口与插件（GPTs）</a:t>
            </a:r>
            <a:endParaRPr lang="en-US" sz="1000"/>
          </a:p>
        </p:txBody>
      </p:sp>
      <p:sp>
        <p:nvSpPr>
          <p:cNvPr id="22" name="d2024"/>
          <p:cNvSpPr txBox="1"/>
          <p:nvPr/>
        </p:nvSpPr>
        <p:spPr>
          <a:xfrm>
            <a:off x="5334000" y="3225800"/>
            <a:ext cx="2032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ctr">
              <a:lnSpc>
                <a:spcPct val="140000"/>
              </a:lnSpc>
            </a:pPr>
            <a:r>
              <a:rPr lang="en-US" sz="1000">
                <a:solidFill>
                  <a:srgbClr val="6B675F"/>
                </a:solidFill>
                <a:latin typeface="Liter"/>
                <a:ea typeface="Liter"/>
              </a:rPr>
              <a:t>o1 / R1 让长链推理可用、可负担</a:t>
            </a:r>
            <a:endParaRPr lang="en-US" sz="1000"/>
          </a:p>
        </p:txBody>
      </p:sp>
      <p:sp>
        <p:nvSpPr>
          <p:cNvPr id="23" name="d2025"/>
          <p:cNvSpPr txBox="1"/>
          <p:nvPr/>
        </p:nvSpPr>
        <p:spPr>
          <a:xfrm>
            <a:off x="7620000" y="3225800"/>
            <a:ext cx="2032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ctr">
              <a:lnSpc>
                <a:spcPct val="140000"/>
              </a:lnSpc>
            </a:pPr>
            <a:r>
              <a:rPr lang="en-US" sz="1000">
                <a:solidFill>
                  <a:srgbClr val="6B675F"/>
                </a:solidFill>
                <a:latin typeface="Liter"/>
                <a:ea typeface="Liter"/>
              </a:rPr>
              <a:t>Deep Research、</a:t>
            </a:r>
            <a:endParaRPr lang="en-US" sz="1000"/>
          </a:p>
          <a:p>
            <a:pPr algn="ctr">
              <a:lnSpc>
                <a:spcPct val="140000"/>
              </a:lnSpc>
            </a:pPr>
            <a:r>
              <a:rPr lang="en-US" sz="1000">
                <a:solidFill>
                  <a:srgbClr val="6B675F"/>
                </a:solidFill>
                <a:latin typeface="Liter"/>
                <a:ea typeface="Liter"/>
              </a:rPr>
              <a:t>Coding Agent 相继落地</a:t>
            </a:r>
            <a:endParaRPr lang="en-US" sz="1000"/>
          </a:p>
        </p:txBody>
      </p:sp>
      <p:sp>
        <p:nvSpPr>
          <p:cNvPr id="24" name="d2026"/>
          <p:cNvSpPr txBox="1"/>
          <p:nvPr/>
        </p:nvSpPr>
        <p:spPr>
          <a:xfrm>
            <a:off x="9652000" y="3225800"/>
            <a:ext cx="2032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ctr">
              <a:lnSpc>
                <a:spcPct val="140000"/>
              </a:lnSpc>
            </a:pPr>
            <a:r>
              <a:rPr lang="en-US" sz="1000">
                <a:solidFill>
                  <a:srgbClr val="6B675F"/>
                </a:solidFill>
                <a:latin typeface="Liter"/>
                <a:ea typeface="Liter"/>
              </a:rPr>
              <a:t>多智能体协作，</a:t>
            </a:r>
            <a:endParaRPr lang="en-US" sz="1000"/>
          </a:p>
          <a:p>
            <a:pPr algn="ctr">
              <a:lnSpc>
                <a:spcPct val="140000"/>
              </a:lnSpc>
            </a:pPr>
            <a:r>
              <a:rPr lang="en-US" sz="1000">
                <a:solidFill>
                  <a:srgbClr val="6B675F"/>
                </a:solidFill>
                <a:latin typeface="Liter"/>
                <a:ea typeface="Liter"/>
              </a:rPr>
              <a:t>Harness / Loop 成为显学</a:t>
            </a:r>
            <a:endParaRPr lang="en-US" sz="1000"/>
          </a:p>
        </p:txBody>
      </p:sp>
      <p:sp>
        <p:nvSpPr>
          <p:cNvPr id="25" name="q-bg"/>
          <p:cNvSpPr/>
          <p:nvPr/>
        </p:nvSpPr>
        <p:spPr>
          <a:xfrm>
            <a:off x="711200" y="4876800"/>
            <a:ext cx="10769600" cy="965200"/>
          </a:xfrm>
          <a:prstGeom prst="rect">
            <a:avLst/>
          </a:prstGeom>
          <a:solidFill>
            <a:srgbClr val="EAF1EC"/>
          </a:solidFill>
          <a:ln>
            <a:noFill/>
          </a:ln>
        </p:spPr>
      </p:sp>
      <p:sp>
        <p:nvSpPr>
          <p:cNvPr id="26" name="q-bar"/>
          <p:cNvSpPr/>
          <p:nvPr/>
        </p:nvSpPr>
        <p:spPr>
          <a:xfrm>
            <a:off x="711200" y="4876800"/>
            <a:ext cx="50800" cy="965200"/>
          </a:xfrm>
          <a:prstGeom prst="rect">
            <a:avLst/>
          </a:prstGeom>
          <a:solidFill>
            <a:srgbClr val="1E4D3B"/>
          </a:solidFill>
          <a:ln>
            <a:noFill/>
          </a:ln>
        </p:spPr>
      </p:sp>
      <p:sp>
        <p:nvSpPr>
          <p:cNvPr id="27" name="q-title"/>
          <p:cNvSpPr txBox="1"/>
          <p:nvPr/>
        </p:nvSpPr>
        <p:spPr>
          <a:xfrm>
            <a:off x="990600" y="50292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E4D3B"/>
                </a:solidFill>
                <a:latin typeface="MiSans"/>
                <a:ea typeface="MiSans"/>
              </a:rPr>
              <a:t>提问：我们处于哪一级？</a:t>
            </a:r>
            <a:endParaRPr lang="en-US" sz="1500"/>
          </a:p>
        </p:txBody>
      </p:sp>
      <p:sp>
        <p:nvSpPr>
          <p:cNvPr id="28" name="q-desc"/>
          <p:cNvSpPr txBox="1"/>
          <p:nvPr/>
        </p:nvSpPr>
        <p:spPr>
          <a:xfrm>
            <a:off x="990600" y="5359400"/>
            <a:ext cx="10287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50000"/>
              </a:lnSpc>
            </a:pPr>
            <a:r>
              <a:rPr lang="en-US" sz="1200">
                <a:solidFill>
                  <a:srgbClr val="22211E"/>
                </a:solidFill>
                <a:latin typeface="MiSans"/>
                <a:ea typeface="MiSans"/>
              </a:rPr>
              <a:t>多数人的日常还停留在「对话级」，部分工作到了「接工具级」。本期课程的目标：带大家走进「会派活」的一级。</a:t>
            </a:r>
            <a:endParaRPr lang="en-US" sz="1200"/>
          </a:p>
        </p:txBody>
      </p:sp>
      <p:sp>
        <p:nvSpPr>
          <p:cNvPr id="29" name="footer-line"/>
          <p:cNvSpPr/>
          <p:nvPr/>
        </p:nvSpPr>
        <p:spPr>
          <a:xfrm>
            <a:off x="711200" y="6375400"/>
            <a:ext cx="10769600" cy="12700"/>
          </a:xfrm>
          <a:prstGeom prst="rect">
            <a:avLst/>
          </a:prstGeom>
          <a:solidFill>
            <a:srgbClr val="D8D3C8"/>
          </a:solidFill>
          <a:ln>
            <a:noFill/>
          </a:ln>
        </p:spPr>
      </p:sp>
      <p:sp>
        <p:nvSpPr>
          <p:cNvPr id="30" name="footer-left"/>
          <p:cNvSpPr txBox="1"/>
          <p:nvPr/>
        </p:nvSpPr>
        <p:spPr>
          <a:xfrm>
            <a:off x="711200" y="6477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40000"/>
              </a:lnSpc>
            </a:pPr>
            <a:r>
              <a:rPr lang="en-US" sz="1000">
                <a:solidFill>
                  <a:srgbClr val="6B675F"/>
                </a:solidFill>
                <a:latin typeface="Liter"/>
                <a:ea typeface="Liter"/>
              </a:rPr>
              <a:t>来源：据公开产品发布信息整理（2022–2026）</a:t>
            </a:r>
            <a:endParaRPr lang="en-US" sz="1000"/>
          </a:p>
        </p:txBody>
      </p:sp>
      <p:sp>
        <p:nvSpPr>
          <p:cNvPr id="31" name="footer-page"/>
          <p:cNvSpPr txBox="1"/>
          <p:nvPr/>
        </p:nvSpPr>
        <p:spPr>
          <a:xfrm>
            <a:off x="10845800" y="6477000"/>
            <a:ext cx="635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r">
              <a:lnSpc>
                <a:spcPct val="140000"/>
              </a:lnSpc>
            </a:pPr>
            <a:r>
              <a:rPr lang="en-US" sz="1000">
                <a:solidFill>
                  <a:srgbClr val="6B675F"/>
                </a:solidFill>
                <a:latin typeface="Liter"/>
                <a:ea typeface="Liter"/>
              </a:rPr>
              <a:t>05</a:t>
            </a:r>
            <a:endParaRPr lang="en-US" sz="10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5080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100" b="1" spc="200" kern="0">
                <a:solidFill>
                  <a:srgbClr val="C26A2E"/>
                </a:solidFill>
                <a:latin typeface="Liter"/>
                <a:ea typeface="Liter"/>
              </a:rPr>
              <a:t>01 · 为什么是现在</a:t>
            </a:r>
            <a:endParaRPr lang="en-US" sz="1100"/>
          </a:p>
        </p:txBody>
      </p:sp>
      <p:sp>
        <p:nvSpPr>
          <p:cNvPr id="3" name="title"/>
          <p:cNvSpPr txBox="1"/>
          <p:nvPr/>
        </p:nvSpPr>
        <p:spPr>
          <a:xfrm>
            <a:off x="711200" y="7874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22211E"/>
                </a:solidFill>
                <a:latin typeface="Liter"/>
                <a:ea typeface="Liter"/>
              </a:rPr>
              <a:t>智能体 = 大模型 + 记忆 + 工具 + 规划，跑在一个循环里</a:t>
            </a:r>
            <a:endParaRPr lang="en-US" sz="2600"/>
          </a:p>
        </p:txBody>
      </p:sp>
      <p:sp>
        <p:nvSpPr>
          <p:cNvPr id="4" name="loop-ring"/>
          <p:cNvSpPr/>
          <p:nvPr/>
        </p:nvSpPr>
        <p:spPr>
          <a:xfrm>
            <a:off x="1092200" y="1879600"/>
            <a:ext cx="3657600" cy="3657600"/>
          </a:xfrm>
          <a:prstGeom prst="donut">
            <a:avLst>
              <a:gd name="adj" fmla="val 6000"/>
            </a:avLst>
          </a:prstGeom>
          <a:solidFill>
            <a:srgbClr val="EAF1EC"/>
          </a:solidFill>
          <a:ln>
            <a:noFill/>
          </a:ln>
        </p:spPr>
      </p:sp>
      <p:sp>
        <p:nvSpPr>
          <p:cNvPr id="5" name="loop-arrow"/>
          <p:cNvSpPr/>
          <p:nvPr>
            <p:extLst>
              <p:ext uri="{F5677B7D-0D2A-4D9B-9A5C-6D8D7D0E5A5D}">
                <pptd:icon encoding="base64url">eyJpY29uTmFtZSI6ImZhczphcnJvdy1yb3RhdGUtcmlnaHQifQ</pptd:icon>
              </p:ext>
            </p:extLst>
          </p:nvPr>
        </p:nvSpPr>
        <p:spPr>
          <a:xfrm>
            <a:off x="4025900" y="2222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437" y="75"/>
                </a:moveTo>
                <a:lnTo>
                  <a:pt x="448" y="85"/>
                </a:lnTo>
                <a:lnTo>
                  <a:pt x="448" y="32"/>
                </a:lnTo>
                <a:cubicBezTo>
                  <a:pt x="448" y="14"/>
                  <a:pt x="462" y="0"/>
                  <a:pt x="480" y="0"/>
                </a:cubicBezTo>
                <a:cubicBezTo>
                  <a:pt x="498" y="0"/>
                  <a:pt x="512" y="14"/>
                  <a:pt x="512" y="32"/>
                </a:cubicBezTo>
                <a:lnTo>
                  <a:pt x="512" y="160"/>
                </a:lnTo>
                <a:cubicBezTo>
                  <a:pt x="512" y="178"/>
                  <a:pt x="498" y="192"/>
                  <a:pt x="480" y="192"/>
                </a:cubicBezTo>
                <a:lnTo>
                  <a:pt x="352" y="192"/>
                </a:lnTo>
                <a:cubicBezTo>
                  <a:pt x="334" y="192"/>
                  <a:pt x="320" y="178"/>
                  <a:pt x="320" y="160"/>
                </a:cubicBezTo>
                <a:cubicBezTo>
                  <a:pt x="320" y="142"/>
                  <a:pt x="334" y="128"/>
                  <a:pt x="352" y="128"/>
                </a:cubicBezTo>
                <a:lnTo>
                  <a:pt x="400" y="128"/>
                </a:lnTo>
                <a:lnTo>
                  <a:pt x="392" y="121"/>
                </a:lnTo>
                <a:cubicBezTo>
                  <a:pt x="392" y="121"/>
                  <a:pt x="392" y="120"/>
                  <a:pt x="392" y="120"/>
                </a:cubicBezTo>
                <a:cubicBezTo>
                  <a:pt x="317" y="45"/>
                  <a:pt x="195" y="45"/>
                  <a:pt x="120" y="120"/>
                </a:cubicBezTo>
                <a:cubicBezTo>
                  <a:pt x="45" y="195"/>
                  <a:pt x="45" y="317"/>
                  <a:pt x="120" y="392"/>
                </a:cubicBezTo>
                <a:cubicBezTo>
                  <a:pt x="195" y="467"/>
                  <a:pt x="317" y="467"/>
                  <a:pt x="392" y="392"/>
                </a:cubicBezTo>
                <a:cubicBezTo>
                  <a:pt x="400" y="384"/>
                  <a:pt x="407" y="375"/>
                  <a:pt x="414" y="366"/>
                </a:cubicBezTo>
                <a:cubicBezTo>
                  <a:pt x="424" y="351"/>
                  <a:pt x="444" y="348"/>
                  <a:pt x="458" y="358"/>
                </a:cubicBezTo>
                <a:cubicBezTo>
                  <a:pt x="473" y="368"/>
                  <a:pt x="476" y="388"/>
                  <a:pt x="466" y="402"/>
                </a:cubicBezTo>
                <a:cubicBezTo>
                  <a:pt x="458" y="415"/>
                  <a:pt x="448" y="426"/>
                  <a:pt x="437" y="437"/>
                </a:cubicBezTo>
                <a:cubicBezTo>
                  <a:pt x="337" y="537"/>
                  <a:pt x="175" y="537"/>
                  <a:pt x="75" y="437"/>
                </a:cubicBezTo>
                <a:cubicBezTo>
                  <a:pt x="-25" y="337"/>
                  <a:pt x="-25" y="175"/>
                  <a:pt x="75" y="75"/>
                </a:cubicBezTo>
                <a:cubicBezTo>
                  <a:pt x="175" y="-25"/>
                  <a:pt x="337" y="-25"/>
                  <a:pt x="437" y="75"/>
                </a:cubicBezTo>
                <a:close/>
              </a:path>
            </a:pathLst>
          </a:custGeom>
          <a:solidFill>
            <a:srgbClr val="C26A2E"/>
          </a:solidFill>
          <a:ln>
            <a:noFill/>
          </a:ln>
        </p:spPr>
      </p:sp>
      <p:sp>
        <p:nvSpPr>
          <p:cNvPr id="6" name="conn-top"/>
          <p:cNvSpPr/>
          <p:nvPr>
            <p:extLst>
              <p:ext uri="{F5677B7D-0D2A-4D9B-9A5C-6D8D7D0E5A5D}">
                <pptd:line encoding="base64url">eyJjdXJ2ZSI6InJvdW5kIiwicG9pbnRzIjoiMSwwIDEsNDgiLCJ2aWV3Qm94IjpbMiw0OF19</pptd:line>
              </p:ext>
            </p:extLst>
          </p:nvPr>
        </p:nvSpPr>
        <p:spPr>
          <a:xfrm>
            <a:off x="2908300" y="2336800"/>
            <a:ext cx="25400" cy="609600"/>
          </a:xfrm>
          <a:custGeom>
            <a:avLst/>
            <a:gdLst/>
            <a:ahLst/>
            <a:cxnLst/>
            <a:rect l="l" t="t" r="r" b="b"/>
            <a:pathLst>
              <a:path w="2" h="48">
                <a:moveTo>
                  <a:pt x="1" y="0"/>
                </a:moveTo>
                <a:lnTo>
                  <a:pt x="1" y="48"/>
                </a:lnTo>
              </a:path>
            </a:pathLst>
          </a:custGeom>
          <a:noFill/>
          <a:ln w="19050" cap="rnd">
            <a:solidFill>
              <a:srgbClr val="D8D3C8"/>
            </a:solidFill>
            <a:round/>
          </a:ln>
        </p:spPr>
      </p:sp>
      <p:sp>
        <p:nvSpPr>
          <p:cNvPr id="7" name="conn-left"/>
          <p:cNvSpPr/>
          <p:nvPr>
            <p:extLst>
              <p:ext uri="{F5677B7D-0D2A-4D9B-9A5C-6D8D7D0E5A5D}">
                <pptd:line encoding="base64url">eyJjdXJ2ZSI6InJvdW5kIiwicG9pbnRzIjoiMSwwIDEsNDEiLCJ2aWV3Qm94IjpbMiw0MV19</pptd:line>
              </p:ext>
            </p:extLst>
          </p:nvPr>
        </p:nvSpPr>
        <p:spPr>
          <a:xfrm>
            <a:off x="2374900" y="4254500"/>
            <a:ext cx="25400" cy="520700"/>
          </a:xfrm>
          <a:custGeom>
            <a:avLst/>
            <a:gdLst/>
            <a:ahLst/>
            <a:cxnLst/>
            <a:rect l="l" t="t" r="r" b="b"/>
            <a:pathLst>
              <a:path w="2" h="41">
                <a:moveTo>
                  <a:pt x="1" y="0"/>
                </a:moveTo>
                <a:lnTo>
                  <a:pt x="1" y="41"/>
                </a:lnTo>
              </a:path>
            </a:pathLst>
          </a:custGeom>
          <a:noFill/>
          <a:ln w="19050" cap="rnd">
            <a:solidFill>
              <a:srgbClr val="D8D3C8"/>
            </a:solidFill>
            <a:round/>
          </a:ln>
        </p:spPr>
      </p:sp>
      <p:sp>
        <p:nvSpPr>
          <p:cNvPr id="8" name="conn-right"/>
          <p:cNvSpPr/>
          <p:nvPr>
            <p:extLst>
              <p:ext uri="{F5677B7D-0D2A-4D9B-9A5C-6D8D7D0E5A5D}">
                <pptd:line encoding="base64url">eyJjdXJ2ZSI6InJvdW5kIiwicG9pbnRzIjoiMSwwIDEsNDEiLCJ2aWV3Qm94IjpbMiw0MV19</pptd:line>
              </p:ext>
            </p:extLst>
          </p:nvPr>
        </p:nvSpPr>
        <p:spPr>
          <a:xfrm>
            <a:off x="3441700" y="4254500"/>
            <a:ext cx="25400" cy="520700"/>
          </a:xfrm>
          <a:custGeom>
            <a:avLst/>
            <a:gdLst/>
            <a:ahLst/>
            <a:cxnLst/>
            <a:rect l="l" t="t" r="r" b="b"/>
            <a:pathLst>
              <a:path w="2" h="41">
                <a:moveTo>
                  <a:pt x="1" y="0"/>
                </a:moveTo>
                <a:lnTo>
                  <a:pt x="1" y="41"/>
                </a:lnTo>
              </a:path>
            </a:pathLst>
          </a:custGeom>
          <a:noFill/>
          <a:ln w="19050" cap="rnd">
            <a:solidFill>
              <a:srgbClr val="D8D3C8"/>
            </a:solidFill>
            <a:round/>
          </a:ln>
        </p:spPr>
      </p:sp>
      <p:sp>
        <p:nvSpPr>
          <p:cNvPr id="9" name="core-circle"/>
          <p:cNvSpPr/>
          <p:nvPr/>
        </p:nvSpPr>
        <p:spPr>
          <a:xfrm>
            <a:off x="2159000" y="2946400"/>
            <a:ext cx="1524000" cy="1524000"/>
          </a:xfrm>
          <a:prstGeom prst="ellipse">
            <a:avLst/>
          </a:prstGeom>
          <a:solidFill>
            <a:srgbClr val="1E4D3B"/>
          </a:solidFill>
          <a:ln>
            <a:noFill/>
          </a:ln>
        </p:spPr>
      </p:sp>
      <p:sp>
        <p:nvSpPr>
          <p:cNvPr id="10" name="core-text"/>
          <p:cNvSpPr txBox="1"/>
          <p:nvPr/>
        </p:nvSpPr>
        <p:spPr>
          <a:xfrm>
            <a:off x="2159000" y="3327400"/>
            <a:ext cx="1524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30000"/>
              </a:lnSpc>
            </a:pPr>
            <a:r>
              <a:rPr lang="en-US" sz="1500" b="1">
                <a:solidFill>
                  <a:srgbClr val="FFFFFF"/>
                </a:solidFill>
                <a:latin typeface="MiSans"/>
                <a:ea typeface="MiSans"/>
              </a:rPr>
              <a:t>LLM</a:t>
            </a:r>
            <a:endParaRPr lang="en-US" sz="1500"/>
          </a:p>
          <a:p>
            <a:pPr algn="ctr">
              <a:lnSpc>
                <a:spcPct val="130000"/>
              </a:lnSpc>
            </a:pPr>
            <a:r>
              <a:rPr lang="en-US" sz="1500" b="1">
                <a:solidFill>
                  <a:srgbClr val="FFFFFF"/>
                </a:solidFill>
                <a:latin typeface="MiSans"/>
                <a:ea typeface="MiSans"/>
              </a:rPr>
              <a:t>大模型</a:t>
            </a:r>
            <a:endParaRPr lang="en-US" sz="1500"/>
          </a:p>
        </p:txBody>
      </p:sp>
      <p:sp>
        <p:nvSpPr>
          <p:cNvPr id="11" name="sat-top-box"/>
          <p:cNvSpPr/>
          <p:nvPr/>
        </p:nvSpPr>
        <p:spPr>
          <a:xfrm>
            <a:off x="2159000" y="1879600"/>
            <a:ext cx="1524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4D3B"/>
            </a:solidFill>
          </a:ln>
        </p:spPr>
      </p:sp>
      <p:sp>
        <p:nvSpPr>
          <p:cNvPr id="12" name="sat-top-icon"/>
          <p:cNvSpPr/>
          <p:nvPr>
            <p:extLst>
              <p:ext uri="{F5677B7D-0D2A-4D9B-9A5C-6D8D7D0E5A5D}">
                <pptd:icon encoding="base64url">eyJpY29uTmFtZSI6ImZhczpzY3Jld2RyaXZlci13cmVuY2gifQ</pptd:icon>
              </p:ext>
            </p:extLst>
          </p:nvPr>
        </p:nvSpPr>
        <p:spPr>
          <a:xfrm>
            <a:off x="2311400" y="20066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71" y="-7"/>
                </a:moveTo>
                <a:cubicBezTo>
                  <a:pt x="76" y="-12"/>
                  <a:pt x="85" y="-13"/>
                  <a:pt x="91" y="-9"/>
                </a:cubicBezTo>
                <a:lnTo>
                  <a:pt x="210" y="71"/>
                </a:lnTo>
                <a:cubicBezTo>
                  <a:pt x="219" y="76"/>
                  <a:pt x="224" y="86"/>
                  <a:pt x="224" y="97"/>
                </a:cubicBezTo>
                <a:lnTo>
                  <a:pt x="224" y="147"/>
                </a:lnTo>
                <a:lnTo>
                  <a:pt x="315" y="238"/>
                </a:lnTo>
                <a:cubicBezTo>
                  <a:pt x="348" y="223"/>
                  <a:pt x="389" y="229"/>
                  <a:pt x="416" y="256"/>
                </a:cubicBezTo>
                <a:lnTo>
                  <a:pt x="542" y="382"/>
                </a:lnTo>
                <a:cubicBezTo>
                  <a:pt x="561" y="401"/>
                  <a:pt x="561" y="431"/>
                  <a:pt x="542" y="450"/>
                </a:cubicBezTo>
                <a:lnTo>
                  <a:pt x="482" y="510"/>
                </a:lnTo>
                <a:cubicBezTo>
                  <a:pt x="463" y="529"/>
                  <a:pt x="433" y="529"/>
                  <a:pt x="414" y="510"/>
                </a:cubicBezTo>
                <a:lnTo>
                  <a:pt x="288" y="384"/>
                </a:lnTo>
                <a:cubicBezTo>
                  <a:pt x="261" y="357"/>
                  <a:pt x="255" y="316"/>
                  <a:pt x="270" y="283"/>
                </a:cubicBezTo>
                <a:lnTo>
                  <a:pt x="179" y="192"/>
                </a:lnTo>
                <a:lnTo>
                  <a:pt x="129" y="192"/>
                </a:lnTo>
                <a:cubicBezTo>
                  <a:pt x="119" y="192"/>
                  <a:pt x="109" y="187"/>
                  <a:pt x="103" y="178"/>
                </a:cubicBezTo>
                <a:lnTo>
                  <a:pt x="23" y="59"/>
                </a:lnTo>
                <a:cubicBezTo>
                  <a:pt x="19" y="53"/>
                  <a:pt x="20" y="44"/>
                  <a:pt x="25" y="39"/>
                </a:cubicBezTo>
                <a:lnTo>
                  <a:pt x="71" y="-7"/>
                </a:lnTo>
                <a:close/>
                <a:moveTo>
                  <a:pt x="384" y="0"/>
                </a:moveTo>
                <a:cubicBezTo>
                  <a:pt x="404" y="0"/>
                  <a:pt x="424" y="4"/>
                  <a:pt x="441" y="11"/>
                </a:cubicBezTo>
                <a:cubicBezTo>
                  <a:pt x="451" y="14"/>
                  <a:pt x="453" y="27"/>
                  <a:pt x="446" y="35"/>
                </a:cubicBezTo>
                <a:lnTo>
                  <a:pt x="389" y="91"/>
                </a:lnTo>
                <a:cubicBezTo>
                  <a:pt x="386" y="94"/>
                  <a:pt x="384" y="98"/>
                  <a:pt x="384" y="103"/>
                </a:cubicBezTo>
                <a:lnTo>
                  <a:pt x="384" y="144"/>
                </a:lnTo>
                <a:cubicBezTo>
                  <a:pt x="384" y="153"/>
                  <a:pt x="391" y="160"/>
                  <a:pt x="400" y="160"/>
                </a:cubicBezTo>
                <a:lnTo>
                  <a:pt x="442" y="160"/>
                </a:lnTo>
                <a:cubicBezTo>
                  <a:pt x="446" y="160"/>
                  <a:pt x="450" y="158"/>
                  <a:pt x="453" y="155"/>
                </a:cubicBezTo>
                <a:lnTo>
                  <a:pt x="510" y="99"/>
                </a:lnTo>
                <a:cubicBezTo>
                  <a:pt x="517" y="91"/>
                  <a:pt x="530" y="93"/>
                  <a:pt x="534" y="103"/>
                </a:cubicBezTo>
                <a:cubicBezTo>
                  <a:pt x="540" y="121"/>
                  <a:pt x="544" y="140"/>
                  <a:pt x="544" y="160"/>
                </a:cubicBezTo>
                <a:cubicBezTo>
                  <a:pt x="544" y="203"/>
                  <a:pt x="527" y="242"/>
                  <a:pt x="499" y="271"/>
                </a:cubicBezTo>
                <a:lnTo>
                  <a:pt x="450" y="222"/>
                </a:lnTo>
                <a:cubicBezTo>
                  <a:pt x="417" y="189"/>
                  <a:pt x="372" y="176"/>
                  <a:pt x="329" y="184"/>
                </a:cubicBezTo>
                <a:lnTo>
                  <a:pt x="272" y="127"/>
                </a:lnTo>
                <a:lnTo>
                  <a:pt x="272" y="97"/>
                </a:lnTo>
                <a:lnTo>
                  <a:pt x="272" y="92"/>
                </a:lnTo>
                <a:cubicBezTo>
                  <a:pt x="271" y="80"/>
                  <a:pt x="268" y="68"/>
                  <a:pt x="261" y="57"/>
                </a:cubicBezTo>
                <a:cubicBezTo>
                  <a:pt x="291" y="22"/>
                  <a:pt x="335" y="0"/>
                  <a:pt x="384" y="0"/>
                </a:cubicBezTo>
                <a:close/>
                <a:moveTo>
                  <a:pt x="216" y="297"/>
                </a:moveTo>
                <a:cubicBezTo>
                  <a:pt x="210" y="334"/>
                  <a:pt x="218" y="373"/>
                  <a:pt x="242" y="404"/>
                </a:cubicBezTo>
                <a:lnTo>
                  <a:pt x="147" y="499"/>
                </a:lnTo>
                <a:cubicBezTo>
                  <a:pt x="119" y="527"/>
                  <a:pt x="73" y="527"/>
                  <a:pt x="45" y="499"/>
                </a:cubicBezTo>
                <a:cubicBezTo>
                  <a:pt x="17" y="471"/>
                  <a:pt x="17" y="425"/>
                  <a:pt x="45" y="397"/>
                </a:cubicBezTo>
                <a:lnTo>
                  <a:pt x="181" y="262"/>
                </a:lnTo>
                <a:lnTo>
                  <a:pt x="216" y="297"/>
                </a:lnTo>
                <a:close/>
              </a:path>
            </a:pathLst>
          </a:custGeom>
          <a:solidFill>
            <a:srgbClr val="1E4D3B"/>
          </a:solidFill>
          <a:ln>
            <a:noFill/>
          </a:ln>
        </p:spPr>
      </p:sp>
      <p:sp>
        <p:nvSpPr>
          <p:cNvPr id="13" name="sat-top-text"/>
          <p:cNvSpPr txBox="1"/>
          <p:nvPr/>
        </p:nvSpPr>
        <p:spPr>
          <a:xfrm>
            <a:off x="2590800" y="1879600"/>
            <a:ext cx="10414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200" b="1">
                <a:solidFill>
                  <a:srgbClr val="1E4D3B"/>
                </a:solidFill>
                <a:latin typeface="MiSans"/>
                <a:ea typeface="MiSans"/>
              </a:rPr>
              <a:t>工具 Tools</a:t>
            </a:r>
            <a:endParaRPr lang="en-US" sz="1200"/>
          </a:p>
        </p:txBody>
      </p:sp>
      <p:sp>
        <p:nvSpPr>
          <p:cNvPr id="14" name="sat-bl-box"/>
          <p:cNvSpPr/>
          <p:nvPr/>
        </p:nvSpPr>
        <p:spPr>
          <a:xfrm>
            <a:off x="736600" y="4775200"/>
            <a:ext cx="1701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4D3B"/>
            </a:solidFill>
          </a:ln>
        </p:spPr>
      </p:sp>
      <p:sp>
        <p:nvSpPr>
          <p:cNvPr id="15" name="sat-bl-icon"/>
          <p:cNvSpPr/>
          <p:nvPr>
            <p:extLst>
              <p:ext uri="{F5677B7D-0D2A-4D9B-9A5C-6D8D7D0E5A5D}">
                <pptd:icon encoding="base64url">eyJpY29uTmFtZSI6ImZhczpkYXRhYmFzZSJ9</pptd:icon>
              </p:ext>
            </p:extLst>
          </p:nvPr>
        </p:nvSpPr>
        <p:spPr>
          <a:xfrm>
            <a:off x="889000" y="49022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48" y="206"/>
                </a:moveTo>
                <a:cubicBezTo>
                  <a:pt x="433" y="216"/>
                  <a:pt x="416" y="224"/>
                  <a:pt x="399" y="230"/>
                </a:cubicBezTo>
                <a:cubicBezTo>
                  <a:pt x="352" y="247"/>
                  <a:pt x="290" y="256"/>
                  <a:pt x="224" y="256"/>
                </a:cubicBezTo>
                <a:cubicBezTo>
                  <a:pt x="158" y="256"/>
                  <a:pt x="96" y="247"/>
                  <a:pt x="50" y="230"/>
                </a:cubicBezTo>
                <a:cubicBezTo>
                  <a:pt x="32" y="224"/>
                  <a:pt x="15" y="216"/>
                  <a:pt x="0" y="206"/>
                </a:cubicBezTo>
                <a:lnTo>
                  <a:pt x="0" y="288"/>
                </a:lnTo>
                <a:cubicBezTo>
                  <a:pt x="0" y="332"/>
                  <a:pt x="100" y="368"/>
                  <a:pt x="224" y="368"/>
                </a:cubicBezTo>
                <a:cubicBezTo>
                  <a:pt x="348" y="368"/>
                  <a:pt x="448" y="332"/>
                  <a:pt x="448" y="288"/>
                </a:cubicBezTo>
                <a:lnTo>
                  <a:pt x="448" y="206"/>
                </a:lnTo>
                <a:close/>
                <a:moveTo>
                  <a:pt x="448" y="128"/>
                </a:moveTo>
                <a:lnTo>
                  <a:pt x="448" y="80"/>
                </a:lnTo>
                <a:cubicBezTo>
                  <a:pt x="448" y="36"/>
                  <a:pt x="348" y="0"/>
                  <a:pt x="224" y="0"/>
                </a:cubicBezTo>
                <a:cubicBezTo>
                  <a:pt x="100" y="0"/>
                  <a:pt x="0" y="36"/>
                  <a:pt x="0" y="80"/>
                </a:cubicBezTo>
                <a:lnTo>
                  <a:pt x="0" y="128"/>
                </a:lnTo>
                <a:cubicBezTo>
                  <a:pt x="0" y="172"/>
                  <a:pt x="100" y="208"/>
                  <a:pt x="224" y="208"/>
                </a:cubicBezTo>
                <a:cubicBezTo>
                  <a:pt x="348" y="208"/>
                  <a:pt x="448" y="172"/>
                  <a:pt x="448" y="128"/>
                </a:cubicBezTo>
                <a:close/>
                <a:moveTo>
                  <a:pt x="399" y="390"/>
                </a:moveTo>
                <a:cubicBezTo>
                  <a:pt x="352" y="407"/>
                  <a:pt x="290" y="416"/>
                  <a:pt x="224" y="416"/>
                </a:cubicBezTo>
                <a:cubicBezTo>
                  <a:pt x="158" y="416"/>
                  <a:pt x="96" y="407"/>
                  <a:pt x="50" y="390"/>
                </a:cubicBezTo>
                <a:cubicBezTo>
                  <a:pt x="32" y="384"/>
                  <a:pt x="15" y="376"/>
                  <a:pt x="0" y="366"/>
                </a:cubicBezTo>
                <a:lnTo>
                  <a:pt x="0" y="432"/>
                </a:lnTo>
                <a:cubicBezTo>
                  <a:pt x="0" y="476"/>
                  <a:pt x="100" y="512"/>
                  <a:pt x="224" y="512"/>
                </a:cubicBezTo>
                <a:cubicBezTo>
                  <a:pt x="348" y="512"/>
                  <a:pt x="448" y="476"/>
                  <a:pt x="448" y="432"/>
                </a:cubicBezTo>
                <a:lnTo>
                  <a:pt x="448" y="366"/>
                </a:lnTo>
                <a:cubicBezTo>
                  <a:pt x="433" y="376"/>
                  <a:pt x="416" y="384"/>
                  <a:pt x="399" y="390"/>
                </a:cubicBezTo>
                <a:close/>
              </a:path>
            </a:pathLst>
          </a:custGeom>
          <a:solidFill>
            <a:srgbClr val="1E4D3B"/>
          </a:solidFill>
          <a:ln>
            <a:noFill/>
          </a:ln>
        </p:spPr>
      </p:sp>
      <p:sp>
        <p:nvSpPr>
          <p:cNvPr id="16" name="sat-bl-text"/>
          <p:cNvSpPr txBox="1"/>
          <p:nvPr/>
        </p:nvSpPr>
        <p:spPr>
          <a:xfrm>
            <a:off x="1168400" y="4775200"/>
            <a:ext cx="12192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200" b="1">
                <a:solidFill>
                  <a:srgbClr val="1E4D3B"/>
                </a:solidFill>
                <a:latin typeface="MiSans"/>
                <a:ea typeface="MiSans"/>
              </a:rPr>
              <a:t>记忆 Memory</a:t>
            </a:r>
            <a:endParaRPr lang="en-US" sz="1200"/>
          </a:p>
        </p:txBody>
      </p:sp>
      <p:sp>
        <p:nvSpPr>
          <p:cNvPr id="17" name="sat-br-box"/>
          <p:cNvSpPr/>
          <p:nvPr/>
        </p:nvSpPr>
        <p:spPr>
          <a:xfrm>
            <a:off x="3403600" y="4775200"/>
            <a:ext cx="1701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4D3B"/>
            </a:solidFill>
          </a:ln>
        </p:spPr>
      </p:sp>
      <p:sp>
        <p:nvSpPr>
          <p:cNvPr id="18" name="sat-br-icon"/>
          <p:cNvSpPr/>
          <p:nvPr>
            <p:extLst>
              <p:ext uri="{F5677B7D-0D2A-4D9B-9A5C-6D8D7D0E5A5D}">
                <pptd:icon encoding="base64url">eyJpY29uTmFtZSI6ImZhczpyb3V0ZSJ9</pptd:icon>
              </p:ext>
            </p:extLst>
          </p:nvPr>
        </p:nvSpPr>
        <p:spPr>
          <a:xfrm>
            <a:off x="3556000" y="49022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12" y="96"/>
                </a:moveTo>
                <a:cubicBezTo>
                  <a:pt x="512" y="146"/>
                  <a:pt x="453" y="221"/>
                  <a:pt x="427" y="251"/>
                </a:cubicBezTo>
                <a:cubicBezTo>
                  <a:pt x="424" y="255"/>
                  <a:pt x="418" y="257"/>
                  <a:pt x="413" y="256"/>
                </a:cubicBezTo>
                <a:lnTo>
                  <a:pt x="320" y="256"/>
                </a:lnTo>
                <a:cubicBezTo>
                  <a:pt x="302" y="256"/>
                  <a:pt x="288" y="270"/>
                  <a:pt x="288" y="288"/>
                </a:cubicBezTo>
                <a:cubicBezTo>
                  <a:pt x="288" y="306"/>
                  <a:pt x="302" y="320"/>
                  <a:pt x="320" y="320"/>
                </a:cubicBezTo>
                <a:lnTo>
                  <a:pt x="416" y="320"/>
                </a:lnTo>
                <a:cubicBezTo>
                  <a:pt x="469" y="320"/>
                  <a:pt x="512" y="363"/>
                  <a:pt x="512" y="416"/>
                </a:cubicBezTo>
                <a:cubicBezTo>
                  <a:pt x="512" y="469"/>
                  <a:pt x="469" y="512"/>
                  <a:pt x="416" y="512"/>
                </a:cubicBezTo>
                <a:lnTo>
                  <a:pt x="140" y="512"/>
                </a:lnTo>
                <a:cubicBezTo>
                  <a:pt x="148" y="502"/>
                  <a:pt x="159" y="489"/>
                  <a:pt x="170" y="475"/>
                </a:cubicBezTo>
                <a:cubicBezTo>
                  <a:pt x="176" y="467"/>
                  <a:pt x="182" y="458"/>
                  <a:pt x="189" y="448"/>
                </a:cubicBezTo>
                <a:lnTo>
                  <a:pt x="416" y="448"/>
                </a:lnTo>
                <a:cubicBezTo>
                  <a:pt x="434" y="448"/>
                  <a:pt x="448" y="434"/>
                  <a:pt x="448" y="416"/>
                </a:cubicBezTo>
                <a:cubicBezTo>
                  <a:pt x="448" y="398"/>
                  <a:pt x="434" y="384"/>
                  <a:pt x="416" y="384"/>
                </a:cubicBezTo>
                <a:lnTo>
                  <a:pt x="320" y="384"/>
                </a:lnTo>
                <a:cubicBezTo>
                  <a:pt x="267" y="384"/>
                  <a:pt x="224" y="341"/>
                  <a:pt x="224" y="288"/>
                </a:cubicBezTo>
                <a:cubicBezTo>
                  <a:pt x="224" y="235"/>
                  <a:pt x="267" y="192"/>
                  <a:pt x="320" y="192"/>
                </a:cubicBezTo>
                <a:lnTo>
                  <a:pt x="360" y="192"/>
                </a:lnTo>
                <a:cubicBezTo>
                  <a:pt x="339" y="161"/>
                  <a:pt x="320" y="124"/>
                  <a:pt x="320" y="96"/>
                </a:cubicBezTo>
                <a:cubicBezTo>
                  <a:pt x="320" y="43"/>
                  <a:pt x="363" y="0"/>
                  <a:pt x="416" y="0"/>
                </a:cubicBezTo>
                <a:cubicBezTo>
                  <a:pt x="469" y="0"/>
                  <a:pt x="512" y="43"/>
                  <a:pt x="512" y="96"/>
                </a:cubicBezTo>
                <a:close/>
                <a:moveTo>
                  <a:pt x="416" y="128"/>
                </a:moveTo>
                <a:cubicBezTo>
                  <a:pt x="434" y="128"/>
                  <a:pt x="448" y="114"/>
                  <a:pt x="448" y="96"/>
                </a:cubicBezTo>
                <a:cubicBezTo>
                  <a:pt x="448" y="78"/>
                  <a:pt x="434" y="64"/>
                  <a:pt x="416" y="64"/>
                </a:cubicBezTo>
                <a:cubicBezTo>
                  <a:pt x="398" y="64"/>
                  <a:pt x="384" y="78"/>
                  <a:pt x="384" y="96"/>
                </a:cubicBezTo>
                <a:cubicBezTo>
                  <a:pt x="384" y="114"/>
                  <a:pt x="398" y="128"/>
                  <a:pt x="416" y="128"/>
                </a:cubicBezTo>
                <a:close/>
                <a:moveTo>
                  <a:pt x="117" y="489"/>
                </a:moveTo>
                <a:cubicBezTo>
                  <a:pt x="113" y="493"/>
                  <a:pt x="110" y="497"/>
                  <a:pt x="107" y="500"/>
                </a:cubicBezTo>
                <a:lnTo>
                  <a:pt x="105" y="502"/>
                </a:lnTo>
                <a:lnTo>
                  <a:pt x="105" y="502"/>
                </a:lnTo>
                <a:cubicBezTo>
                  <a:pt x="99" y="507"/>
                  <a:pt x="90" y="506"/>
                  <a:pt x="85" y="500"/>
                </a:cubicBezTo>
                <a:cubicBezTo>
                  <a:pt x="60" y="473"/>
                  <a:pt x="0" y="403"/>
                  <a:pt x="0" y="352"/>
                </a:cubicBezTo>
                <a:cubicBezTo>
                  <a:pt x="0" y="299"/>
                  <a:pt x="43" y="256"/>
                  <a:pt x="96" y="256"/>
                </a:cubicBezTo>
                <a:cubicBezTo>
                  <a:pt x="149" y="256"/>
                  <a:pt x="192" y="299"/>
                  <a:pt x="192" y="352"/>
                </a:cubicBezTo>
                <a:cubicBezTo>
                  <a:pt x="192" y="382"/>
                  <a:pt x="171" y="419"/>
                  <a:pt x="149" y="450"/>
                </a:cubicBezTo>
                <a:cubicBezTo>
                  <a:pt x="138" y="465"/>
                  <a:pt x="127" y="478"/>
                  <a:pt x="118" y="488"/>
                </a:cubicBezTo>
                <a:lnTo>
                  <a:pt x="117" y="489"/>
                </a:lnTo>
                <a:close/>
                <a:moveTo>
                  <a:pt x="128" y="352"/>
                </a:moveTo>
                <a:cubicBezTo>
                  <a:pt x="128" y="334"/>
                  <a:pt x="114" y="320"/>
                  <a:pt x="96" y="320"/>
                </a:cubicBezTo>
                <a:cubicBezTo>
                  <a:pt x="78" y="320"/>
                  <a:pt x="64" y="334"/>
                  <a:pt x="64" y="352"/>
                </a:cubicBezTo>
                <a:cubicBezTo>
                  <a:pt x="64" y="370"/>
                  <a:pt x="78" y="384"/>
                  <a:pt x="96" y="384"/>
                </a:cubicBezTo>
                <a:cubicBezTo>
                  <a:pt x="114" y="384"/>
                  <a:pt x="128" y="370"/>
                  <a:pt x="128" y="352"/>
                </a:cubicBezTo>
                <a:close/>
              </a:path>
            </a:pathLst>
          </a:custGeom>
          <a:solidFill>
            <a:srgbClr val="1E4D3B"/>
          </a:solidFill>
          <a:ln>
            <a:noFill/>
          </a:ln>
        </p:spPr>
      </p:sp>
      <p:sp>
        <p:nvSpPr>
          <p:cNvPr id="19" name="sat-br-text"/>
          <p:cNvSpPr txBox="1"/>
          <p:nvPr/>
        </p:nvSpPr>
        <p:spPr>
          <a:xfrm>
            <a:off x="3835400" y="4775200"/>
            <a:ext cx="12192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200" b="1">
                <a:solidFill>
                  <a:srgbClr val="1E4D3B"/>
                </a:solidFill>
                <a:latin typeface="MiSans"/>
                <a:ea typeface="MiSans"/>
              </a:rPr>
              <a:t>规划 Planning</a:t>
            </a:r>
            <a:endParaRPr lang="en-US" sz="1200"/>
          </a:p>
        </p:txBody>
      </p:sp>
      <p:sp>
        <p:nvSpPr>
          <p:cNvPr id="20" name="loop-caption"/>
          <p:cNvSpPr txBox="1"/>
          <p:nvPr/>
        </p:nvSpPr>
        <p:spPr>
          <a:xfrm>
            <a:off x="1092200" y="5689600"/>
            <a:ext cx="36576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ctr">
              <a:lnSpc>
                <a:spcPct val="140000"/>
              </a:lnSpc>
            </a:pPr>
            <a:r>
              <a:rPr lang="en-US" sz="1000">
                <a:solidFill>
                  <a:srgbClr val="6B675F"/>
                </a:solidFill>
                <a:latin typeface="Liter"/>
                <a:ea typeface="Liter"/>
              </a:rPr>
              <a:t>观察 → 思考 → 行动 → 再观察</a:t>
            </a:r>
            <a:endParaRPr lang="en-US" sz="1000"/>
          </a:p>
        </p:txBody>
      </p:sp>
      <p:sp>
        <p:nvSpPr>
          <p:cNvPr id="21" name="def-head"/>
          <p:cNvSpPr txBox="1"/>
          <p:nvPr/>
        </p:nvSpPr>
        <p:spPr>
          <a:xfrm>
            <a:off x="7112000" y="1651000"/>
            <a:ext cx="4368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E4D3B"/>
                </a:solidFill>
                <a:latin typeface="Liter"/>
                <a:ea typeface="Liter"/>
              </a:rPr>
              <a:t>一句话复述定义</a:t>
            </a:r>
            <a:endParaRPr lang="en-US" sz="1500"/>
          </a:p>
        </p:txBody>
      </p:sp>
      <p:sp>
        <p:nvSpPr>
          <p:cNvPr id="22" name="def-text"/>
          <p:cNvSpPr txBox="1"/>
          <p:nvPr/>
        </p:nvSpPr>
        <p:spPr>
          <a:xfrm>
            <a:off x="7112000" y="1981200"/>
            <a:ext cx="43688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55000"/>
              </a:lnSpc>
            </a:pPr>
            <a:r>
              <a:rPr lang="en-US" sz="1300">
                <a:solidFill>
                  <a:srgbClr val="22211E"/>
                </a:solidFill>
                <a:latin typeface="Liter"/>
                <a:ea typeface="Liter"/>
              </a:rPr>
              <a:t>由大模型驱动，具备记忆、工具与规划能力，在「观察—思考—行动」的循环中持续逼近目标、完成任务的系统。</a:t>
            </a:r>
            <a:endParaRPr lang="en-US" sz="1300"/>
          </a:p>
        </p:txBody>
      </p:sp>
      <p:sp>
        <p:nvSpPr>
          <p:cNvPr id="23" name="def-sep"/>
          <p:cNvSpPr/>
          <p:nvPr/>
        </p:nvSpPr>
        <p:spPr>
          <a:xfrm>
            <a:off x="7112000" y="3022600"/>
            <a:ext cx="4368800" cy="12700"/>
          </a:xfrm>
          <a:prstGeom prst="rect">
            <a:avLst/>
          </a:prstGeom>
          <a:solidFill>
            <a:srgbClr val="D8D3C8"/>
          </a:solidFill>
          <a:ln>
            <a:noFill/>
          </a:ln>
        </p:spPr>
      </p:sp>
      <p:sp>
        <p:nvSpPr>
          <p:cNvPr id="24" name="bound-head"/>
          <p:cNvSpPr txBox="1"/>
          <p:nvPr/>
        </p:nvSpPr>
        <p:spPr>
          <a:xfrm>
            <a:off x="7112000" y="3225800"/>
            <a:ext cx="4368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E4D3B"/>
                </a:solidFill>
                <a:latin typeface="Liter"/>
                <a:ea typeface="Liter"/>
              </a:rPr>
              <a:t>与单次问答的边界</a:t>
            </a:r>
            <a:endParaRPr lang="en-US" sz="1500"/>
          </a:p>
        </p:txBody>
      </p:sp>
      <p:sp>
        <p:nvSpPr>
          <p:cNvPr id="25" name="b1-dot"/>
          <p:cNvSpPr/>
          <p:nvPr/>
        </p:nvSpPr>
        <p:spPr>
          <a:xfrm>
            <a:off x="7112000" y="3644900"/>
            <a:ext cx="101600" cy="101600"/>
          </a:xfrm>
          <a:prstGeom prst="rect">
            <a:avLst/>
          </a:prstGeom>
          <a:solidFill>
            <a:srgbClr val="C26A2E"/>
          </a:solidFill>
          <a:ln>
            <a:noFill/>
          </a:ln>
        </p:spPr>
      </p:sp>
      <p:sp>
        <p:nvSpPr>
          <p:cNvPr id="26" name="b1-text"/>
          <p:cNvSpPr txBox="1"/>
          <p:nvPr/>
        </p:nvSpPr>
        <p:spPr>
          <a:xfrm>
            <a:off x="7340600" y="3581400"/>
            <a:ext cx="4140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200">
                <a:solidFill>
                  <a:srgbClr val="22211E"/>
                </a:solidFill>
                <a:latin typeface="MiSans"/>
                <a:ea typeface="MiSans"/>
              </a:rPr>
              <a:t>无循环 —— 一问一答即结束，不会自己继续</a:t>
            </a:r>
            <a:endParaRPr lang="en-US" sz="1200"/>
          </a:p>
        </p:txBody>
      </p:sp>
      <p:sp>
        <p:nvSpPr>
          <p:cNvPr id="27" name="b2-dot"/>
          <p:cNvSpPr/>
          <p:nvPr/>
        </p:nvSpPr>
        <p:spPr>
          <a:xfrm>
            <a:off x="7112000" y="3975100"/>
            <a:ext cx="101600" cy="101600"/>
          </a:xfrm>
          <a:prstGeom prst="rect">
            <a:avLst/>
          </a:prstGeom>
          <a:solidFill>
            <a:srgbClr val="C26A2E"/>
          </a:solidFill>
          <a:ln>
            <a:noFill/>
          </a:ln>
        </p:spPr>
      </p:sp>
      <p:sp>
        <p:nvSpPr>
          <p:cNvPr id="28" name="b2-text"/>
          <p:cNvSpPr txBox="1"/>
          <p:nvPr/>
        </p:nvSpPr>
        <p:spPr>
          <a:xfrm>
            <a:off x="7340600" y="3911600"/>
            <a:ext cx="4140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200">
                <a:solidFill>
                  <a:srgbClr val="22211E"/>
                </a:solidFill>
                <a:latin typeface="MiSans"/>
                <a:ea typeface="MiSans"/>
              </a:rPr>
              <a:t>无工具 —— 只能用你复制粘贴进去的内容</a:t>
            </a:r>
            <a:endParaRPr lang="en-US" sz="1200"/>
          </a:p>
        </p:txBody>
      </p:sp>
      <p:sp>
        <p:nvSpPr>
          <p:cNvPr id="29" name="b3-dot"/>
          <p:cNvSpPr/>
          <p:nvPr/>
        </p:nvSpPr>
        <p:spPr>
          <a:xfrm>
            <a:off x="7112000" y="4305300"/>
            <a:ext cx="101600" cy="101600"/>
          </a:xfrm>
          <a:prstGeom prst="rect">
            <a:avLst/>
          </a:prstGeom>
          <a:solidFill>
            <a:srgbClr val="C26A2E"/>
          </a:solidFill>
          <a:ln>
            <a:noFill/>
          </a:ln>
        </p:spPr>
      </p:sp>
      <p:sp>
        <p:nvSpPr>
          <p:cNvPr id="30" name="b3-text"/>
          <p:cNvSpPr txBox="1"/>
          <p:nvPr/>
        </p:nvSpPr>
        <p:spPr>
          <a:xfrm>
            <a:off x="7340600" y="4241800"/>
            <a:ext cx="4140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200">
                <a:solidFill>
                  <a:srgbClr val="22211E"/>
                </a:solidFill>
                <a:latin typeface="MiSans"/>
                <a:ea typeface="MiSans"/>
              </a:rPr>
              <a:t>无记忆 —— 每次对话都从零开始</a:t>
            </a:r>
            <a:endParaRPr lang="en-US" sz="1200"/>
          </a:p>
        </p:txBody>
      </p:sp>
      <p:sp>
        <p:nvSpPr>
          <p:cNvPr id="31" name="recall-bg"/>
          <p:cNvSpPr/>
          <p:nvPr/>
        </p:nvSpPr>
        <p:spPr>
          <a:xfrm>
            <a:off x="7112000" y="4851400"/>
            <a:ext cx="4368800" cy="787400"/>
          </a:xfrm>
          <a:prstGeom prst="rect">
            <a:avLst/>
          </a:prstGeom>
          <a:solidFill>
            <a:srgbClr val="EAF1EC"/>
          </a:solidFill>
          <a:ln>
            <a:noFill/>
          </a:ln>
        </p:spPr>
      </p:sp>
      <p:sp>
        <p:nvSpPr>
          <p:cNvPr id="32" name="recall-bar"/>
          <p:cNvSpPr/>
          <p:nvPr/>
        </p:nvSpPr>
        <p:spPr>
          <a:xfrm>
            <a:off x="7112000" y="4851400"/>
            <a:ext cx="50800" cy="787400"/>
          </a:xfrm>
          <a:prstGeom prst="rect">
            <a:avLst/>
          </a:prstGeom>
          <a:solidFill>
            <a:srgbClr val="1E4D3B"/>
          </a:solidFill>
          <a:ln>
            <a:noFill/>
          </a:ln>
        </p:spPr>
      </p:sp>
      <p:sp>
        <p:nvSpPr>
          <p:cNvPr id="33" name="recall-text"/>
          <p:cNvSpPr txBox="1"/>
          <p:nvPr/>
        </p:nvSpPr>
        <p:spPr>
          <a:xfrm>
            <a:off x="7340600" y="4851400"/>
            <a:ext cx="39370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50000"/>
              </a:lnSpc>
            </a:pPr>
            <a:r>
              <a:rPr lang="en-US" sz="1300" b="1">
                <a:solidFill>
                  <a:srgbClr val="1E4D3B"/>
                </a:solidFill>
                <a:latin typeface="MiSans"/>
                <a:ea typeface="MiSans"/>
              </a:rPr>
              <a:t>一句话复述：</a:t>
            </a:r>
            <a:endParaRPr lang="en-US" sz="1300"/>
          </a:p>
          <a:p>
            <a:pPr algn="l">
              <a:lnSpc>
                <a:spcPct val="150000"/>
              </a:lnSpc>
            </a:pPr>
            <a:r>
              <a:rPr lang="en-US" sz="1300" b="1">
                <a:solidFill>
                  <a:srgbClr val="1E4D3B"/>
                </a:solidFill>
                <a:latin typeface="MiSans"/>
                <a:ea typeface="MiSans"/>
              </a:rPr>
              <a:t>智能体是 ______，跑在 ______ 里。</a:t>
            </a:r>
            <a:endParaRPr lang="en-US" sz="1300"/>
          </a:p>
        </p:txBody>
      </p:sp>
      <p:sp>
        <p:nvSpPr>
          <p:cNvPr id="34" name="footer-line"/>
          <p:cNvSpPr/>
          <p:nvPr/>
        </p:nvSpPr>
        <p:spPr>
          <a:xfrm>
            <a:off x="711200" y="6375400"/>
            <a:ext cx="10769600" cy="12700"/>
          </a:xfrm>
          <a:prstGeom prst="rect">
            <a:avLst/>
          </a:prstGeom>
          <a:solidFill>
            <a:srgbClr val="D8D3C8"/>
          </a:solidFill>
          <a:ln>
            <a:noFill/>
          </a:ln>
        </p:spPr>
      </p:sp>
      <p:sp>
        <p:nvSpPr>
          <p:cNvPr id="35" name="footer-left"/>
          <p:cNvSpPr txBox="1"/>
          <p:nvPr/>
        </p:nvSpPr>
        <p:spPr>
          <a:xfrm>
            <a:off x="711200" y="64770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40000"/>
              </a:lnSpc>
            </a:pPr>
            <a:r>
              <a:rPr lang="en-US" sz="1000">
                <a:solidFill>
                  <a:srgbClr val="6B675F"/>
                </a:solidFill>
                <a:latin typeface="Liter"/>
                <a:ea typeface="Liter"/>
              </a:rPr>
              <a:t>东方智感 · AI 内训第三期</a:t>
            </a:r>
            <a:endParaRPr lang="en-US" sz="1000"/>
          </a:p>
        </p:txBody>
      </p:sp>
      <p:sp>
        <p:nvSpPr>
          <p:cNvPr id="36" name="footer-page"/>
          <p:cNvSpPr txBox="1"/>
          <p:nvPr/>
        </p:nvSpPr>
        <p:spPr>
          <a:xfrm>
            <a:off x="10845800" y="6477000"/>
            <a:ext cx="635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r">
              <a:lnSpc>
                <a:spcPct val="140000"/>
              </a:lnSpc>
            </a:pPr>
            <a:r>
              <a:rPr lang="en-US" sz="1000">
                <a:solidFill>
                  <a:srgbClr val="6B675F"/>
                </a:solidFill>
                <a:latin typeface="Liter"/>
                <a:ea typeface="Liter"/>
              </a:rPr>
              <a:t>06</a:t>
            </a:r>
            <a:endParaRPr lang="en-US" sz="10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5080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100" b="1" spc="200" kern="0">
                <a:solidFill>
                  <a:srgbClr val="C26A2E"/>
                </a:solidFill>
                <a:latin typeface="Liter"/>
                <a:ea typeface="Liter"/>
              </a:rPr>
              <a:t>01 · 为什么是现在</a:t>
            </a:r>
            <a:endParaRPr lang="en-US" sz="1100"/>
          </a:p>
        </p:txBody>
      </p:sp>
      <p:sp>
        <p:nvSpPr>
          <p:cNvPr id="3" name="title"/>
          <p:cNvSpPr txBox="1"/>
          <p:nvPr/>
        </p:nvSpPr>
        <p:spPr>
          <a:xfrm>
            <a:off x="711200" y="7874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22211E"/>
                </a:solidFill>
                <a:latin typeface="Liter"/>
                <a:ea typeface="Liter"/>
              </a:rPr>
              <a:t>Prompt、Workflow、Agent：你的任务该用哪一级？</a:t>
            </a:r>
            <a:endParaRPr lang="en-US" sz="2600"/>
          </a:p>
        </p:txBody>
      </p:sp>
      <p:graphicFrame>
        <p:nvGraphicFramePr>
          <p:cNvPr id="4" name="spectrum-table"/>
          <p:cNvGraphicFramePr>
            <a:graphicFrameLocks noGrp="1"/>
          </p:cNvGraphicFramePr>
          <p:nvPr/>
        </p:nvGraphicFramePr>
        <p:xfrm>
          <a:off x="711200" y="1600200"/>
          <a:ext cx="10769600" cy="3098800"/>
        </p:xfrm>
        <a:graphic>
          <a:graphicData uri="http://schemas.openxmlformats.org/drawingml/2006/table">
            <a:tbl>
              <a:tblPr/>
              <a:tblGrid>
                <a:gridCol w="1615440"/>
                <a:gridCol w="2907792"/>
                <a:gridCol w="3015488"/>
                <a:gridCol w="3230880"/>
              </a:tblGrid>
              <a:tr h="557784"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Liter"/>
                          <a:ea typeface="Liter"/>
                        </a:rPr>
                        <a:t>维度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3C8"/>
                      </a:solidFill>
                    </a:lnB>
                    <a:solidFill>
                      <a:srgbClr val="1E4D3B"/>
                    </a:solidFill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Liter"/>
                          <a:ea typeface="Liter"/>
                        </a:rPr>
                        <a:t>Prompt · 一次问答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3C8"/>
                      </a:solidFill>
                    </a:lnB>
                    <a:solidFill>
                      <a:srgbClr val="1E4D3B"/>
                    </a:solidFill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Liter"/>
                          <a:ea typeface="Liter"/>
                        </a:rPr>
                        <a:t>Workflow · 固定流程编排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3C8"/>
                      </a:solidFill>
                    </a:lnB>
                    <a:solidFill>
                      <a:srgbClr val="1E4D3B"/>
                    </a:solidFill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Liter"/>
                          <a:ea typeface="Liter"/>
                        </a:rPr>
                        <a:t>Agent · 自主规划循环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3C8"/>
                      </a:solidFill>
                    </a:lnB>
                    <a:solidFill>
                      <a:srgbClr val="1E4D3B"/>
                    </a:solidFill>
                  </a:tcPr>
                </a:tc>
              </a:tr>
              <a:tr h="635254"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00" b="1">
                          <a:solidFill>
                            <a:srgbClr val="22211E"/>
                          </a:solidFill>
                          <a:latin typeface="Liter"/>
                          <a:ea typeface="Liter"/>
                        </a:rPr>
                        <a:t>确定性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3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00">
                          <a:solidFill>
                            <a:srgbClr val="22211E"/>
                          </a:solidFill>
                          <a:latin typeface="Liter"/>
                          <a:ea typeface="Liter"/>
                        </a:rPr>
                        <a:t>当场一问一答，边界清晰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3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00">
                          <a:solidFill>
                            <a:srgbClr val="22211E"/>
                          </a:solidFill>
                          <a:latin typeface="Liter"/>
                          <a:ea typeface="Liter"/>
                        </a:rPr>
                        <a:t>高：步骤预先写死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3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00">
                          <a:solidFill>
                            <a:srgbClr val="22211E"/>
                          </a:solidFill>
                          <a:latin typeface="Liter"/>
                          <a:ea typeface="Liter"/>
                        </a:rPr>
                        <a:t>较低：路径由模型现场决定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3C8"/>
                      </a:solidFill>
                    </a:lnB>
                    <a:solidFill>
                      <a:srgbClr val="EAF1EC"/>
                    </a:solidFill>
                  </a:tcPr>
                </a:tc>
              </a:tr>
              <a:tr h="635254"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00" b="1">
                          <a:solidFill>
                            <a:srgbClr val="22211E"/>
                          </a:solidFill>
                          <a:latin typeface="Liter"/>
                          <a:ea typeface="Liter"/>
                        </a:rPr>
                        <a:t>灵活性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3C8"/>
                      </a:solidFill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00">
                          <a:solidFill>
                            <a:srgbClr val="22211E"/>
                          </a:solidFill>
                          <a:latin typeface="Liter"/>
                          <a:ea typeface="Liter"/>
                        </a:rPr>
                        <a:t>低：只解决这一问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3C8"/>
                      </a:solidFill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00">
                          <a:solidFill>
                            <a:srgbClr val="22211E"/>
                          </a:solidFill>
                          <a:latin typeface="Liter"/>
                          <a:ea typeface="Liter"/>
                        </a:rPr>
                        <a:t>中：流程之内可调参数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3C8"/>
                      </a:solidFill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00">
                          <a:solidFill>
                            <a:srgbClr val="22211E"/>
                          </a:solidFill>
                          <a:latin typeface="Liter"/>
                          <a:ea typeface="Liter"/>
                        </a:rPr>
                        <a:t>高：可应对计划外的情况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3C8"/>
                      </a:solidFill>
                    </a:lnB>
                    <a:solidFill>
                      <a:srgbClr val="EAF1EC"/>
                    </a:solidFill>
                  </a:tcPr>
                </a:tc>
              </a:tr>
              <a:tr h="635254"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00" b="1">
                          <a:solidFill>
                            <a:srgbClr val="22211E"/>
                          </a:solidFill>
                          <a:latin typeface="Liter"/>
                          <a:ea typeface="Liter"/>
                        </a:rPr>
                        <a:t>典型场景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3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00">
                          <a:solidFill>
                            <a:srgbClr val="22211E"/>
                          </a:solidFill>
                          <a:latin typeface="Liter"/>
                          <a:ea typeface="Liter"/>
                        </a:rPr>
                        <a:t>解释名词、起草一段话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3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00">
                          <a:solidFill>
                            <a:srgbClr val="22211E"/>
                          </a:solidFill>
                          <a:latin typeface="Liter"/>
                          <a:ea typeface="Liter"/>
                        </a:rPr>
                        <a:t>固定报表、定时数据同步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3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00">
                          <a:solidFill>
                            <a:srgbClr val="22211E"/>
                          </a:solidFill>
                          <a:latin typeface="Liter"/>
                          <a:ea typeface="Liter"/>
                        </a:rPr>
                        <a:t>异常排查、跨系统完成任务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3C8"/>
                      </a:solidFill>
                    </a:lnB>
                    <a:solidFill>
                      <a:srgbClr val="EAF1EC"/>
                    </a:solidFill>
                  </a:tcPr>
                </a:tc>
              </a:tr>
              <a:tr h="635254"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00" b="1">
                          <a:solidFill>
                            <a:srgbClr val="22211E"/>
                          </a:solidFill>
                          <a:latin typeface="Liter"/>
                          <a:ea typeface="Liter"/>
                        </a:rPr>
                        <a:t>成本 / 风险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3C8"/>
                      </a:solidFill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00">
                          <a:solidFill>
                            <a:srgbClr val="22211E"/>
                          </a:solidFill>
                          <a:latin typeface="Liter"/>
                          <a:ea typeface="Liter"/>
                        </a:rPr>
                        <a:t>几乎为零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3C8"/>
                      </a:solidFill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00">
                          <a:solidFill>
                            <a:srgbClr val="22211E"/>
                          </a:solidFill>
                          <a:latin typeface="Liter"/>
                          <a:ea typeface="Liter"/>
                        </a:rPr>
                        <a:t>低：错了也是固定的错法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3C8"/>
                      </a:solidFill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00">
                          <a:solidFill>
                            <a:srgbClr val="22211E"/>
                          </a:solidFill>
                          <a:latin typeface="Liter"/>
                          <a:ea typeface="Liter"/>
                        </a:rPr>
                        <a:t>较高：循环有成本，需验证与护栏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3C8"/>
                      </a:solidFill>
                    </a:lnB>
                    <a:solidFill>
                      <a:srgbClr val="EAF1EC"/>
                    </a:solidFill>
                  </a:tcPr>
                </a:tc>
              </a:tr>
            </a:tbl>
          </a:graphicData>
        </a:graphic>
      </p:graphicFrame>
      <p:sp>
        <p:nvSpPr>
          <p:cNvPr id="5" name="rule-bg"/>
          <p:cNvSpPr/>
          <p:nvPr/>
        </p:nvSpPr>
        <p:spPr>
          <a:xfrm>
            <a:off x="711200" y="4927600"/>
            <a:ext cx="10769600" cy="584200"/>
          </a:xfrm>
          <a:prstGeom prst="rect">
            <a:avLst/>
          </a:prstGeom>
          <a:solidFill>
            <a:srgbClr val="EAF1EC"/>
          </a:solidFill>
          <a:ln>
            <a:noFill/>
          </a:ln>
        </p:spPr>
      </p:sp>
      <p:sp>
        <p:nvSpPr>
          <p:cNvPr id="6" name="rule-bar"/>
          <p:cNvSpPr/>
          <p:nvPr/>
        </p:nvSpPr>
        <p:spPr>
          <a:xfrm>
            <a:off x="711200" y="4927600"/>
            <a:ext cx="50800" cy="584200"/>
          </a:xfrm>
          <a:prstGeom prst="rect">
            <a:avLst/>
          </a:prstGeom>
          <a:solidFill>
            <a:srgbClr val="1E4D3B"/>
          </a:solidFill>
          <a:ln>
            <a:noFill/>
          </a:ln>
        </p:spPr>
      </p:sp>
      <p:sp>
        <p:nvSpPr>
          <p:cNvPr id="7" name="rule-text"/>
          <p:cNvSpPr txBox="1"/>
          <p:nvPr/>
        </p:nvSpPr>
        <p:spPr>
          <a:xfrm>
            <a:off x="990600" y="4927600"/>
            <a:ext cx="10287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1E4D3B"/>
                </a:solidFill>
                <a:latin typeface="MiSans"/>
                <a:ea typeface="MiSans"/>
              </a:rPr>
              <a:t>判断口诀：一次能解决用 Prompt；步骤能写死用 Workflow；路径要现场定用 Agent。</a:t>
            </a:r>
            <a:endParaRPr lang="en-US" sz="1400"/>
          </a:p>
        </p:txBody>
      </p:sp>
      <p:sp>
        <p:nvSpPr>
          <p:cNvPr id="8" name="quiz-label"/>
          <p:cNvSpPr txBox="1"/>
          <p:nvPr/>
        </p:nvSpPr>
        <p:spPr>
          <a:xfrm>
            <a:off x="711200" y="5664200"/>
            <a:ext cx="330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50000"/>
              </a:lnSpc>
            </a:pPr>
            <a:r>
              <a:rPr lang="en-US" sz="1100" b="1">
                <a:solidFill>
                  <a:srgbClr val="C26A2E"/>
                </a:solidFill>
                <a:latin typeface="Liter"/>
                <a:ea typeface="Liter"/>
              </a:rPr>
              <a:t>现场判断（教学演示 / 示例）</a:t>
            </a:r>
            <a:endParaRPr lang="en-US" sz="1100"/>
          </a:p>
        </p:txBody>
      </p:sp>
      <p:sp>
        <p:nvSpPr>
          <p:cNvPr id="9" name="quiz-text"/>
          <p:cNvSpPr txBox="1"/>
          <p:nvPr/>
        </p:nvSpPr>
        <p:spPr>
          <a:xfrm>
            <a:off x="711200" y="5943600"/>
            <a:ext cx="107696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200">
                <a:solidFill>
                  <a:srgbClr val="22211E"/>
                </a:solidFill>
                <a:latin typeface="MiSans"/>
                <a:ea typeface="MiSans"/>
              </a:rPr>
              <a:t>① 每周自动生成并发出全域墒情巡检周报 → 该用哪一级？　② 向客户解释「土壤墒情」是什么 → 该用哪一级？</a:t>
            </a:r>
            <a:endParaRPr lang="en-US" sz="1200"/>
          </a:p>
        </p:txBody>
      </p:sp>
      <p:sp>
        <p:nvSpPr>
          <p:cNvPr id="10" name="footer-line"/>
          <p:cNvSpPr/>
          <p:nvPr/>
        </p:nvSpPr>
        <p:spPr>
          <a:xfrm>
            <a:off x="711200" y="6375400"/>
            <a:ext cx="10769600" cy="12700"/>
          </a:xfrm>
          <a:prstGeom prst="rect">
            <a:avLst/>
          </a:prstGeom>
          <a:solidFill>
            <a:srgbClr val="D8D3C8"/>
          </a:solidFill>
          <a:ln>
            <a:noFill/>
          </a:ln>
        </p:spPr>
      </p:sp>
      <p:sp>
        <p:nvSpPr>
          <p:cNvPr id="11" name="footer-left"/>
          <p:cNvSpPr txBox="1"/>
          <p:nvPr/>
        </p:nvSpPr>
        <p:spPr>
          <a:xfrm>
            <a:off x="711200" y="6477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40000"/>
              </a:lnSpc>
            </a:pPr>
            <a:r>
              <a:rPr lang="en-US" sz="1000">
                <a:solidFill>
                  <a:srgbClr val="6B675F"/>
                </a:solidFill>
                <a:latin typeface="Liter"/>
                <a:ea typeface="Liter"/>
              </a:rPr>
              <a:t>东方智感 · AI 内训第三期 · 场景为教学演示 / 示例</a:t>
            </a:r>
            <a:endParaRPr lang="en-US" sz="1000"/>
          </a:p>
        </p:txBody>
      </p:sp>
      <p:sp>
        <p:nvSpPr>
          <p:cNvPr id="12" name="footer-page"/>
          <p:cNvSpPr txBox="1"/>
          <p:nvPr/>
        </p:nvSpPr>
        <p:spPr>
          <a:xfrm>
            <a:off x="10845800" y="6477000"/>
            <a:ext cx="635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r">
              <a:lnSpc>
                <a:spcPct val="140000"/>
              </a:lnSpc>
            </a:pPr>
            <a:r>
              <a:rPr lang="en-US" sz="1000">
                <a:solidFill>
                  <a:srgbClr val="6B675F"/>
                </a:solidFill>
                <a:latin typeface="Liter"/>
                <a:ea typeface="Liter"/>
              </a:rPr>
              <a:t>07</a:t>
            </a:r>
            <a:endParaRPr lang="en-US" sz="10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508000"/>
            <a:ext cx="533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100" b="1" spc="200" kern="0">
                <a:solidFill>
                  <a:srgbClr val="C26A2E"/>
                </a:solidFill>
                <a:latin typeface="Liter"/>
                <a:ea typeface="Liter"/>
              </a:rPr>
              <a:t>01 · 为什么是现在</a:t>
            </a:r>
            <a:endParaRPr lang="en-US" sz="1100"/>
          </a:p>
        </p:txBody>
      </p:sp>
      <p:sp>
        <p:nvSpPr>
          <p:cNvPr id="3" name="title"/>
          <p:cNvSpPr txBox="1"/>
          <p:nvPr/>
        </p:nvSpPr>
        <p:spPr>
          <a:xfrm>
            <a:off x="711200" y="7874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22211E"/>
                </a:solidFill>
                <a:latin typeface="Liter"/>
                <a:ea typeface="Liter"/>
              </a:rPr>
              <a:t>Agent 的心跳:观察 → 思考 → 行动 → 再观察</a:t>
            </a:r>
            <a:endParaRPr lang="en-US" sz="2600"/>
          </a:p>
        </p:txBody>
      </p:sp>
      <p:sp>
        <p:nvSpPr>
          <p:cNvPr id="4" name="loop-zone-label"/>
          <p:cNvSpPr txBox="1"/>
          <p:nvPr/>
        </p:nvSpPr>
        <p:spPr>
          <a:xfrm>
            <a:off x="711200" y="1473200"/>
            <a:ext cx="431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E4D3B"/>
                </a:solidFill>
                <a:latin typeface="Liter"/>
                <a:ea typeface="Liter"/>
              </a:rPr>
              <a:t>ReAct 循环:边看、边想、边做</a:t>
            </a:r>
            <a:endParaRPr lang="en-US" sz="1500"/>
          </a:p>
        </p:txBody>
      </p:sp>
      <p:sp>
        <p:nvSpPr>
          <p:cNvPr id="5" name="loop-ring"/>
          <p:cNvSpPr/>
          <p:nvPr/>
        </p:nvSpPr>
        <p:spPr>
          <a:xfrm>
            <a:off x="939800" y="2032000"/>
            <a:ext cx="3962400" cy="3175000"/>
          </a:xfrm>
          <a:prstGeom prst="ellipse">
            <a:avLst/>
          </a:prstGeom>
          <a:noFill/>
          <a:ln w="15875">
            <a:solidFill>
              <a:srgbClr val="1E4D3B"/>
            </a:solidFill>
            <a:prstDash val="dash"/>
          </a:ln>
        </p:spPr>
      </p:sp>
      <p:sp>
        <p:nvSpPr>
          <p:cNvPr id="6" name="loop-ring-label-bg"/>
          <p:cNvSpPr/>
          <p:nvPr/>
        </p:nvSpPr>
        <p:spPr>
          <a:xfrm>
            <a:off x="1701800" y="2019300"/>
            <a:ext cx="2438400" cy="228600"/>
          </a:xfrm>
          <a:prstGeom prst="rect">
            <a:avLst/>
          </a:prstGeom>
          <a:solidFill>
            <a:srgbClr val="F7F5F0"/>
          </a:solidFill>
          <a:ln>
            <a:noFill/>
          </a:ln>
        </p:spPr>
      </p:sp>
      <p:sp>
        <p:nvSpPr>
          <p:cNvPr id="7" name="loop-ring-label"/>
          <p:cNvSpPr txBox="1"/>
          <p:nvPr/>
        </p:nvSpPr>
        <p:spPr>
          <a:xfrm>
            <a:off x="1498600" y="2032000"/>
            <a:ext cx="28448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000">
                <a:solidFill>
                  <a:srgbClr val="6B675F"/>
                </a:solidFill>
                <a:latin typeface="MiSans"/>
                <a:ea typeface="MiSans"/>
              </a:rPr>
              <a:t>虚线环 = 上下文,每一圈都在累积</a:t>
            </a:r>
            <a:endParaRPr lang="en-US" sz="1000"/>
          </a:p>
        </p:txBody>
      </p:sp>
      <p:sp>
        <p:nvSpPr>
          <p:cNvPr id="8" name="node-observe"/>
          <p:cNvSpPr/>
          <p:nvPr/>
        </p:nvSpPr>
        <p:spPr>
          <a:xfrm>
            <a:off x="2362200" y="2260600"/>
            <a:ext cx="1117600" cy="1117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4D3B"/>
            </a:solidFill>
          </a:ln>
        </p:spPr>
      </p:sp>
      <p:sp>
        <p:nvSpPr>
          <p:cNvPr id="9" name="node-observe-text"/>
          <p:cNvSpPr txBox="1"/>
          <p:nvPr/>
        </p:nvSpPr>
        <p:spPr>
          <a:xfrm>
            <a:off x="2362200" y="2260600"/>
            <a:ext cx="11176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25000"/>
              </a:lnSpc>
            </a:pPr>
            <a:r>
              <a:rPr lang="en-US" sz="1400" b="1">
                <a:solidFill>
                  <a:srgbClr val="1E4D3B"/>
                </a:solidFill>
                <a:latin typeface="MiSans"/>
                <a:ea typeface="MiSans"/>
              </a:rPr>
              <a:t>观察</a:t>
            </a:r>
            <a:endParaRPr lang="en-US" sz="1600"/>
          </a:p>
          <a:p>
            <a:pPr algn="ctr">
              <a:lnSpc>
                <a:spcPct val="125000"/>
              </a:lnSpc>
            </a:pPr>
            <a:r>
              <a:rPr lang="en-US" sz="900">
                <a:solidFill>
                  <a:srgbClr val="6B675F"/>
                </a:solidFill>
                <a:latin typeface="MiSans"/>
                <a:ea typeface="MiSans"/>
              </a:rPr>
              <a:t>Observe</a:t>
            </a:r>
            <a:endParaRPr lang="en-US" sz="1600"/>
          </a:p>
          <a:p>
            <a:pPr algn="ctr">
              <a:lnSpc>
                <a:spcPct val="125000"/>
              </a:lnSpc>
            </a:pPr>
            <a:r>
              <a:rPr lang="en-US" sz="950">
                <a:solidFill>
                  <a:srgbClr val="22211E"/>
                </a:solidFill>
                <a:latin typeface="MiSans"/>
                <a:ea typeface="MiSans"/>
              </a:rPr>
              <a:t>读数据/网页/文件</a:t>
            </a:r>
            <a:endParaRPr lang="en-US" sz="1600"/>
          </a:p>
        </p:txBody>
      </p:sp>
      <p:sp>
        <p:nvSpPr>
          <p:cNvPr id="10" name="node-think"/>
          <p:cNvSpPr/>
          <p:nvPr/>
        </p:nvSpPr>
        <p:spPr>
          <a:xfrm>
            <a:off x="3441700" y="3759200"/>
            <a:ext cx="1117600" cy="1117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4D3B"/>
            </a:solidFill>
          </a:ln>
        </p:spPr>
      </p:sp>
      <p:sp>
        <p:nvSpPr>
          <p:cNvPr id="11" name="node-think-text"/>
          <p:cNvSpPr txBox="1"/>
          <p:nvPr/>
        </p:nvSpPr>
        <p:spPr>
          <a:xfrm>
            <a:off x="3441700" y="3759200"/>
            <a:ext cx="11176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25000"/>
              </a:lnSpc>
            </a:pPr>
            <a:r>
              <a:rPr lang="en-US" sz="1400" b="1">
                <a:solidFill>
                  <a:srgbClr val="1E4D3B"/>
                </a:solidFill>
                <a:latin typeface="MiSans"/>
                <a:ea typeface="MiSans"/>
              </a:rPr>
              <a:t>思考</a:t>
            </a:r>
            <a:endParaRPr lang="en-US" sz="1600"/>
          </a:p>
          <a:p>
            <a:pPr algn="ctr">
              <a:lnSpc>
                <a:spcPct val="125000"/>
              </a:lnSpc>
            </a:pPr>
            <a:r>
              <a:rPr lang="en-US" sz="900">
                <a:solidFill>
                  <a:srgbClr val="6B675F"/>
                </a:solidFill>
                <a:latin typeface="MiSans"/>
                <a:ea typeface="MiSans"/>
              </a:rPr>
              <a:t>Think</a:t>
            </a:r>
            <a:endParaRPr lang="en-US" sz="1600"/>
          </a:p>
          <a:p>
            <a:pPr algn="ctr">
              <a:lnSpc>
                <a:spcPct val="125000"/>
              </a:lnSpc>
            </a:pPr>
            <a:r>
              <a:rPr lang="en-US" sz="950">
                <a:solidFill>
                  <a:srgbClr val="22211E"/>
                </a:solidFill>
                <a:latin typeface="MiSans"/>
                <a:ea typeface="MiSans"/>
              </a:rPr>
              <a:t>推理下一步</a:t>
            </a:r>
            <a:endParaRPr lang="en-US" sz="1600"/>
          </a:p>
        </p:txBody>
      </p:sp>
      <p:sp>
        <p:nvSpPr>
          <p:cNvPr id="12" name="node-act"/>
          <p:cNvSpPr/>
          <p:nvPr/>
        </p:nvSpPr>
        <p:spPr>
          <a:xfrm>
            <a:off x="1282700" y="3759200"/>
            <a:ext cx="1117600" cy="1117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4D3B"/>
            </a:solidFill>
          </a:ln>
        </p:spPr>
      </p:sp>
      <p:sp>
        <p:nvSpPr>
          <p:cNvPr id="13" name="node-act-text"/>
          <p:cNvSpPr txBox="1"/>
          <p:nvPr/>
        </p:nvSpPr>
        <p:spPr>
          <a:xfrm>
            <a:off x="1282700" y="3759200"/>
            <a:ext cx="11176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25000"/>
              </a:lnSpc>
            </a:pPr>
            <a:r>
              <a:rPr lang="en-US" sz="1400" b="1">
                <a:solidFill>
                  <a:srgbClr val="1E4D3B"/>
                </a:solidFill>
                <a:latin typeface="MiSans"/>
                <a:ea typeface="MiSans"/>
              </a:rPr>
              <a:t>行动</a:t>
            </a:r>
            <a:endParaRPr lang="en-US" sz="1600"/>
          </a:p>
          <a:p>
            <a:pPr algn="ctr">
              <a:lnSpc>
                <a:spcPct val="125000"/>
              </a:lnSpc>
            </a:pPr>
            <a:r>
              <a:rPr lang="en-US" sz="900">
                <a:solidFill>
                  <a:srgbClr val="6B675F"/>
                </a:solidFill>
                <a:latin typeface="MiSans"/>
                <a:ea typeface="MiSans"/>
              </a:rPr>
              <a:t>Act</a:t>
            </a:r>
            <a:endParaRPr lang="en-US" sz="1600"/>
          </a:p>
          <a:p>
            <a:pPr algn="ctr">
              <a:lnSpc>
                <a:spcPct val="125000"/>
              </a:lnSpc>
            </a:pPr>
            <a:r>
              <a:rPr lang="en-US" sz="950">
                <a:solidFill>
                  <a:srgbClr val="22211E"/>
                </a:solidFill>
                <a:latin typeface="MiSans"/>
                <a:ea typeface="MiSans"/>
              </a:rPr>
              <a:t>调用工具</a:t>
            </a:r>
            <a:endParaRPr lang="en-US" sz="1600"/>
          </a:p>
        </p:txBody>
      </p:sp>
      <p:sp>
        <p:nvSpPr>
          <p:cNvPr id="14" name="loop-center-icon"/>
          <p:cNvSpPr/>
          <p:nvPr>
            <p:extLst>
              <p:ext uri="{F5677B7D-0D2A-4D9B-9A5C-6D8D7D0E5A5D}">
                <pptd:icon encoding="base64url">eyJpY29uTmFtZSI6ImZhczphcnJvd3Mtcm90YXRlIn0</pptd:icon>
              </p:ext>
            </p:extLst>
          </p:nvPr>
        </p:nvSpPr>
        <p:spPr>
          <a:xfrm>
            <a:off x="2730500" y="3530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66" y="229"/>
                </a:moveTo>
                <a:cubicBezTo>
                  <a:pt x="79" y="136"/>
                  <a:pt x="159" y="64"/>
                  <a:pt x="256" y="64"/>
                </a:cubicBezTo>
                <a:cubicBezTo>
                  <a:pt x="309" y="64"/>
                  <a:pt x="357" y="86"/>
                  <a:pt x="392" y="120"/>
                </a:cubicBezTo>
                <a:cubicBezTo>
                  <a:pt x="392" y="120"/>
                  <a:pt x="392" y="121"/>
                  <a:pt x="392" y="121"/>
                </a:cubicBezTo>
                <a:lnTo>
                  <a:pt x="400" y="128"/>
                </a:lnTo>
                <a:lnTo>
                  <a:pt x="352" y="128"/>
                </a:lnTo>
                <a:cubicBezTo>
                  <a:pt x="334" y="128"/>
                  <a:pt x="320" y="142"/>
                  <a:pt x="320" y="160"/>
                </a:cubicBezTo>
                <a:cubicBezTo>
                  <a:pt x="320" y="178"/>
                  <a:pt x="334" y="192"/>
                  <a:pt x="352" y="192"/>
                </a:cubicBezTo>
                <a:lnTo>
                  <a:pt x="480" y="192"/>
                </a:lnTo>
                <a:cubicBezTo>
                  <a:pt x="498" y="192"/>
                  <a:pt x="512" y="178"/>
                  <a:pt x="512" y="160"/>
                </a:cubicBezTo>
                <a:lnTo>
                  <a:pt x="512" y="32"/>
                </a:lnTo>
                <a:cubicBezTo>
                  <a:pt x="512" y="14"/>
                  <a:pt x="498" y="0"/>
                  <a:pt x="480" y="0"/>
                </a:cubicBezTo>
                <a:cubicBezTo>
                  <a:pt x="462" y="0"/>
                  <a:pt x="448" y="14"/>
                  <a:pt x="448" y="32"/>
                </a:cubicBezTo>
                <a:lnTo>
                  <a:pt x="448" y="85"/>
                </a:lnTo>
                <a:lnTo>
                  <a:pt x="437" y="75"/>
                </a:lnTo>
                <a:cubicBezTo>
                  <a:pt x="391" y="29"/>
                  <a:pt x="327" y="0"/>
                  <a:pt x="256" y="0"/>
                </a:cubicBezTo>
                <a:cubicBezTo>
                  <a:pt x="127" y="0"/>
                  <a:pt x="20" y="95"/>
                  <a:pt x="3" y="220"/>
                </a:cubicBezTo>
                <a:cubicBezTo>
                  <a:pt x="0" y="237"/>
                  <a:pt x="12" y="253"/>
                  <a:pt x="30" y="256"/>
                </a:cubicBezTo>
                <a:cubicBezTo>
                  <a:pt x="47" y="258"/>
                  <a:pt x="63" y="246"/>
                  <a:pt x="66" y="229"/>
                </a:cubicBezTo>
                <a:close/>
                <a:moveTo>
                  <a:pt x="509" y="293"/>
                </a:moveTo>
                <a:cubicBezTo>
                  <a:pt x="512" y="275"/>
                  <a:pt x="500" y="259"/>
                  <a:pt x="482" y="256"/>
                </a:cubicBezTo>
                <a:cubicBezTo>
                  <a:pt x="465" y="254"/>
                  <a:pt x="449" y="266"/>
                  <a:pt x="446" y="283"/>
                </a:cubicBezTo>
                <a:cubicBezTo>
                  <a:pt x="433" y="376"/>
                  <a:pt x="353" y="448"/>
                  <a:pt x="256" y="448"/>
                </a:cubicBezTo>
                <a:cubicBezTo>
                  <a:pt x="203" y="448"/>
                  <a:pt x="155" y="426"/>
                  <a:pt x="120" y="392"/>
                </a:cubicBezTo>
                <a:cubicBezTo>
                  <a:pt x="120" y="392"/>
                  <a:pt x="120" y="391"/>
                  <a:pt x="120" y="391"/>
                </a:cubicBezTo>
                <a:lnTo>
                  <a:pt x="112" y="384"/>
                </a:lnTo>
                <a:lnTo>
                  <a:pt x="160" y="384"/>
                </a:lnTo>
                <a:cubicBezTo>
                  <a:pt x="178" y="384"/>
                  <a:pt x="192" y="370"/>
                  <a:pt x="192" y="352"/>
                </a:cubicBezTo>
                <a:cubicBezTo>
                  <a:pt x="192" y="334"/>
                  <a:pt x="178" y="320"/>
                  <a:pt x="160" y="320"/>
                </a:cubicBezTo>
                <a:lnTo>
                  <a:pt x="32" y="320"/>
                </a:lnTo>
                <a:cubicBezTo>
                  <a:pt x="24" y="320"/>
                  <a:pt x="15" y="323"/>
                  <a:pt x="9" y="330"/>
                </a:cubicBezTo>
                <a:cubicBezTo>
                  <a:pt x="3" y="336"/>
                  <a:pt x="0" y="344"/>
                  <a:pt x="0" y="352"/>
                </a:cubicBezTo>
                <a:lnTo>
                  <a:pt x="1" y="479"/>
                </a:lnTo>
                <a:cubicBezTo>
                  <a:pt x="1" y="497"/>
                  <a:pt x="16" y="511"/>
                  <a:pt x="33" y="511"/>
                </a:cubicBezTo>
                <a:cubicBezTo>
                  <a:pt x="51" y="511"/>
                  <a:pt x="65" y="496"/>
                  <a:pt x="65" y="479"/>
                </a:cubicBezTo>
                <a:lnTo>
                  <a:pt x="65" y="427"/>
                </a:lnTo>
                <a:lnTo>
                  <a:pt x="75" y="437"/>
                </a:lnTo>
                <a:cubicBezTo>
                  <a:pt x="122" y="483"/>
                  <a:pt x="186" y="512"/>
                  <a:pt x="256" y="512"/>
                </a:cubicBezTo>
                <a:cubicBezTo>
                  <a:pt x="385" y="512"/>
                  <a:pt x="492" y="417"/>
                  <a:pt x="509" y="293"/>
                </a:cubicBezTo>
                <a:close/>
              </a:path>
            </a:pathLst>
          </a:custGeom>
          <a:solidFill>
            <a:srgbClr val="1E4D3B"/>
          </a:solidFill>
          <a:ln>
            <a:noFill/>
          </a:ln>
        </p:spPr>
      </p:sp>
      <p:sp>
        <p:nvSpPr>
          <p:cNvPr id="15" name="arrow-observe-think"/>
          <p:cNvSpPr/>
          <p:nvPr>
            <p:extLst>
              <p:ext uri="{F5677B7D-0D2A-4D9B-9A5C-6D8D7D0E5A5D}">
                <pptd:line encoding="base64url">eyJjdXJ2ZSI6InJvdW5kIiwicG9pbnRzIjoiNCw0IDQwLDM2Iiwidmlld0JveCI6WzQ0LDQwXX0</pptd:line>
              </p:ext>
            </p:extLst>
          </p:nvPr>
        </p:nvSpPr>
        <p:spPr>
          <a:xfrm>
            <a:off x="3352800" y="3276600"/>
            <a:ext cx="558800" cy="508000"/>
          </a:xfrm>
          <a:custGeom>
            <a:avLst/>
            <a:gdLst/>
            <a:ahLst/>
            <a:cxnLst/>
            <a:rect l="l" t="t" r="r" b="b"/>
            <a:pathLst>
              <a:path w="44" h="40">
                <a:moveTo>
                  <a:pt x="4" y="4"/>
                </a:moveTo>
                <a:lnTo>
                  <a:pt x="40" y="36"/>
                </a:lnTo>
              </a:path>
            </a:pathLst>
          </a:custGeom>
          <a:noFill/>
          <a:ln w="25400" cap="rnd">
            <a:solidFill>
              <a:srgbClr val="1E4D3B"/>
            </a:solidFill>
            <a:round/>
            <a:tailEnd type="arrow"/>
          </a:ln>
        </p:spPr>
      </p:sp>
      <p:sp>
        <p:nvSpPr>
          <p:cNvPr id="16" name="arrow-think-act"/>
          <p:cNvSpPr/>
          <p:nvPr>
            <p:extLst>
              <p:ext uri="{F5677B7D-0D2A-4D9B-9A5C-6D8D7D0E5A5D}">
                <pptd:line encoding="base64url">eyJjdXJ2ZSI6InJvdW5kIiwicG9pbnRzIjoiNjQsNiAyLDYiLCJ2aWV3Qm94IjpbNjYsMTJdfQ</pptd:line>
              </p:ext>
            </p:extLst>
          </p:nvPr>
        </p:nvSpPr>
        <p:spPr>
          <a:xfrm>
            <a:off x="2489200" y="4241800"/>
            <a:ext cx="838200" cy="152400"/>
          </a:xfrm>
          <a:custGeom>
            <a:avLst/>
            <a:gdLst/>
            <a:ahLst/>
            <a:cxnLst/>
            <a:rect l="l" t="t" r="r" b="b"/>
            <a:pathLst>
              <a:path w="66" h="12">
                <a:moveTo>
                  <a:pt x="64" y="6"/>
                </a:moveTo>
                <a:lnTo>
                  <a:pt x="2" y="6"/>
                </a:lnTo>
              </a:path>
            </a:pathLst>
          </a:custGeom>
          <a:noFill/>
          <a:ln w="25400" cap="rnd">
            <a:solidFill>
              <a:srgbClr val="1E4D3B"/>
            </a:solidFill>
            <a:round/>
            <a:tailEnd type="arrow"/>
          </a:ln>
        </p:spPr>
      </p:sp>
      <p:sp>
        <p:nvSpPr>
          <p:cNvPr id="17" name="arrow-act-observe"/>
          <p:cNvSpPr/>
          <p:nvPr>
            <p:extLst>
              <p:ext uri="{F5677B7D-0D2A-4D9B-9A5C-6D8D7D0E5A5D}">
                <pptd:line encoding="base64url">eyJjdXJ2ZSI6InJvdW5kIiwicG9pbnRzIjoiNiwzNiA0MCw0Iiwidmlld0JveCI6WzQ0LDQwXX0</pptd:line>
              </p:ext>
            </p:extLst>
          </p:nvPr>
        </p:nvSpPr>
        <p:spPr>
          <a:xfrm>
            <a:off x="1955800" y="3276600"/>
            <a:ext cx="558800" cy="508000"/>
          </a:xfrm>
          <a:custGeom>
            <a:avLst/>
            <a:gdLst/>
            <a:ahLst/>
            <a:cxnLst/>
            <a:rect l="l" t="t" r="r" b="b"/>
            <a:pathLst>
              <a:path w="44" h="40">
                <a:moveTo>
                  <a:pt x="6" y="36"/>
                </a:moveTo>
                <a:lnTo>
                  <a:pt x="40" y="4"/>
                </a:lnTo>
              </a:path>
            </a:pathLst>
          </a:custGeom>
          <a:noFill/>
          <a:ln w="25400" cap="rnd">
            <a:solidFill>
              <a:srgbClr val="1E4D3B"/>
            </a:solidFill>
            <a:round/>
            <a:tailEnd type="arrow"/>
          </a:ln>
        </p:spPr>
      </p:sp>
      <p:sp>
        <p:nvSpPr>
          <p:cNvPr id="18" name="loop-caption"/>
          <p:cNvSpPr txBox="1"/>
          <p:nvPr/>
        </p:nvSpPr>
        <p:spPr>
          <a:xfrm>
            <a:off x="711200" y="5257800"/>
            <a:ext cx="4572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50000"/>
              </a:lnSpc>
            </a:pPr>
            <a:r>
              <a:rPr lang="en-US" sz="1100">
                <a:solidFill>
                  <a:srgbClr val="6B675F"/>
                </a:solidFill>
                <a:latin typeface="Liter"/>
                <a:ea typeface="Liter"/>
              </a:rPr>
              <a:t>每一圈:观察写入新信息,思考基于全部上下文推理,行动改变外部世界。</a:t>
            </a:r>
            <a:endParaRPr lang="en-US" sz="1100"/>
          </a:p>
        </p:txBody>
      </p:sp>
      <p:sp>
        <p:nvSpPr>
          <p:cNvPr id="19" name="case-label"/>
          <p:cNvSpPr txBox="1"/>
          <p:nvPr/>
        </p:nvSpPr>
        <p:spPr>
          <a:xfrm>
            <a:off x="5588000" y="1473200"/>
            <a:ext cx="58928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E4D3B"/>
                </a:solidFill>
                <a:latin typeface="Liter"/>
                <a:ea typeface="Liter"/>
              </a:rPr>
              <a:t>走三圈:天圻气象站数据异常排查(教学演示)</a:t>
            </a:r>
            <a:endParaRPr lang="en-US" sz="1500"/>
          </a:p>
        </p:txBody>
      </p:sp>
      <p:sp>
        <p:nvSpPr>
          <p:cNvPr id="20" name="r1-badge"/>
          <p:cNvSpPr/>
          <p:nvPr/>
        </p:nvSpPr>
        <p:spPr>
          <a:xfrm>
            <a:off x="5588000" y="1930400"/>
            <a:ext cx="381000" cy="381000"/>
          </a:xfrm>
          <a:prstGeom prst="ellipse">
            <a:avLst/>
          </a:prstGeom>
          <a:solidFill>
            <a:srgbClr val="1E4D3B"/>
          </a:solidFill>
          <a:ln>
            <a:noFill/>
          </a:ln>
        </p:spPr>
      </p:sp>
      <p:sp>
        <p:nvSpPr>
          <p:cNvPr id="21" name="r1-badge-num"/>
          <p:cNvSpPr txBox="1"/>
          <p:nvPr/>
        </p:nvSpPr>
        <p:spPr>
          <a:xfrm>
            <a:off x="5588000" y="19304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300" b="1">
                <a:solidFill>
                  <a:srgbClr val="FFFFFF"/>
                </a:solidFill>
                <a:latin typeface="MiSans"/>
                <a:ea typeface="MiSans"/>
              </a:rPr>
              <a:t>1</a:t>
            </a:r>
            <a:endParaRPr lang="en-US" sz="1300"/>
          </a:p>
        </p:txBody>
      </p:sp>
      <p:sp>
        <p:nvSpPr>
          <p:cNvPr id="22" name="r1-title"/>
          <p:cNvSpPr txBox="1"/>
          <p:nvPr/>
        </p:nvSpPr>
        <p:spPr>
          <a:xfrm>
            <a:off x="6146800" y="19304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300" b="1">
                <a:solidFill>
                  <a:srgbClr val="1E4D3B"/>
                </a:solidFill>
                <a:latin typeface="MiSans"/>
                <a:ea typeface="MiSans"/>
              </a:rPr>
              <a:t>第 1 圈 · 发现异常</a:t>
            </a:r>
            <a:endParaRPr lang="en-US" sz="1300"/>
          </a:p>
        </p:txBody>
      </p:sp>
      <p:sp>
        <p:nvSpPr>
          <p:cNvPr id="23" name="r1-desc"/>
          <p:cNvSpPr txBox="1"/>
          <p:nvPr/>
        </p:nvSpPr>
        <p:spPr>
          <a:xfrm>
            <a:off x="6146800" y="2209800"/>
            <a:ext cx="533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100">
                <a:solidFill>
                  <a:srgbClr val="22211E"/>
                </a:solidFill>
                <a:latin typeface="MiSans"/>
                <a:ea typeface="MiSans"/>
              </a:rPr>
              <a:t>观察:3 号站今晨缺数 → 思考:先查设备状态 → 行动:调平台接口查在线状态</a:t>
            </a:r>
            <a:endParaRPr lang="en-US" sz="1100"/>
          </a:p>
        </p:txBody>
      </p:sp>
      <p:sp>
        <p:nvSpPr>
          <p:cNvPr id="24" name="r1-result"/>
          <p:cNvSpPr txBox="1"/>
          <p:nvPr/>
        </p:nvSpPr>
        <p:spPr>
          <a:xfrm>
            <a:off x="6146800" y="2463800"/>
            <a:ext cx="533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100">
                <a:solidFill>
                  <a:srgbClr val="C26A2E"/>
                </a:solidFill>
                <a:latin typeface="MiSans"/>
                <a:ea typeface="MiSans"/>
              </a:rPr>
              <a:t>结果:3 号站设备离线,带着这个发现进入第 2 圈</a:t>
            </a:r>
            <a:endParaRPr lang="en-US" sz="1100"/>
          </a:p>
        </p:txBody>
      </p:sp>
      <p:sp>
        <p:nvSpPr>
          <p:cNvPr id="25" name="r1-conn"/>
          <p:cNvSpPr/>
          <p:nvPr>
            <p:extLst>
              <p:ext uri="{F5677B7D-0D2A-4D9B-9A5C-6D8D7D0E5A5D}">
                <pptd:line encoding="base64url">eyJjdXJ2ZSI6InJvdW5kIiwicG9pbnRzIjoiMywyIDMsMjYiLCJ2aWV3Qm94IjpbNiwyOF19</pptd:line>
              </p:ext>
            </p:extLst>
          </p:nvPr>
        </p:nvSpPr>
        <p:spPr>
          <a:xfrm>
            <a:off x="5740400" y="2717800"/>
            <a:ext cx="76200" cy="355600"/>
          </a:xfrm>
          <a:custGeom>
            <a:avLst/>
            <a:gdLst/>
            <a:ahLst/>
            <a:cxnLst/>
            <a:rect l="l" t="t" r="r" b="b"/>
            <a:pathLst>
              <a:path w="6" h="28">
                <a:moveTo>
                  <a:pt x="3" y="2"/>
                </a:moveTo>
                <a:lnTo>
                  <a:pt x="3" y="26"/>
                </a:lnTo>
              </a:path>
            </a:pathLst>
          </a:custGeom>
          <a:noFill/>
          <a:ln w="19050" cap="rnd">
            <a:solidFill>
              <a:srgbClr val="D8D3C8"/>
            </a:solidFill>
            <a:round/>
            <a:tailEnd type="arrow"/>
          </a:ln>
        </p:spPr>
      </p:sp>
      <p:sp>
        <p:nvSpPr>
          <p:cNvPr id="26" name="r2-badge"/>
          <p:cNvSpPr/>
          <p:nvPr/>
        </p:nvSpPr>
        <p:spPr>
          <a:xfrm>
            <a:off x="5588000" y="3124200"/>
            <a:ext cx="381000" cy="381000"/>
          </a:xfrm>
          <a:prstGeom prst="ellipse">
            <a:avLst/>
          </a:prstGeom>
          <a:solidFill>
            <a:srgbClr val="1E4D3B"/>
          </a:solidFill>
          <a:ln>
            <a:noFill/>
          </a:ln>
        </p:spPr>
      </p:sp>
      <p:sp>
        <p:nvSpPr>
          <p:cNvPr id="27" name="r2-badge-num"/>
          <p:cNvSpPr txBox="1"/>
          <p:nvPr/>
        </p:nvSpPr>
        <p:spPr>
          <a:xfrm>
            <a:off x="5588000" y="31242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300" b="1">
                <a:solidFill>
                  <a:srgbClr val="FFFFFF"/>
                </a:solidFill>
                <a:latin typeface="MiSans"/>
                <a:ea typeface="MiSans"/>
              </a:rPr>
              <a:t>2</a:t>
            </a:r>
            <a:endParaRPr lang="en-US" sz="1300"/>
          </a:p>
        </p:txBody>
      </p:sp>
      <p:sp>
        <p:nvSpPr>
          <p:cNvPr id="28" name="r2-title"/>
          <p:cNvSpPr txBox="1"/>
          <p:nvPr/>
        </p:nvSpPr>
        <p:spPr>
          <a:xfrm>
            <a:off x="6146800" y="31242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300" b="1">
                <a:solidFill>
                  <a:srgbClr val="1E4D3B"/>
                </a:solidFill>
                <a:latin typeface="MiSans"/>
                <a:ea typeface="MiSans"/>
              </a:rPr>
              <a:t>第 2 圈 · 定位原因</a:t>
            </a:r>
            <a:endParaRPr lang="en-US" sz="1300"/>
          </a:p>
        </p:txBody>
      </p:sp>
      <p:sp>
        <p:nvSpPr>
          <p:cNvPr id="29" name="r2-desc"/>
          <p:cNvSpPr txBox="1"/>
          <p:nvPr/>
        </p:nvSpPr>
        <p:spPr>
          <a:xfrm>
            <a:off x="6146800" y="3403600"/>
            <a:ext cx="533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100">
                <a:solidFill>
                  <a:srgbClr val="22211E"/>
                </a:solidFill>
                <a:latin typeface="MiSans"/>
                <a:ea typeface="MiSans"/>
              </a:rPr>
              <a:t>观察:设备离线、电池电量低 → 思考:查维护记录 → 行动:调取运维档案</a:t>
            </a:r>
            <a:endParaRPr lang="en-US" sz="1100"/>
          </a:p>
        </p:txBody>
      </p:sp>
      <p:sp>
        <p:nvSpPr>
          <p:cNvPr id="30" name="r2-result"/>
          <p:cNvSpPr txBox="1"/>
          <p:nvPr/>
        </p:nvSpPr>
        <p:spPr>
          <a:xfrm>
            <a:off x="6146800" y="3657600"/>
            <a:ext cx="533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100">
                <a:solidFill>
                  <a:srgbClr val="C26A2E"/>
                </a:solidFill>
                <a:latin typeface="MiSans"/>
                <a:ea typeface="MiSans"/>
              </a:rPr>
              <a:t>结果:上次现场维护在 40 天前,疑似供电故障</a:t>
            </a:r>
            <a:endParaRPr lang="en-US" sz="1100"/>
          </a:p>
        </p:txBody>
      </p:sp>
      <p:sp>
        <p:nvSpPr>
          <p:cNvPr id="31" name="r2-conn"/>
          <p:cNvSpPr/>
          <p:nvPr>
            <p:extLst>
              <p:ext uri="{F5677B7D-0D2A-4D9B-9A5C-6D8D7D0E5A5D}">
                <pptd:line encoding="base64url">eyJjdXJ2ZSI6InJvdW5kIiwicG9pbnRzIjoiMywyIDMsMjYiLCJ2aWV3Qm94IjpbNiwyOF19</pptd:line>
              </p:ext>
            </p:extLst>
          </p:nvPr>
        </p:nvSpPr>
        <p:spPr>
          <a:xfrm>
            <a:off x="5740400" y="3911600"/>
            <a:ext cx="76200" cy="355600"/>
          </a:xfrm>
          <a:custGeom>
            <a:avLst/>
            <a:gdLst/>
            <a:ahLst/>
            <a:cxnLst/>
            <a:rect l="l" t="t" r="r" b="b"/>
            <a:pathLst>
              <a:path w="6" h="28">
                <a:moveTo>
                  <a:pt x="3" y="2"/>
                </a:moveTo>
                <a:lnTo>
                  <a:pt x="3" y="26"/>
                </a:lnTo>
              </a:path>
            </a:pathLst>
          </a:custGeom>
          <a:noFill/>
          <a:ln w="19050" cap="rnd">
            <a:solidFill>
              <a:srgbClr val="D8D3C8"/>
            </a:solidFill>
            <a:round/>
            <a:tailEnd type="arrow"/>
          </a:ln>
        </p:spPr>
      </p:sp>
      <p:sp>
        <p:nvSpPr>
          <p:cNvPr id="32" name="r3-badge"/>
          <p:cNvSpPr/>
          <p:nvPr/>
        </p:nvSpPr>
        <p:spPr>
          <a:xfrm>
            <a:off x="5588000" y="4318000"/>
            <a:ext cx="381000" cy="381000"/>
          </a:xfrm>
          <a:prstGeom prst="ellipse">
            <a:avLst/>
          </a:prstGeom>
          <a:solidFill>
            <a:srgbClr val="1E4D3B"/>
          </a:solidFill>
          <a:ln>
            <a:noFill/>
          </a:ln>
        </p:spPr>
      </p:sp>
      <p:sp>
        <p:nvSpPr>
          <p:cNvPr id="33" name="r3-badge-num"/>
          <p:cNvSpPr txBox="1"/>
          <p:nvPr/>
        </p:nvSpPr>
        <p:spPr>
          <a:xfrm>
            <a:off x="5588000" y="43180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300" b="1">
                <a:solidFill>
                  <a:srgbClr val="FFFFFF"/>
                </a:solidFill>
                <a:latin typeface="MiSans"/>
                <a:ea typeface="MiSans"/>
              </a:rPr>
              <a:t>3</a:t>
            </a:r>
            <a:endParaRPr lang="en-US" sz="1300"/>
          </a:p>
        </p:txBody>
      </p:sp>
      <p:sp>
        <p:nvSpPr>
          <p:cNvPr id="34" name="r3-title"/>
          <p:cNvSpPr txBox="1"/>
          <p:nvPr/>
        </p:nvSpPr>
        <p:spPr>
          <a:xfrm>
            <a:off x="6146800" y="43180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300" b="1">
                <a:solidFill>
                  <a:srgbClr val="1E4D3B"/>
                </a:solidFill>
                <a:latin typeface="MiSans"/>
                <a:ea typeface="MiSans"/>
              </a:rPr>
              <a:t>第 3 圈 · 处置闭环</a:t>
            </a:r>
            <a:endParaRPr lang="en-US" sz="1300"/>
          </a:p>
        </p:txBody>
      </p:sp>
      <p:sp>
        <p:nvSpPr>
          <p:cNvPr id="35" name="r3-desc"/>
          <p:cNvSpPr txBox="1"/>
          <p:nvPr/>
        </p:nvSpPr>
        <p:spPr>
          <a:xfrm>
            <a:off x="6146800" y="4597400"/>
            <a:ext cx="533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100">
                <a:solidFill>
                  <a:srgbClr val="22211E"/>
                </a:solidFill>
                <a:latin typeface="MiSans"/>
                <a:ea typeface="MiSans"/>
              </a:rPr>
              <a:t>观察:符合供电故障特征 → 思考:达到派单条件 → 行动:生成维修工单草稿</a:t>
            </a:r>
            <a:endParaRPr lang="en-US" sz="1100"/>
          </a:p>
        </p:txBody>
      </p:sp>
      <p:sp>
        <p:nvSpPr>
          <p:cNvPr id="36" name="r3-result"/>
          <p:cNvSpPr txBox="1"/>
          <p:nvPr/>
        </p:nvSpPr>
        <p:spPr>
          <a:xfrm>
            <a:off x="6146800" y="4851400"/>
            <a:ext cx="533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100">
                <a:solidFill>
                  <a:srgbClr val="C26A2E"/>
                </a:solidFill>
                <a:latin typeface="MiSans"/>
                <a:ea typeface="MiSans"/>
              </a:rPr>
              <a:t>结果:工单交运维确认后派出,任务完成,循环停止</a:t>
            </a:r>
            <a:endParaRPr lang="en-US" sz="1100"/>
          </a:p>
        </p:txBody>
      </p:sp>
      <p:sp>
        <p:nvSpPr>
          <p:cNvPr id="37" name="takeaway-band"/>
          <p:cNvSpPr/>
          <p:nvPr/>
        </p:nvSpPr>
        <p:spPr>
          <a:xfrm>
            <a:off x="711200" y="5740400"/>
            <a:ext cx="10769600" cy="508000"/>
          </a:xfrm>
          <a:prstGeom prst="rect">
            <a:avLst/>
          </a:prstGeom>
          <a:solidFill>
            <a:srgbClr val="EAF1EC"/>
          </a:solidFill>
          <a:ln>
            <a:noFill/>
          </a:ln>
        </p:spPr>
      </p:sp>
      <p:sp>
        <p:nvSpPr>
          <p:cNvPr id="38" name="takeaway-icon"/>
          <p:cNvSpPr/>
          <p:nvPr>
            <p:extLst>
              <p:ext uri="{F5677B7D-0D2A-4D9B-9A5C-6D8D7D0E5A5D}">
                <pptd:icon encoding="base64url">eyJpY29uTmFtZSI6ImZhczpjaXJjbGUtcXVlc3Rpb24ifQ</pptd:icon>
              </p:ext>
            </p:extLst>
          </p:nvPr>
        </p:nvSpPr>
        <p:spPr>
          <a:xfrm>
            <a:off x="965200" y="58801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397" y="512"/>
                  <a:pt x="512" y="397"/>
                  <a:pt x="512" y="256"/>
                </a:cubicBezTo>
                <a:cubicBezTo>
                  <a:pt x="512" y="115"/>
                  <a:pt x="397" y="0"/>
                  <a:pt x="256" y="0"/>
                </a:cubicBezTo>
                <a:cubicBezTo>
                  <a:pt x="115" y="0"/>
                  <a:pt x="0" y="115"/>
                  <a:pt x="0" y="256"/>
                </a:cubicBezTo>
                <a:cubicBezTo>
                  <a:pt x="0" y="397"/>
                  <a:pt x="115" y="512"/>
                  <a:pt x="256" y="512"/>
                </a:cubicBezTo>
                <a:close/>
                <a:moveTo>
                  <a:pt x="256" y="176"/>
                </a:moveTo>
                <a:cubicBezTo>
                  <a:pt x="238" y="176"/>
                  <a:pt x="224" y="190"/>
                  <a:pt x="224" y="208"/>
                </a:cubicBezTo>
                <a:cubicBezTo>
                  <a:pt x="224" y="221"/>
                  <a:pt x="213" y="232"/>
                  <a:pt x="200" y="232"/>
                </a:cubicBezTo>
                <a:cubicBezTo>
                  <a:pt x="187" y="232"/>
                  <a:pt x="176" y="221"/>
                  <a:pt x="176" y="208"/>
                </a:cubicBezTo>
                <a:cubicBezTo>
                  <a:pt x="176" y="164"/>
                  <a:pt x="212" y="128"/>
                  <a:pt x="256" y="128"/>
                </a:cubicBezTo>
                <a:cubicBezTo>
                  <a:pt x="300" y="128"/>
                  <a:pt x="336" y="164"/>
                  <a:pt x="336" y="208"/>
                </a:cubicBezTo>
                <a:cubicBezTo>
                  <a:pt x="336" y="255"/>
                  <a:pt x="300" y="275"/>
                  <a:pt x="280" y="283"/>
                </a:cubicBezTo>
                <a:lnTo>
                  <a:pt x="280" y="286"/>
                </a:lnTo>
                <a:cubicBezTo>
                  <a:pt x="280" y="300"/>
                  <a:pt x="269" y="310"/>
                  <a:pt x="256" y="310"/>
                </a:cubicBezTo>
                <a:cubicBezTo>
                  <a:pt x="243" y="310"/>
                  <a:pt x="232" y="300"/>
                  <a:pt x="232" y="286"/>
                </a:cubicBezTo>
                <a:lnTo>
                  <a:pt x="232" y="278"/>
                </a:lnTo>
                <a:cubicBezTo>
                  <a:pt x="232" y="258"/>
                  <a:pt x="247" y="243"/>
                  <a:pt x="262" y="238"/>
                </a:cubicBezTo>
                <a:cubicBezTo>
                  <a:pt x="269" y="236"/>
                  <a:pt x="275" y="233"/>
                  <a:pt x="280" y="228"/>
                </a:cubicBezTo>
                <a:cubicBezTo>
                  <a:pt x="285" y="224"/>
                  <a:pt x="288" y="218"/>
                  <a:pt x="288" y="208"/>
                </a:cubicBezTo>
                <a:cubicBezTo>
                  <a:pt x="288" y="190"/>
                  <a:pt x="274" y="176"/>
                  <a:pt x="256" y="176"/>
                </a:cubicBezTo>
                <a:close/>
                <a:moveTo>
                  <a:pt x="224" y="368"/>
                </a:moveTo>
                <a:cubicBezTo>
                  <a:pt x="224" y="350"/>
                  <a:pt x="238" y="336"/>
                  <a:pt x="256" y="336"/>
                </a:cubicBezTo>
                <a:cubicBezTo>
                  <a:pt x="274" y="336"/>
                  <a:pt x="288" y="350"/>
                  <a:pt x="288" y="368"/>
                </a:cubicBezTo>
                <a:cubicBezTo>
                  <a:pt x="288" y="386"/>
                  <a:pt x="274" y="400"/>
                  <a:pt x="256" y="400"/>
                </a:cubicBezTo>
                <a:cubicBezTo>
                  <a:pt x="238" y="400"/>
                  <a:pt x="224" y="386"/>
                  <a:pt x="224" y="368"/>
                </a:cubicBezTo>
                <a:close/>
              </a:path>
            </a:pathLst>
          </a:custGeom>
          <a:solidFill>
            <a:srgbClr val="1E4D3B"/>
          </a:solidFill>
          <a:ln>
            <a:noFill/>
          </a:ln>
        </p:spPr>
      </p:sp>
      <p:sp>
        <p:nvSpPr>
          <p:cNvPr id="39" name="takeaway-text"/>
          <p:cNvSpPr txBox="1"/>
          <p:nvPr/>
        </p:nvSpPr>
        <p:spPr>
          <a:xfrm>
            <a:off x="1346200" y="5854700"/>
            <a:ext cx="99822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1250" b="1">
                <a:solidFill>
                  <a:srgbClr val="22211E"/>
                </a:solidFill>
                <a:latin typeface="MiSans"/>
                <a:ea typeface="MiSans"/>
              </a:rPr>
              <a:t>本质差别:</a:t>
            </a:r>
            <a:r>
              <a:rPr lang="en-US" sz="1250">
                <a:solidFill>
                  <a:srgbClr val="22211E"/>
                </a:solidFill>
                <a:latin typeface="MiSans"/>
                <a:ea typeface="MiSans"/>
              </a:rPr>
              <a:t>一次性问答只走一圈;智能体循环把「看到结果,再定下一步」交给模型。想一想:这和单次问答差在哪?</a:t>
            </a:r>
            <a:endParaRPr lang="en-US" sz="1250"/>
          </a:p>
        </p:txBody>
      </p:sp>
      <p:sp>
        <p:nvSpPr>
          <p:cNvPr id="40" name="footer-line"/>
          <p:cNvSpPr/>
          <p:nvPr>
            <p:extLst>
              <p:ext uri="{F5677B7D-0D2A-4D9B-9A5C-6D8D7D0E5A5D}">
                <pptd:line encoding="base64url">eyJjdXJ2ZSI6InJvdW5kIiwicG9pbnRzIjoiMCwxIDg0OCwxIiwidmlld0JveCI6Wzg0OCwyXX0</pptd:line>
              </p:ext>
            </p:extLst>
          </p:nvPr>
        </p:nvSpPr>
        <p:spPr>
          <a:xfrm>
            <a:off x="711200" y="6362700"/>
            <a:ext cx="10769600" cy="25400"/>
          </a:xfrm>
          <a:custGeom>
            <a:avLst/>
            <a:gdLst/>
            <a:ahLst/>
            <a:cxnLst/>
            <a:rect l="l" t="t" r="r" b="b"/>
            <a:pathLst>
              <a:path w="848" h="2">
                <a:moveTo>
                  <a:pt x="0" y="1"/>
                </a:moveTo>
                <a:lnTo>
                  <a:pt x="848" y="1"/>
                </a:lnTo>
              </a:path>
            </a:pathLst>
          </a:custGeom>
          <a:noFill/>
          <a:ln w="12700" cap="rnd">
            <a:solidFill>
              <a:srgbClr val="D8D3C8"/>
            </a:solidFill>
            <a:round/>
          </a:ln>
        </p:spPr>
      </p:sp>
      <p:sp>
        <p:nvSpPr>
          <p:cNvPr id="41" name="footer-left"/>
          <p:cNvSpPr txBox="1"/>
          <p:nvPr/>
        </p:nvSpPr>
        <p:spPr>
          <a:xfrm>
            <a:off x="711200" y="6477000"/>
            <a:ext cx="711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40000"/>
              </a:lnSpc>
            </a:pPr>
            <a:r>
              <a:rPr lang="en-US" sz="1000">
                <a:solidFill>
                  <a:srgbClr val="6B675F"/>
                </a:solidFill>
                <a:latin typeface="Liter"/>
                <a:ea typeface="Liter"/>
              </a:rPr>
              <a:t>天圻场景为教学演示/示例 · 东方智感 AI 内训第三期</a:t>
            </a:r>
            <a:endParaRPr lang="en-US" sz="1000"/>
          </a:p>
        </p:txBody>
      </p:sp>
      <p:sp>
        <p:nvSpPr>
          <p:cNvPr id="42" name="footer-right"/>
          <p:cNvSpPr txBox="1"/>
          <p:nvPr/>
        </p:nvSpPr>
        <p:spPr>
          <a:xfrm>
            <a:off x="10210800" y="64770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r">
              <a:lnSpc>
                <a:spcPct val="140000"/>
              </a:lnSpc>
            </a:pPr>
            <a:r>
              <a:rPr lang="en-US" sz="1000">
                <a:solidFill>
                  <a:srgbClr val="6B675F"/>
                </a:solidFill>
                <a:latin typeface="Liter"/>
                <a:ea typeface="Liter"/>
              </a:rPr>
              <a:t>08</a:t>
            </a:r>
            <a:endParaRPr lang="en-US" sz="10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1E4D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812800"/>
            <a:ext cx="533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100" b="1" spc="200" kern="0">
                <a:solidFill>
                  <a:srgbClr val="C26A2E"/>
                </a:solidFill>
                <a:latin typeface="Liter"/>
                <a:ea typeface="Liter"/>
              </a:rPr>
              <a:t>AI 内训第三期 · 从会问到会派活</a:t>
            </a:r>
            <a:endParaRPr lang="en-US" sz="1100"/>
          </a:p>
        </p:txBody>
      </p:sp>
      <p:sp>
        <p:nvSpPr>
          <p:cNvPr id="3" name="deco-icon"/>
          <p:cNvSpPr/>
          <p:nvPr>
            <p:extLst>
              <p:ext uri="{F5677B7D-0D2A-4D9B-9A5C-6D8D7D0E5A5D}">
                <pptd:icon encoding="base64url">eyJpY29uTmFtZSI6ImZhczp1c2VyLWNoZWNrIn0</pptd:icon>
              </p:ext>
            </p:extLst>
          </p:nvPr>
        </p:nvSpPr>
        <p:spPr>
          <a:xfrm>
            <a:off x="8128000" y="1905000"/>
            <a:ext cx="2540000" cy="25400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286" y="304"/>
                </a:moveTo>
                <a:cubicBezTo>
                  <a:pt x="385" y="304"/>
                  <a:pt x="464" y="384"/>
                  <a:pt x="464" y="482"/>
                </a:cubicBezTo>
                <a:cubicBezTo>
                  <a:pt x="464" y="499"/>
                  <a:pt x="451" y="512"/>
                  <a:pt x="435" y="512"/>
                </a:cubicBezTo>
                <a:lnTo>
                  <a:pt x="78" y="512"/>
                </a:lnTo>
                <a:cubicBezTo>
                  <a:pt x="62" y="512"/>
                  <a:pt x="48" y="499"/>
                  <a:pt x="48" y="482"/>
                </a:cubicBezTo>
                <a:cubicBezTo>
                  <a:pt x="48" y="384"/>
                  <a:pt x="128" y="304"/>
                  <a:pt x="227" y="304"/>
                </a:cubicBezTo>
                <a:lnTo>
                  <a:pt x="286" y="304"/>
                </a:lnTo>
                <a:close/>
                <a:moveTo>
                  <a:pt x="586" y="106"/>
                </a:moveTo>
                <a:cubicBezTo>
                  <a:pt x="594" y="95"/>
                  <a:pt x="609" y="93"/>
                  <a:pt x="619" y="101"/>
                </a:cubicBezTo>
                <a:cubicBezTo>
                  <a:pt x="630" y="108"/>
                  <a:pt x="632" y="123"/>
                  <a:pt x="625" y="134"/>
                </a:cubicBezTo>
                <a:lnTo>
                  <a:pt x="522" y="275"/>
                </a:lnTo>
                <a:cubicBezTo>
                  <a:pt x="518" y="281"/>
                  <a:pt x="511" y="284"/>
                  <a:pt x="504" y="285"/>
                </a:cubicBezTo>
                <a:cubicBezTo>
                  <a:pt x="497" y="285"/>
                  <a:pt x="490" y="283"/>
                  <a:pt x="486" y="277"/>
                </a:cubicBezTo>
                <a:lnTo>
                  <a:pt x="439" y="229"/>
                </a:lnTo>
                <a:cubicBezTo>
                  <a:pt x="430" y="220"/>
                  <a:pt x="430" y="205"/>
                  <a:pt x="440" y="195"/>
                </a:cubicBezTo>
                <a:cubicBezTo>
                  <a:pt x="449" y="186"/>
                  <a:pt x="464" y="187"/>
                  <a:pt x="474" y="196"/>
                </a:cubicBezTo>
                <a:lnTo>
                  <a:pt x="500" y="223"/>
                </a:lnTo>
                <a:lnTo>
                  <a:pt x="586" y="106"/>
                </a:lnTo>
                <a:close/>
                <a:moveTo>
                  <a:pt x="256" y="248"/>
                </a:moveTo>
                <a:cubicBezTo>
                  <a:pt x="190" y="248"/>
                  <a:pt x="136" y="194"/>
                  <a:pt x="136" y="128"/>
                </a:cubicBezTo>
                <a:cubicBezTo>
                  <a:pt x="136" y="62"/>
                  <a:pt x="190" y="8"/>
                  <a:pt x="256" y="8"/>
                </a:cubicBezTo>
                <a:cubicBezTo>
                  <a:pt x="323" y="8"/>
                  <a:pt x="376" y="62"/>
                  <a:pt x="376" y="128"/>
                </a:cubicBezTo>
                <a:cubicBezTo>
                  <a:pt x="376" y="194"/>
                  <a:pt x="323" y="248"/>
                  <a:pt x="256" y="248"/>
                </a:cubicBezTo>
                <a:close/>
              </a:path>
            </a:pathLst>
          </a:custGeom>
          <a:solidFill>
            <a:srgbClr val="2A5C47">
              <a:alpha val="30000"/>
            </a:srgbClr>
          </a:solidFill>
          <a:ln>
            <a:noFill/>
          </a:ln>
        </p:spPr>
      </p:sp>
      <p:sp>
        <p:nvSpPr>
          <p:cNvPr id="4" name="chapter-num"/>
          <p:cNvSpPr txBox="1"/>
          <p:nvPr/>
        </p:nvSpPr>
        <p:spPr>
          <a:xfrm>
            <a:off x="711200" y="1625600"/>
            <a:ext cx="2794000" cy="104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6400" b="1">
                <a:solidFill>
                  <a:srgbClr val="C26A2E"/>
                </a:solidFill>
                <a:latin typeface="Liter"/>
                <a:ea typeface="Liter"/>
              </a:rPr>
              <a:t>02</a:t>
            </a:r>
            <a:endParaRPr lang="en-US" sz="6400"/>
          </a:p>
        </p:txBody>
      </p:sp>
      <p:sp>
        <p:nvSpPr>
          <p:cNvPr id="5" name="terra-bar"/>
          <p:cNvSpPr/>
          <p:nvPr/>
        </p:nvSpPr>
        <p:spPr>
          <a:xfrm>
            <a:off x="711200" y="2844800"/>
            <a:ext cx="711200" cy="50800"/>
          </a:xfrm>
          <a:prstGeom prst="rect">
            <a:avLst/>
          </a:prstGeom>
          <a:solidFill>
            <a:srgbClr val="C26A2E"/>
          </a:solidFill>
          <a:ln>
            <a:noFill/>
          </a:ln>
        </p:spPr>
      </p:sp>
      <p:sp>
        <p:nvSpPr>
          <p:cNvPr id="6" name="chapter-title"/>
          <p:cNvSpPr txBox="1"/>
          <p:nvPr/>
        </p:nvSpPr>
        <p:spPr>
          <a:xfrm>
            <a:off x="711200" y="3124200"/>
            <a:ext cx="8890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3400" b="1">
                <a:solidFill>
                  <a:srgbClr val="F7F5F0"/>
                </a:solidFill>
                <a:latin typeface="Liter"/>
                <a:ea typeface="Liter"/>
              </a:rPr>
              <a:t>智能体思维</a:t>
            </a:r>
            <a:endParaRPr lang="en-US" sz="3400"/>
          </a:p>
        </p:txBody>
      </p:sp>
      <p:sp>
        <p:nvSpPr>
          <p:cNvPr id="7" name="chapter-subtitle"/>
          <p:cNvSpPr txBox="1"/>
          <p:nvPr/>
        </p:nvSpPr>
        <p:spPr>
          <a:xfrm>
            <a:off x="711200" y="3835400"/>
            <a:ext cx="8890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800">
                <a:solidFill>
                  <a:srgbClr val="D8D3C8"/>
                </a:solidFill>
                <a:latin typeface="MiSans"/>
                <a:ea typeface="MiSans"/>
              </a:rPr>
              <a:t>从「提问者」变成「派活的人」</a:t>
            </a:r>
            <a:endParaRPr lang="en-US" sz="1800"/>
          </a:p>
        </p:txBody>
      </p:sp>
      <p:sp>
        <p:nvSpPr>
          <p:cNvPr id="8" name="question-icon"/>
          <p:cNvSpPr/>
          <p:nvPr>
            <p:extLst>
              <p:ext uri="{F5677B7D-0D2A-4D9B-9A5C-6D8D7D0E5A5D}">
                <pptd:icon encoding="base64url">eyJpY29uTmFtZSI6ImZhczpjaXJjbGUtcXVlc3Rpb24ifQ</pptd:icon>
              </p:ext>
            </p:extLst>
          </p:nvPr>
        </p:nvSpPr>
        <p:spPr>
          <a:xfrm>
            <a:off x="711200" y="4648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397" y="512"/>
                  <a:pt x="512" y="397"/>
                  <a:pt x="512" y="256"/>
                </a:cubicBezTo>
                <a:cubicBezTo>
                  <a:pt x="512" y="115"/>
                  <a:pt x="397" y="0"/>
                  <a:pt x="256" y="0"/>
                </a:cubicBezTo>
                <a:cubicBezTo>
                  <a:pt x="115" y="0"/>
                  <a:pt x="0" y="115"/>
                  <a:pt x="0" y="256"/>
                </a:cubicBezTo>
                <a:cubicBezTo>
                  <a:pt x="0" y="397"/>
                  <a:pt x="115" y="512"/>
                  <a:pt x="256" y="512"/>
                </a:cubicBezTo>
                <a:close/>
                <a:moveTo>
                  <a:pt x="256" y="176"/>
                </a:moveTo>
                <a:cubicBezTo>
                  <a:pt x="238" y="176"/>
                  <a:pt x="224" y="190"/>
                  <a:pt x="224" y="208"/>
                </a:cubicBezTo>
                <a:cubicBezTo>
                  <a:pt x="224" y="221"/>
                  <a:pt x="213" y="232"/>
                  <a:pt x="200" y="232"/>
                </a:cubicBezTo>
                <a:cubicBezTo>
                  <a:pt x="187" y="232"/>
                  <a:pt x="176" y="221"/>
                  <a:pt x="176" y="208"/>
                </a:cubicBezTo>
                <a:cubicBezTo>
                  <a:pt x="176" y="164"/>
                  <a:pt x="212" y="128"/>
                  <a:pt x="256" y="128"/>
                </a:cubicBezTo>
                <a:cubicBezTo>
                  <a:pt x="300" y="128"/>
                  <a:pt x="336" y="164"/>
                  <a:pt x="336" y="208"/>
                </a:cubicBezTo>
                <a:cubicBezTo>
                  <a:pt x="336" y="255"/>
                  <a:pt x="300" y="275"/>
                  <a:pt x="280" y="283"/>
                </a:cubicBezTo>
                <a:lnTo>
                  <a:pt x="280" y="286"/>
                </a:lnTo>
                <a:cubicBezTo>
                  <a:pt x="280" y="300"/>
                  <a:pt x="269" y="310"/>
                  <a:pt x="256" y="310"/>
                </a:cubicBezTo>
                <a:cubicBezTo>
                  <a:pt x="243" y="310"/>
                  <a:pt x="232" y="300"/>
                  <a:pt x="232" y="286"/>
                </a:cubicBezTo>
                <a:lnTo>
                  <a:pt x="232" y="278"/>
                </a:lnTo>
                <a:cubicBezTo>
                  <a:pt x="232" y="258"/>
                  <a:pt x="247" y="243"/>
                  <a:pt x="262" y="238"/>
                </a:cubicBezTo>
                <a:cubicBezTo>
                  <a:pt x="269" y="236"/>
                  <a:pt x="275" y="233"/>
                  <a:pt x="280" y="228"/>
                </a:cubicBezTo>
                <a:cubicBezTo>
                  <a:pt x="285" y="224"/>
                  <a:pt x="288" y="218"/>
                  <a:pt x="288" y="208"/>
                </a:cubicBezTo>
                <a:cubicBezTo>
                  <a:pt x="288" y="190"/>
                  <a:pt x="274" y="176"/>
                  <a:pt x="256" y="176"/>
                </a:cubicBezTo>
                <a:close/>
                <a:moveTo>
                  <a:pt x="224" y="368"/>
                </a:moveTo>
                <a:cubicBezTo>
                  <a:pt x="224" y="350"/>
                  <a:pt x="238" y="336"/>
                  <a:pt x="256" y="336"/>
                </a:cubicBezTo>
                <a:cubicBezTo>
                  <a:pt x="274" y="336"/>
                  <a:pt x="288" y="350"/>
                  <a:pt x="288" y="368"/>
                </a:cubicBezTo>
                <a:cubicBezTo>
                  <a:pt x="288" y="386"/>
                  <a:pt x="274" y="400"/>
                  <a:pt x="256" y="400"/>
                </a:cubicBezTo>
                <a:cubicBezTo>
                  <a:pt x="238" y="400"/>
                  <a:pt x="224" y="386"/>
                  <a:pt x="224" y="368"/>
                </a:cubicBezTo>
                <a:close/>
              </a:path>
            </a:pathLst>
          </a:custGeom>
          <a:solidFill>
            <a:srgbClr val="C26A2E"/>
          </a:solidFill>
          <a:ln>
            <a:noFill/>
          </a:ln>
        </p:spPr>
      </p:sp>
      <p:sp>
        <p:nvSpPr>
          <p:cNvPr id="9" name="question-text"/>
          <p:cNvSpPr txBox="1"/>
          <p:nvPr/>
        </p:nvSpPr>
        <p:spPr>
          <a:xfrm>
            <a:off x="1066800" y="4622800"/>
            <a:ext cx="9144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400">
                <a:solidFill>
                  <a:srgbClr val="F7F5F0"/>
                </a:solidFill>
                <a:latin typeface="MiSans"/>
                <a:ea typeface="MiSans"/>
              </a:rPr>
              <a:t>本章学习问题:同样一个模型,为什么有人用出 10 倍效果?</a:t>
            </a:r>
            <a:endParaRPr lang="en-US" sz="1400"/>
          </a:p>
        </p:txBody>
      </p:sp>
      <p:sp>
        <p:nvSpPr>
          <p:cNvPr id="10" name="keywords-icon"/>
          <p:cNvSpPr/>
          <p:nvPr>
            <p:extLst>
              <p:ext uri="{F5677B7D-0D2A-4D9B-9A5C-6D8D7D0E5A5D}">
                <pptd:icon encoding="base64url">eyJpY29uTmFtZSI6ImZhczp0YWdzIn0</pptd:icon>
              </p:ext>
            </p:extLst>
          </p:nvPr>
        </p:nvSpPr>
        <p:spPr>
          <a:xfrm>
            <a:off x="711200" y="51308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401" y="39"/>
                </a:moveTo>
                <a:lnTo>
                  <a:pt x="549" y="189"/>
                </a:lnTo>
                <a:cubicBezTo>
                  <a:pt x="577" y="218"/>
                  <a:pt x="577" y="263"/>
                  <a:pt x="549" y="291"/>
                </a:cubicBezTo>
                <a:lnTo>
                  <a:pt x="393" y="449"/>
                </a:lnTo>
                <a:cubicBezTo>
                  <a:pt x="384" y="458"/>
                  <a:pt x="369" y="458"/>
                  <a:pt x="359" y="449"/>
                </a:cubicBezTo>
                <a:cubicBezTo>
                  <a:pt x="350" y="440"/>
                  <a:pt x="350" y="425"/>
                  <a:pt x="359" y="415"/>
                </a:cubicBezTo>
                <a:lnTo>
                  <a:pt x="515" y="257"/>
                </a:lnTo>
                <a:cubicBezTo>
                  <a:pt x="525" y="248"/>
                  <a:pt x="525" y="232"/>
                  <a:pt x="515" y="223"/>
                </a:cubicBezTo>
                <a:lnTo>
                  <a:pt x="367" y="73"/>
                </a:lnTo>
                <a:cubicBezTo>
                  <a:pt x="358" y="64"/>
                  <a:pt x="358" y="48"/>
                  <a:pt x="367" y="39"/>
                </a:cubicBezTo>
                <a:cubicBezTo>
                  <a:pt x="377" y="30"/>
                  <a:pt x="392" y="30"/>
                  <a:pt x="401" y="39"/>
                </a:cubicBezTo>
                <a:close/>
                <a:moveTo>
                  <a:pt x="32" y="230"/>
                </a:moveTo>
                <a:lnTo>
                  <a:pt x="32" y="96"/>
                </a:lnTo>
                <a:cubicBezTo>
                  <a:pt x="32" y="61"/>
                  <a:pt x="61" y="32"/>
                  <a:pt x="96" y="32"/>
                </a:cubicBezTo>
                <a:lnTo>
                  <a:pt x="230" y="32"/>
                </a:lnTo>
                <a:cubicBezTo>
                  <a:pt x="247" y="32"/>
                  <a:pt x="263" y="39"/>
                  <a:pt x="275" y="51"/>
                </a:cubicBezTo>
                <a:lnTo>
                  <a:pt x="419" y="195"/>
                </a:lnTo>
                <a:cubicBezTo>
                  <a:pt x="444" y="220"/>
                  <a:pt x="444" y="260"/>
                  <a:pt x="419" y="285"/>
                </a:cubicBezTo>
                <a:lnTo>
                  <a:pt x="285" y="419"/>
                </a:lnTo>
                <a:cubicBezTo>
                  <a:pt x="260" y="444"/>
                  <a:pt x="220" y="444"/>
                  <a:pt x="195" y="419"/>
                </a:cubicBezTo>
                <a:lnTo>
                  <a:pt x="51" y="275"/>
                </a:lnTo>
                <a:cubicBezTo>
                  <a:pt x="39" y="263"/>
                  <a:pt x="32" y="246"/>
                  <a:pt x="32" y="229"/>
                </a:cubicBezTo>
                <a:close/>
                <a:moveTo>
                  <a:pt x="176" y="144"/>
                </a:moveTo>
                <a:cubicBezTo>
                  <a:pt x="176" y="126"/>
                  <a:pt x="162" y="112"/>
                  <a:pt x="144" y="112"/>
                </a:cubicBezTo>
                <a:cubicBezTo>
                  <a:pt x="126" y="112"/>
                  <a:pt x="112" y="126"/>
                  <a:pt x="112" y="144"/>
                </a:cubicBezTo>
                <a:cubicBezTo>
                  <a:pt x="112" y="162"/>
                  <a:pt x="126" y="176"/>
                  <a:pt x="144" y="176"/>
                </a:cubicBezTo>
                <a:cubicBezTo>
                  <a:pt x="162" y="176"/>
                  <a:pt x="176" y="162"/>
                  <a:pt x="176" y="144"/>
                </a:cubicBezTo>
                <a:close/>
              </a:path>
            </a:pathLst>
          </a:custGeom>
          <a:solidFill>
            <a:srgbClr val="D8D3C8"/>
          </a:solidFill>
          <a:ln>
            <a:noFill/>
          </a:ln>
        </p:spPr>
      </p:sp>
      <p:sp>
        <p:nvSpPr>
          <p:cNvPr id="11" name="keywords-text"/>
          <p:cNvSpPr txBox="1"/>
          <p:nvPr/>
        </p:nvSpPr>
        <p:spPr>
          <a:xfrm>
            <a:off x="1066800" y="5105400"/>
            <a:ext cx="914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200" b="1">
                <a:solidFill>
                  <a:srgbClr val="D8D3C8"/>
                </a:solidFill>
                <a:latin typeface="MiSans"/>
                <a:ea typeface="MiSans"/>
              </a:rPr>
              <a:t>关键词:</a:t>
            </a:r>
            <a:r>
              <a:rPr lang="en-US" sz="1200">
                <a:solidFill>
                  <a:srgbClr val="D8D3C8"/>
                </a:solidFill>
                <a:latin typeface="MiSans"/>
                <a:ea typeface="MiSans"/>
              </a:rPr>
              <a:t>派任务 · 给环境 · 定验收</a:t>
            </a:r>
            <a:endParaRPr lang="en-US" sz="1200"/>
          </a:p>
        </p:txBody>
      </p:sp>
      <p:sp>
        <p:nvSpPr>
          <p:cNvPr id="12" name="footer-left"/>
          <p:cNvSpPr txBox="1"/>
          <p:nvPr/>
        </p:nvSpPr>
        <p:spPr>
          <a:xfrm>
            <a:off x="711200" y="64516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40000"/>
              </a:lnSpc>
            </a:pPr>
            <a:r>
              <a:rPr lang="en-US" sz="1000">
                <a:solidFill>
                  <a:srgbClr val="D8D3C8"/>
                </a:solidFill>
                <a:latin typeface="Liter"/>
                <a:ea typeface="Liter"/>
              </a:rPr>
              <a:t>东方智感 · AI 内训第三期</a:t>
            </a:r>
            <a:endParaRPr lang="en-US" sz="1000"/>
          </a:p>
        </p:txBody>
      </p:sp>
      <p:sp>
        <p:nvSpPr>
          <p:cNvPr id="13" name="footer-right"/>
          <p:cNvSpPr txBox="1"/>
          <p:nvPr/>
        </p:nvSpPr>
        <p:spPr>
          <a:xfrm>
            <a:off x="10922000" y="6451600"/>
            <a:ext cx="558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r">
              <a:lnSpc>
                <a:spcPct val="140000"/>
              </a:lnSpc>
            </a:pPr>
            <a:r>
              <a:rPr lang="en-US" sz="1000">
                <a:solidFill>
                  <a:srgbClr val="D8D3C8"/>
                </a:solidFill>
                <a:latin typeface="Liter"/>
                <a:ea typeface="Liter"/>
              </a:rPr>
              <a:t>09</a:t>
            </a:r>
            <a:endParaRPr lang="en-US" sz="10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508000"/>
            <a:ext cx="533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100" b="1" spc="200" kern="0">
                <a:solidFill>
                  <a:srgbClr val="C26A2E"/>
                </a:solidFill>
                <a:latin typeface="Liter"/>
                <a:ea typeface="Liter"/>
              </a:rPr>
              <a:t>02 · 智能体思维</a:t>
            </a:r>
            <a:endParaRPr lang="en-US" sz="1100"/>
          </a:p>
        </p:txBody>
      </p:sp>
      <p:sp>
        <p:nvSpPr>
          <p:cNvPr id="3" name="title"/>
          <p:cNvSpPr txBox="1"/>
          <p:nvPr/>
        </p:nvSpPr>
        <p:spPr>
          <a:xfrm>
            <a:off x="711200" y="7874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22211E"/>
                </a:solidFill>
                <a:latin typeface="Liter"/>
                <a:ea typeface="Liter"/>
              </a:rPr>
              <a:t>提示词思维 vs 智能体思维:从「怎么问」到「怎么带」</a:t>
            </a:r>
            <a:endParaRPr lang="en-US" sz="2600"/>
          </a:p>
        </p:txBody>
      </p:sp>
      <p:sp>
        <p:nvSpPr>
          <p:cNvPr id="4" name="lead"/>
          <p:cNvSpPr txBox="1"/>
          <p:nvPr/>
        </p:nvSpPr>
        <p:spPr>
          <a:xfrm>
            <a:off x="711200" y="1422400"/>
            <a:ext cx="107696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50000"/>
              </a:lnSpc>
            </a:pPr>
            <a:r>
              <a:rPr lang="en-US" sz="1100">
                <a:solidFill>
                  <a:srgbClr val="6B675F"/>
                </a:solidFill>
                <a:latin typeface="Liter"/>
                <a:ea typeface="Liter"/>
              </a:rPr>
              <a:t>同一个模型,两种用法——差别不在模型,在你给它什么、按什么验收。</a:t>
            </a:r>
            <a:endParaRPr lang="en-US" sz="1100"/>
          </a:p>
        </p:txBody>
      </p:sp>
      <p:graphicFrame>
        <p:nvGraphicFramePr>
          <p:cNvPr id="5" name="compare-table"/>
          <p:cNvGraphicFramePr>
            <a:graphicFrameLocks noGrp="1"/>
          </p:cNvGraphicFramePr>
          <p:nvPr/>
        </p:nvGraphicFramePr>
        <p:xfrm>
          <a:off x="711200" y="1879600"/>
          <a:ext cx="10769600" cy="3454400"/>
        </p:xfrm>
        <a:graphic>
          <a:graphicData uri="http://schemas.openxmlformats.org/drawingml/2006/table">
            <a:tbl>
              <a:tblPr/>
              <a:tblGrid>
                <a:gridCol w="1723136"/>
                <a:gridCol w="4523232"/>
                <a:gridCol w="4523232"/>
              </a:tblGrid>
              <a:tr h="552704"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Liter"/>
                          <a:ea typeface="Liter"/>
                        </a:rPr>
                        <a:t>维度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3C8"/>
                      </a:solidFill>
                    </a:lnB>
                    <a:solidFill>
                      <a:srgbClr val="1E4D3B"/>
                    </a:solidFill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Liter"/>
                          <a:ea typeface="Liter"/>
                        </a:rPr>
                        <a:t>提示词思维(第二期)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3C8"/>
                      </a:solidFill>
                    </a:lnB>
                    <a:solidFill>
                      <a:srgbClr val="1E4D3B"/>
                    </a:solidFill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Liter"/>
                          <a:ea typeface="Liter"/>
                        </a:rPr>
                        <a:t>智能体思维(本期)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3C8"/>
                      </a:solidFill>
                    </a:lnB>
                    <a:solidFill>
                      <a:srgbClr val="1E4D3B"/>
                    </a:solidFill>
                  </a:tcPr>
                </a:tc>
              </a:tr>
              <a:tr h="580339"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00" b="1">
                          <a:solidFill>
                            <a:srgbClr val="22211E"/>
                          </a:solidFill>
                          <a:latin typeface="Liter"/>
                          <a:ea typeface="Liter"/>
                        </a:rPr>
                        <a:t>关注点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3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00">
                          <a:solidFill>
                            <a:srgbClr val="22211E"/>
                          </a:solidFill>
                          <a:latin typeface="Liter"/>
                          <a:ea typeface="Liter"/>
                        </a:rPr>
                        <a:t>怎么把问题问好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3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00">
                          <a:solidFill>
                            <a:srgbClr val="22211E"/>
                          </a:solidFill>
                          <a:latin typeface="Liter"/>
                          <a:ea typeface="Liter"/>
                        </a:rPr>
                        <a:t>给模型什么环境与条件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3C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0339"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00" b="1">
                          <a:solidFill>
                            <a:srgbClr val="22211E"/>
                          </a:solidFill>
                          <a:latin typeface="Liter"/>
                          <a:ea typeface="Liter"/>
                        </a:rPr>
                        <a:t>输入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3C8"/>
                      </a:solidFill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00">
                          <a:solidFill>
                            <a:srgbClr val="22211E"/>
                          </a:solidFill>
                          <a:latin typeface="Liter"/>
                          <a:ea typeface="Liter"/>
                        </a:rPr>
                        <a:t>一段提示词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3C8"/>
                      </a:solidFill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00">
                          <a:solidFill>
                            <a:srgbClr val="22211E"/>
                          </a:solidFill>
                          <a:latin typeface="Liter"/>
                          <a:ea typeface="Liter"/>
                        </a:rPr>
                        <a:t>目标 + 工具 + 边界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3C8"/>
                      </a:solidFill>
                    </a:lnB>
                    <a:solidFill>
                      <a:srgbClr val="F7F5F0"/>
                    </a:solidFill>
                  </a:tcPr>
                </a:tc>
              </a:tr>
              <a:tr h="580339"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00" b="1">
                          <a:solidFill>
                            <a:srgbClr val="22211E"/>
                          </a:solidFill>
                          <a:latin typeface="Liter"/>
                          <a:ea typeface="Liter"/>
                        </a:rPr>
                        <a:t>成功标准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3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00">
                          <a:solidFill>
                            <a:srgbClr val="22211E"/>
                          </a:solidFill>
                          <a:latin typeface="Liter"/>
                          <a:ea typeface="Liter"/>
                        </a:rPr>
                        <a:t>答得像、答得对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3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00">
                          <a:solidFill>
                            <a:srgbClr val="22211E"/>
                          </a:solidFill>
                          <a:latin typeface="Liter"/>
                          <a:ea typeface="Liter"/>
                        </a:rPr>
                        <a:t>活干完、通过验收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3C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0339"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00" b="1">
                          <a:solidFill>
                            <a:srgbClr val="22211E"/>
                          </a:solidFill>
                          <a:latin typeface="Liter"/>
                          <a:ea typeface="Liter"/>
                        </a:rPr>
                        <a:t>失败处理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3C8"/>
                      </a:solidFill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00">
                          <a:solidFill>
                            <a:srgbClr val="22211E"/>
                          </a:solidFill>
                          <a:latin typeface="Liter"/>
                          <a:ea typeface="Liter"/>
                        </a:rPr>
                        <a:t>换种问法,重问一次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3C8"/>
                      </a:solidFill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00">
                          <a:solidFill>
                            <a:srgbClr val="22211E"/>
                          </a:solidFill>
                          <a:latin typeface="Liter"/>
                          <a:ea typeface="Liter"/>
                        </a:rPr>
                        <a:t>在循环中纠偏,继续推进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3C8"/>
                      </a:solidFill>
                    </a:lnB>
                    <a:solidFill>
                      <a:srgbClr val="F7F5F0"/>
                    </a:solidFill>
                  </a:tcPr>
                </a:tc>
              </a:tr>
              <a:tr h="580339"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00" b="1">
                          <a:solidFill>
                            <a:srgbClr val="22211E"/>
                          </a:solidFill>
                          <a:latin typeface="Liter"/>
                          <a:ea typeface="Liter"/>
                        </a:rPr>
                        <a:t>人机关系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3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00">
                          <a:solidFill>
                            <a:srgbClr val="22211E"/>
                          </a:solidFill>
                          <a:latin typeface="Liter"/>
                          <a:ea typeface="Liter"/>
                        </a:rPr>
                        <a:t>一问一答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3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00">
                          <a:solidFill>
                            <a:srgbClr val="22211E"/>
                          </a:solidFill>
                          <a:latin typeface="Liter"/>
                          <a:ea typeface="Liter"/>
                        </a:rPr>
                        <a:t>委派 + 检查点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3C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akeaway-band"/>
          <p:cNvSpPr/>
          <p:nvPr/>
        </p:nvSpPr>
        <p:spPr>
          <a:xfrm>
            <a:off x="711200" y="5664200"/>
            <a:ext cx="10769600" cy="508000"/>
          </a:xfrm>
          <a:prstGeom prst="rect">
            <a:avLst/>
          </a:prstGeom>
          <a:solidFill>
            <a:srgbClr val="EAF1EC"/>
          </a:solidFill>
          <a:ln>
            <a:noFill/>
          </a:ln>
        </p:spPr>
      </p:sp>
      <p:sp>
        <p:nvSpPr>
          <p:cNvPr id="7" name="takeaway-icon"/>
          <p:cNvSpPr/>
          <p:nvPr>
            <p:extLst>
              <p:ext uri="{F5677B7D-0D2A-4D9B-9A5C-6D8D7D0E5A5D}">
                <pptd:icon encoding="base64url">eyJpY29uTmFtZSI6ImZhczpwZXJzb24tY2hhbGtib2FyZCJ9</pptd:icon>
              </p:ext>
            </p:extLst>
          </p:nvPr>
        </p:nvSpPr>
        <p:spPr>
          <a:xfrm>
            <a:off x="965200" y="5803900"/>
            <a:ext cx="241300" cy="2286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192" y="80"/>
                </a:moveTo>
                <a:cubicBezTo>
                  <a:pt x="223" y="80"/>
                  <a:pt x="248" y="55"/>
                  <a:pt x="248" y="24"/>
                </a:cubicBezTo>
                <a:cubicBezTo>
                  <a:pt x="248" y="-7"/>
                  <a:pt x="223" y="-32"/>
                  <a:pt x="192" y="-32"/>
                </a:cubicBezTo>
                <a:cubicBezTo>
                  <a:pt x="161" y="-32"/>
                  <a:pt x="136" y="-7"/>
                  <a:pt x="136" y="24"/>
                </a:cubicBezTo>
                <a:cubicBezTo>
                  <a:pt x="136" y="55"/>
                  <a:pt x="161" y="80"/>
                  <a:pt x="192" y="80"/>
                </a:cubicBezTo>
                <a:close/>
                <a:moveTo>
                  <a:pt x="176" y="512"/>
                </a:moveTo>
                <a:lnTo>
                  <a:pt x="176" y="352"/>
                </a:lnTo>
                <a:cubicBezTo>
                  <a:pt x="176" y="343"/>
                  <a:pt x="183" y="336"/>
                  <a:pt x="192" y="336"/>
                </a:cubicBezTo>
                <a:cubicBezTo>
                  <a:pt x="201" y="336"/>
                  <a:pt x="208" y="343"/>
                  <a:pt x="208" y="352"/>
                </a:cubicBezTo>
                <a:lnTo>
                  <a:pt x="208" y="512"/>
                </a:lnTo>
                <a:cubicBezTo>
                  <a:pt x="208" y="530"/>
                  <a:pt x="222" y="544"/>
                  <a:pt x="240" y="544"/>
                </a:cubicBezTo>
                <a:cubicBezTo>
                  <a:pt x="258" y="544"/>
                  <a:pt x="272" y="530"/>
                  <a:pt x="272" y="512"/>
                </a:cubicBezTo>
                <a:lnTo>
                  <a:pt x="272" y="176"/>
                </a:lnTo>
                <a:lnTo>
                  <a:pt x="400" y="176"/>
                </a:lnTo>
                <a:cubicBezTo>
                  <a:pt x="418" y="176"/>
                  <a:pt x="432" y="162"/>
                  <a:pt x="432" y="144"/>
                </a:cubicBezTo>
                <a:cubicBezTo>
                  <a:pt x="432" y="126"/>
                  <a:pt x="418" y="112"/>
                  <a:pt x="400" y="112"/>
                </a:cubicBezTo>
                <a:lnTo>
                  <a:pt x="384" y="112"/>
                </a:lnTo>
                <a:lnTo>
                  <a:pt x="384" y="64"/>
                </a:lnTo>
                <a:lnTo>
                  <a:pt x="576" y="64"/>
                </a:lnTo>
                <a:lnTo>
                  <a:pt x="576" y="256"/>
                </a:lnTo>
                <a:lnTo>
                  <a:pt x="384" y="256"/>
                </a:lnTo>
                <a:lnTo>
                  <a:pt x="384" y="224"/>
                </a:lnTo>
                <a:lnTo>
                  <a:pt x="320" y="224"/>
                </a:lnTo>
                <a:lnTo>
                  <a:pt x="320" y="272"/>
                </a:lnTo>
                <a:cubicBezTo>
                  <a:pt x="320" y="299"/>
                  <a:pt x="342" y="320"/>
                  <a:pt x="368" y="320"/>
                </a:cubicBezTo>
                <a:lnTo>
                  <a:pt x="592" y="320"/>
                </a:lnTo>
                <a:cubicBezTo>
                  <a:pt x="619" y="320"/>
                  <a:pt x="640" y="299"/>
                  <a:pt x="640" y="272"/>
                </a:cubicBezTo>
                <a:lnTo>
                  <a:pt x="640" y="48"/>
                </a:lnTo>
                <a:cubicBezTo>
                  <a:pt x="640" y="22"/>
                  <a:pt x="619" y="0"/>
                  <a:pt x="592" y="0"/>
                </a:cubicBezTo>
                <a:lnTo>
                  <a:pt x="368" y="0"/>
                </a:lnTo>
                <a:cubicBezTo>
                  <a:pt x="342" y="0"/>
                  <a:pt x="320" y="22"/>
                  <a:pt x="320" y="48"/>
                </a:cubicBezTo>
                <a:lnTo>
                  <a:pt x="320" y="112"/>
                </a:lnTo>
                <a:lnTo>
                  <a:pt x="197" y="112"/>
                </a:lnTo>
                <a:cubicBezTo>
                  <a:pt x="152" y="112"/>
                  <a:pt x="109" y="134"/>
                  <a:pt x="82" y="170"/>
                </a:cubicBezTo>
                <a:lnTo>
                  <a:pt x="14" y="261"/>
                </a:lnTo>
                <a:cubicBezTo>
                  <a:pt x="4" y="275"/>
                  <a:pt x="7" y="295"/>
                  <a:pt x="21" y="306"/>
                </a:cubicBezTo>
                <a:cubicBezTo>
                  <a:pt x="35" y="316"/>
                  <a:pt x="55" y="313"/>
                  <a:pt x="66" y="299"/>
                </a:cubicBezTo>
                <a:lnTo>
                  <a:pt x="112" y="237"/>
                </a:lnTo>
                <a:lnTo>
                  <a:pt x="112" y="512"/>
                </a:lnTo>
                <a:cubicBezTo>
                  <a:pt x="112" y="530"/>
                  <a:pt x="126" y="544"/>
                  <a:pt x="144" y="544"/>
                </a:cubicBezTo>
                <a:cubicBezTo>
                  <a:pt x="162" y="544"/>
                  <a:pt x="176" y="530"/>
                  <a:pt x="176" y="512"/>
                </a:cubicBezTo>
                <a:close/>
              </a:path>
            </a:pathLst>
          </a:custGeom>
          <a:solidFill>
            <a:srgbClr val="1E4D3B"/>
          </a:solidFill>
          <a:ln>
            <a:noFill/>
          </a:ln>
        </p:spPr>
      </p:sp>
      <p:sp>
        <p:nvSpPr>
          <p:cNvPr id="8" name="takeaway-text"/>
          <p:cNvSpPr txBox="1"/>
          <p:nvPr/>
        </p:nvSpPr>
        <p:spPr>
          <a:xfrm>
            <a:off x="1371600" y="5778500"/>
            <a:ext cx="99568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1250" b="1">
                <a:solidFill>
                  <a:srgbClr val="22211E"/>
                </a:solidFill>
                <a:latin typeface="MiSans"/>
                <a:ea typeface="MiSans"/>
              </a:rPr>
              <a:t>思维转变:你是教练,不是考生。</a:t>
            </a:r>
            <a:r>
              <a:rPr lang="en-US" sz="1250">
                <a:solidFill>
                  <a:srgbClr val="22211E"/>
                </a:solidFill>
                <a:latin typeface="MiSans"/>
                <a:ea typeface="MiSans"/>
              </a:rPr>
              <a:t>教练不亲自上场答题——定目标、给条件、看结果,让模型在循环里把活干完。</a:t>
            </a:r>
            <a:endParaRPr lang="en-US" sz="1250"/>
          </a:p>
        </p:txBody>
      </p:sp>
      <p:sp>
        <p:nvSpPr>
          <p:cNvPr id="9" name="footer-line"/>
          <p:cNvSpPr/>
          <p:nvPr>
            <p:extLst>
              <p:ext uri="{F5677B7D-0D2A-4D9B-9A5C-6D8D7D0E5A5D}">
                <pptd:line encoding="base64url">eyJjdXJ2ZSI6InJvdW5kIiwicG9pbnRzIjoiMCwxIDg0OCwxIiwidmlld0JveCI6Wzg0OCwyXX0</pptd:line>
              </p:ext>
            </p:extLst>
          </p:nvPr>
        </p:nvSpPr>
        <p:spPr>
          <a:xfrm>
            <a:off x="711200" y="6362700"/>
            <a:ext cx="10769600" cy="25400"/>
          </a:xfrm>
          <a:custGeom>
            <a:avLst/>
            <a:gdLst/>
            <a:ahLst/>
            <a:cxnLst/>
            <a:rect l="l" t="t" r="r" b="b"/>
            <a:pathLst>
              <a:path w="848" h="2">
                <a:moveTo>
                  <a:pt x="0" y="1"/>
                </a:moveTo>
                <a:lnTo>
                  <a:pt x="848" y="1"/>
                </a:lnTo>
              </a:path>
            </a:pathLst>
          </a:custGeom>
          <a:noFill/>
          <a:ln w="12700" cap="rnd">
            <a:solidFill>
              <a:srgbClr val="D8D3C8"/>
            </a:solidFill>
            <a:round/>
          </a:ln>
        </p:spPr>
      </p:sp>
      <p:sp>
        <p:nvSpPr>
          <p:cNvPr id="10" name="footer-left"/>
          <p:cNvSpPr txBox="1"/>
          <p:nvPr/>
        </p:nvSpPr>
        <p:spPr>
          <a:xfrm>
            <a:off x="711200" y="6477000"/>
            <a:ext cx="711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40000"/>
              </a:lnSpc>
            </a:pPr>
            <a:r>
              <a:rPr lang="en-US" sz="1000">
                <a:solidFill>
                  <a:srgbClr val="6B675F"/>
                </a:solidFill>
                <a:latin typeface="Liter"/>
                <a:ea typeface="Liter"/>
              </a:rPr>
              <a:t>东方智感 · AI 内训第三期</a:t>
            </a:r>
            <a:endParaRPr lang="en-US" sz="1000"/>
          </a:p>
        </p:txBody>
      </p:sp>
      <p:sp>
        <p:nvSpPr>
          <p:cNvPr id="11" name="footer-right"/>
          <p:cNvSpPr txBox="1"/>
          <p:nvPr/>
        </p:nvSpPr>
        <p:spPr>
          <a:xfrm>
            <a:off x="10210800" y="64770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r">
              <a:lnSpc>
                <a:spcPct val="140000"/>
              </a:lnSpc>
            </a:pPr>
            <a:r>
              <a:rPr lang="en-US" sz="1000">
                <a:solidFill>
                  <a:srgbClr val="6B675F"/>
                </a:solidFill>
                <a:latin typeface="Liter"/>
                <a:ea typeface="Liter"/>
              </a:rPr>
              <a:t>10</a:t>
            </a:r>
            <a:endParaRPr lang="en-US" sz="10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508000"/>
            <a:ext cx="533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100" b="1" spc="200" kern="0">
                <a:solidFill>
                  <a:srgbClr val="C26A2E"/>
                </a:solidFill>
                <a:latin typeface="Liter"/>
                <a:ea typeface="Liter"/>
              </a:rPr>
              <a:t>02 · 智能体思维</a:t>
            </a:r>
            <a:endParaRPr lang="en-US" sz="1100"/>
          </a:p>
        </p:txBody>
      </p:sp>
      <p:sp>
        <p:nvSpPr>
          <p:cNvPr id="3" name="title"/>
          <p:cNvSpPr txBox="1"/>
          <p:nvPr/>
        </p:nvSpPr>
        <p:spPr>
          <a:xfrm>
            <a:off x="711200" y="7874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22211E"/>
                </a:solidFill>
                <a:latin typeface="Liter"/>
                <a:ea typeface="Liter"/>
              </a:rPr>
              <a:t>派活四件套:目标、资源、边界、验收</a:t>
            </a:r>
            <a:endParaRPr lang="en-US" sz="2600"/>
          </a:p>
        </p:txBody>
      </p:sp>
      <p:sp>
        <p:nvSpPr>
          <p:cNvPr id="4" name="tpl-label"/>
          <p:cNvSpPr txBox="1"/>
          <p:nvPr/>
        </p:nvSpPr>
        <p:spPr>
          <a:xfrm>
            <a:off x="711200" y="14478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E4D3B"/>
                </a:solidFill>
                <a:latin typeface="Liter"/>
                <a:ea typeface="Liter"/>
              </a:rPr>
              <a:t>任务委派单 · 模板</a:t>
            </a:r>
            <a:endParaRPr lang="en-US" sz="1500"/>
          </a:p>
        </p:txBody>
      </p:sp>
      <p:sp>
        <p:nvSpPr>
          <p:cNvPr id="5" name="item1-badge"/>
          <p:cNvSpPr/>
          <p:nvPr/>
        </p:nvSpPr>
        <p:spPr>
          <a:xfrm>
            <a:off x="711200" y="1879600"/>
            <a:ext cx="330200" cy="330200"/>
          </a:xfrm>
          <a:prstGeom prst="rect">
            <a:avLst/>
          </a:prstGeom>
          <a:solidFill>
            <a:srgbClr val="1E4D3B"/>
          </a:solidFill>
          <a:ln>
            <a:noFill/>
          </a:ln>
        </p:spPr>
      </p:sp>
      <p:sp>
        <p:nvSpPr>
          <p:cNvPr id="6" name="item1-num"/>
          <p:cNvSpPr txBox="1"/>
          <p:nvPr/>
        </p:nvSpPr>
        <p:spPr>
          <a:xfrm>
            <a:off x="711200" y="1879600"/>
            <a:ext cx="3302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300" b="1">
                <a:solidFill>
                  <a:srgbClr val="FFFFFF"/>
                </a:solidFill>
                <a:latin typeface="MiSans"/>
                <a:ea typeface="MiSans"/>
              </a:rPr>
              <a:t>1</a:t>
            </a:r>
            <a:endParaRPr lang="en-US" sz="1300"/>
          </a:p>
        </p:txBody>
      </p:sp>
      <p:sp>
        <p:nvSpPr>
          <p:cNvPr id="7" name="item1-title"/>
          <p:cNvSpPr txBox="1"/>
          <p:nvPr/>
        </p:nvSpPr>
        <p:spPr>
          <a:xfrm>
            <a:off x="1193800" y="1905000"/>
            <a:ext cx="4343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300" b="1">
                <a:solidFill>
                  <a:srgbClr val="22211E"/>
                </a:solidFill>
                <a:latin typeface="MiSans"/>
                <a:ea typeface="MiSans"/>
              </a:rPr>
              <a:t>目标 —— 完成什么,可衡量</a:t>
            </a:r>
            <a:endParaRPr lang="en-US" sz="1300"/>
          </a:p>
        </p:txBody>
      </p:sp>
      <p:sp>
        <p:nvSpPr>
          <p:cNvPr id="8" name="item1-desc"/>
          <p:cNvSpPr txBox="1"/>
          <p:nvPr/>
        </p:nvSpPr>
        <p:spPr>
          <a:xfrm>
            <a:off x="1193800" y="2184400"/>
            <a:ext cx="4343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100">
                <a:solidFill>
                  <a:srgbClr val="6B675F"/>
                </a:solidFill>
                <a:latin typeface="MiSans"/>
                <a:ea typeface="MiSans"/>
              </a:rPr>
              <a:t>交付物是什么?写到「能检查」的程度</a:t>
            </a:r>
            <a:endParaRPr lang="en-US" sz="1100"/>
          </a:p>
        </p:txBody>
      </p:sp>
      <p:sp>
        <p:nvSpPr>
          <p:cNvPr id="9" name="item2-badge"/>
          <p:cNvSpPr/>
          <p:nvPr/>
        </p:nvSpPr>
        <p:spPr>
          <a:xfrm>
            <a:off x="711200" y="2743200"/>
            <a:ext cx="330200" cy="330200"/>
          </a:xfrm>
          <a:prstGeom prst="rect">
            <a:avLst/>
          </a:prstGeom>
          <a:solidFill>
            <a:srgbClr val="1E4D3B"/>
          </a:solidFill>
          <a:ln>
            <a:noFill/>
          </a:ln>
        </p:spPr>
      </p:sp>
      <p:sp>
        <p:nvSpPr>
          <p:cNvPr id="10" name="item2-num"/>
          <p:cNvSpPr txBox="1"/>
          <p:nvPr/>
        </p:nvSpPr>
        <p:spPr>
          <a:xfrm>
            <a:off x="711200" y="2743200"/>
            <a:ext cx="3302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300" b="1">
                <a:solidFill>
                  <a:srgbClr val="FFFFFF"/>
                </a:solidFill>
                <a:latin typeface="MiSans"/>
                <a:ea typeface="MiSans"/>
              </a:rPr>
              <a:t>2</a:t>
            </a:r>
            <a:endParaRPr lang="en-US" sz="1300"/>
          </a:p>
        </p:txBody>
      </p:sp>
      <p:sp>
        <p:nvSpPr>
          <p:cNvPr id="11" name="item2-title"/>
          <p:cNvSpPr txBox="1"/>
          <p:nvPr/>
        </p:nvSpPr>
        <p:spPr>
          <a:xfrm>
            <a:off x="1193800" y="2768600"/>
            <a:ext cx="4343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300" b="1">
                <a:solidFill>
                  <a:srgbClr val="22211E"/>
                </a:solidFill>
                <a:latin typeface="MiSans"/>
                <a:ea typeface="MiSans"/>
              </a:rPr>
              <a:t>资源 —— 它能用什么</a:t>
            </a:r>
            <a:endParaRPr lang="en-US" sz="1300"/>
          </a:p>
        </p:txBody>
      </p:sp>
      <p:sp>
        <p:nvSpPr>
          <p:cNvPr id="12" name="item2-desc"/>
          <p:cNvSpPr txBox="1"/>
          <p:nvPr/>
        </p:nvSpPr>
        <p:spPr>
          <a:xfrm>
            <a:off x="1193800" y="3048000"/>
            <a:ext cx="4343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100">
                <a:solidFill>
                  <a:srgbClr val="6B675F"/>
                </a:solidFill>
                <a:latin typeface="MiSans"/>
                <a:ea typeface="MiSans"/>
              </a:rPr>
              <a:t>数据、账号、工具、模板,一次给够</a:t>
            </a:r>
            <a:endParaRPr lang="en-US" sz="1100"/>
          </a:p>
        </p:txBody>
      </p:sp>
      <p:sp>
        <p:nvSpPr>
          <p:cNvPr id="13" name="item3-badge"/>
          <p:cNvSpPr/>
          <p:nvPr/>
        </p:nvSpPr>
        <p:spPr>
          <a:xfrm>
            <a:off x="711200" y="3606800"/>
            <a:ext cx="330200" cy="330200"/>
          </a:xfrm>
          <a:prstGeom prst="rect">
            <a:avLst/>
          </a:prstGeom>
          <a:solidFill>
            <a:srgbClr val="1E4D3B"/>
          </a:solidFill>
          <a:ln>
            <a:noFill/>
          </a:ln>
        </p:spPr>
      </p:sp>
      <p:sp>
        <p:nvSpPr>
          <p:cNvPr id="14" name="item3-num"/>
          <p:cNvSpPr txBox="1"/>
          <p:nvPr/>
        </p:nvSpPr>
        <p:spPr>
          <a:xfrm>
            <a:off x="711200" y="3606800"/>
            <a:ext cx="3302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300" b="1">
                <a:solidFill>
                  <a:srgbClr val="FFFFFF"/>
                </a:solidFill>
                <a:latin typeface="MiSans"/>
                <a:ea typeface="MiSans"/>
              </a:rPr>
              <a:t>3</a:t>
            </a:r>
            <a:endParaRPr lang="en-US" sz="1300"/>
          </a:p>
        </p:txBody>
      </p:sp>
      <p:sp>
        <p:nvSpPr>
          <p:cNvPr id="15" name="item3-title"/>
          <p:cNvSpPr txBox="1"/>
          <p:nvPr/>
        </p:nvSpPr>
        <p:spPr>
          <a:xfrm>
            <a:off x="1193800" y="3632200"/>
            <a:ext cx="4343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300" b="1">
                <a:solidFill>
                  <a:srgbClr val="22211E"/>
                </a:solidFill>
                <a:latin typeface="MiSans"/>
                <a:ea typeface="MiSans"/>
              </a:rPr>
              <a:t>边界 —— 不许做什么</a:t>
            </a:r>
            <a:endParaRPr lang="en-US" sz="1300"/>
          </a:p>
        </p:txBody>
      </p:sp>
      <p:sp>
        <p:nvSpPr>
          <p:cNvPr id="16" name="item3-desc"/>
          <p:cNvSpPr txBox="1"/>
          <p:nvPr/>
        </p:nvSpPr>
        <p:spPr>
          <a:xfrm>
            <a:off x="1193800" y="3911600"/>
            <a:ext cx="4343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100">
                <a:solidFill>
                  <a:srgbClr val="6B675F"/>
                </a:solidFill>
                <a:latin typeface="MiSans"/>
                <a:ea typeface="MiSans"/>
              </a:rPr>
              <a:t>权限上限、预算、时长,写清楚红线</a:t>
            </a:r>
            <a:endParaRPr lang="en-US" sz="1100"/>
          </a:p>
        </p:txBody>
      </p:sp>
      <p:sp>
        <p:nvSpPr>
          <p:cNvPr id="17" name="item4-badge"/>
          <p:cNvSpPr/>
          <p:nvPr/>
        </p:nvSpPr>
        <p:spPr>
          <a:xfrm>
            <a:off x="711200" y="4470400"/>
            <a:ext cx="330200" cy="330200"/>
          </a:xfrm>
          <a:prstGeom prst="rect">
            <a:avLst/>
          </a:prstGeom>
          <a:solidFill>
            <a:srgbClr val="C26A2E"/>
          </a:solidFill>
          <a:ln>
            <a:noFill/>
          </a:ln>
        </p:spPr>
      </p:sp>
      <p:sp>
        <p:nvSpPr>
          <p:cNvPr id="18" name="item4-num"/>
          <p:cNvSpPr txBox="1"/>
          <p:nvPr/>
        </p:nvSpPr>
        <p:spPr>
          <a:xfrm>
            <a:off x="711200" y="4470400"/>
            <a:ext cx="3302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300" b="1">
                <a:solidFill>
                  <a:srgbClr val="FFFFFF"/>
                </a:solidFill>
                <a:latin typeface="MiSans"/>
                <a:ea typeface="MiSans"/>
              </a:rPr>
              <a:t>4</a:t>
            </a:r>
            <a:endParaRPr lang="en-US" sz="1300"/>
          </a:p>
        </p:txBody>
      </p:sp>
      <p:sp>
        <p:nvSpPr>
          <p:cNvPr id="19" name="item4-title"/>
          <p:cNvSpPr txBox="1"/>
          <p:nvPr/>
        </p:nvSpPr>
        <p:spPr>
          <a:xfrm>
            <a:off x="1193800" y="4495800"/>
            <a:ext cx="4343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300" b="1">
                <a:solidFill>
                  <a:srgbClr val="22211E"/>
                </a:solidFill>
                <a:latin typeface="MiSans"/>
                <a:ea typeface="MiSans"/>
              </a:rPr>
              <a:t>验收 —— 怎样算完成</a:t>
            </a:r>
            <a:endParaRPr lang="en-US" sz="1300"/>
          </a:p>
        </p:txBody>
      </p:sp>
      <p:sp>
        <p:nvSpPr>
          <p:cNvPr id="20" name="item4-desc"/>
          <p:cNvSpPr txBox="1"/>
          <p:nvPr/>
        </p:nvSpPr>
        <p:spPr>
          <a:xfrm>
            <a:off x="1193800" y="4775200"/>
            <a:ext cx="4343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100">
                <a:solidFill>
                  <a:srgbClr val="6B675F"/>
                </a:solidFill>
                <a:latin typeface="MiSans"/>
                <a:ea typeface="MiSans"/>
              </a:rPr>
              <a:t>交付物 + 检查标准,不合格就退回重做</a:t>
            </a:r>
            <a:endParaRPr lang="en-US" sz="1100"/>
          </a:p>
        </p:txBody>
      </p:sp>
      <p:sp>
        <p:nvSpPr>
          <p:cNvPr id="21" name="tpl-tip"/>
          <p:cNvSpPr txBox="1"/>
          <p:nvPr/>
        </p:nvSpPr>
        <p:spPr>
          <a:xfrm>
            <a:off x="711200" y="5232400"/>
            <a:ext cx="48768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50000"/>
              </a:lnSpc>
            </a:pPr>
            <a:r>
              <a:rPr lang="en-US" sz="1100">
                <a:solidFill>
                  <a:srgbClr val="6B675F"/>
                </a:solidFill>
                <a:latin typeface="Liter"/>
                <a:ea typeface="Liter"/>
              </a:rPr>
              <a:t>口诀:目标可衡量、资源要给够、边界写清楚、验收能检查。</a:t>
            </a:r>
            <a:endParaRPr lang="en-US" sz="1100"/>
          </a:p>
        </p:txBody>
      </p:sp>
      <p:sp>
        <p:nvSpPr>
          <p:cNvPr id="22" name="bad-box"/>
          <p:cNvSpPr/>
          <p:nvPr/>
        </p:nvSpPr>
        <p:spPr>
          <a:xfrm>
            <a:off x="5969000" y="1447800"/>
            <a:ext cx="5511800" cy="1371600"/>
          </a:xfrm>
          <a:prstGeom prst="rect">
            <a:avLst/>
          </a:prstGeom>
          <a:solidFill>
            <a:srgbClr val="F7EBDC"/>
          </a:solidFill>
          <a:ln>
            <a:noFill/>
          </a:ln>
        </p:spPr>
      </p:sp>
      <p:sp>
        <p:nvSpPr>
          <p:cNvPr id="23" name="bad-title"/>
          <p:cNvSpPr txBox="1"/>
          <p:nvPr/>
        </p:nvSpPr>
        <p:spPr>
          <a:xfrm>
            <a:off x="6172200" y="1600200"/>
            <a:ext cx="5105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300" b="1">
                <a:solidFill>
                  <a:srgbClr val="22211E"/>
                </a:solidFill>
                <a:latin typeface="MiSans"/>
                <a:ea typeface="MiSans"/>
              </a:rPr>
              <a:t>差任务:</a:t>
            </a:r>
            <a:r>
              <a:rPr lang="en-US" sz="1300">
                <a:solidFill>
                  <a:srgbClr val="22211E"/>
                </a:solidFill>
                <a:latin typeface="MiSans"/>
                <a:ea typeface="MiSans"/>
              </a:rPr>
              <a:t>「帮我看看数据」</a:t>
            </a:r>
            <a:endParaRPr lang="en-US" sz="1300"/>
          </a:p>
        </p:txBody>
      </p:sp>
      <p:sp>
        <p:nvSpPr>
          <p:cNvPr id="24" name="bad-desc"/>
          <p:cNvSpPr txBox="1"/>
          <p:nvPr/>
        </p:nvSpPr>
        <p:spPr>
          <a:xfrm>
            <a:off x="6172200" y="1905000"/>
            <a:ext cx="51054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55000"/>
              </a:lnSpc>
            </a:pPr>
            <a:r>
              <a:rPr lang="en-US" sz="1100">
                <a:solidFill>
                  <a:srgbClr val="6B675F"/>
                </a:solidFill>
                <a:latin typeface="MiSans"/>
                <a:ea typeface="MiSans"/>
              </a:rPr>
              <a:t>✕ 没有目标:看什么、看到什么程度?</a:t>
            </a:r>
            <a:endParaRPr lang="en-US" sz="1100"/>
          </a:p>
          <a:p>
            <a:pPr algn="l">
              <a:lnSpc>
                <a:spcPct val="155000"/>
              </a:lnSpc>
            </a:pPr>
            <a:r>
              <a:rPr lang="en-US" sz="1100">
                <a:solidFill>
                  <a:srgbClr val="6B675F"/>
                </a:solidFill>
                <a:latin typeface="MiSans"/>
                <a:ea typeface="MiSans"/>
              </a:rPr>
              <a:t>✕ 没有资源:哪份数据、在哪个系统?</a:t>
            </a:r>
            <a:endParaRPr lang="en-US" sz="1100"/>
          </a:p>
          <a:p>
            <a:pPr algn="l">
              <a:lnSpc>
                <a:spcPct val="155000"/>
              </a:lnSpc>
            </a:pPr>
            <a:r>
              <a:rPr lang="en-US" sz="1100">
                <a:solidFill>
                  <a:srgbClr val="6B675F"/>
                </a:solidFill>
                <a:latin typeface="MiSans"/>
                <a:ea typeface="MiSans"/>
              </a:rPr>
              <a:t>✕ 没有验收:怎样算「看完了」?</a:t>
            </a:r>
            <a:endParaRPr lang="en-US" sz="1100"/>
          </a:p>
        </p:txBody>
      </p:sp>
      <p:sp>
        <p:nvSpPr>
          <p:cNvPr id="25" name="good-box"/>
          <p:cNvSpPr/>
          <p:nvPr/>
        </p:nvSpPr>
        <p:spPr>
          <a:xfrm>
            <a:off x="5969000" y="2997200"/>
            <a:ext cx="5511800" cy="2641600"/>
          </a:xfrm>
          <a:prstGeom prst="rect">
            <a:avLst/>
          </a:prstGeom>
          <a:solidFill>
            <a:srgbClr val="EAF1EC"/>
          </a:solidFill>
          <a:ln>
            <a:noFill/>
          </a:ln>
        </p:spPr>
      </p:sp>
      <p:sp>
        <p:nvSpPr>
          <p:cNvPr id="26" name="good-title"/>
          <p:cNvSpPr txBox="1"/>
          <p:nvPr/>
        </p:nvSpPr>
        <p:spPr>
          <a:xfrm>
            <a:off x="6172200" y="3149600"/>
            <a:ext cx="5105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300" b="1">
                <a:solidFill>
                  <a:srgbClr val="22211E"/>
                </a:solidFill>
                <a:latin typeface="MiSans"/>
                <a:ea typeface="MiSans"/>
              </a:rPr>
              <a:t>好任务:</a:t>
            </a:r>
            <a:r>
              <a:rPr lang="en-US" sz="1300">
                <a:solidFill>
                  <a:srgbClr val="22211E"/>
                </a:solidFill>
                <a:latin typeface="MiSans"/>
                <a:ea typeface="MiSans"/>
              </a:rPr>
              <a:t>智墒土壤墒情周报(教学演示)</a:t>
            </a:r>
            <a:endParaRPr lang="en-US" sz="1300"/>
          </a:p>
        </p:txBody>
      </p:sp>
      <p:sp>
        <p:nvSpPr>
          <p:cNvPr id="27" name="good-desc"/>
          <p:cNvSpPr txBox="1"/>
          <p:nvPr/>
        </p:nvSpPr>
        <p:spPr>
          <a:xfrm>
            <a:off x="6172200" y="3479800"/>
            <a:ext cx="5105400" cy="170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50000"/>
              </a:lnSpc>
            </a:pPr>
            <a:r>
              <a:rPr lang="en-US" sz="1100" b="1">
                <a:solidFill>
                  <a:srgbClr val="22211E"/>
                </a:solidFill>
                <a:latin typeface="MiSans"/>
                <a:ea typeface="MiSans"/>
              </a:rPr>
              <a:t>目标</a:t>
            </a:r>
            <a:r>
              <a:rPr lang="en-US" sz="1100">
                <a:solidFill>
                  <a:srgbClr val="22211E"/>
                </a:solidFill>
                <a:latin typeface="MiSans"/>
                <a:ea typeface="MiSans"/>
              </a:rPr>
              <a:t>:每周一 9:00 前产出全域墒情周报草稿</a:t>
            </a:r>
            <a:endParaRPr lang="en-US" sz="1100"/>
          </a:p>
          <a:p>
            <a:pPr algn="l">
              <a:lnSpc>
                <a:spcPct val="150000"/>
              </a:lnSpc>
              <a:spcBef>
                <a:spcPts val="700"/>
              </a:spcBef>
            </a:pPr>
            <a:r>
              <a:rPr lang="en-US" sz="1100" b="1">
                <a:solidFill>
                  <a:srgbClr val="22211E"/>
                </a:solidFill>
                <a:latin typeface="MiSans"/>
                <a:ea typeface="MiSans"/>
              </a:rPr>
              <a:t>资源</a:t>
            </a:r>
            <a:r>
              <a:rPr lang="en-US" sz="1100">
                <a:solidFill>
                  <a:srgbClr val="22211E"/>
                </a:solidFill>
                <a:latin typeface="MiSans"/>
                <a:ea typeface="MiSans"/>
              </a:rPr>
              <a:t>:物联网平台取数接口 + 上周报告模板</a:t>
            </a:r>
            <a:endParaRPr lang="en-US" sz="1100"/>
          </a:p>
          <a:p>
            <a:pPr algn="l">
              <a:lnSpc>
                <a:spcPct val="150000"/>
              </a:lnSpc>
              <a:spcBef>
                <a:spcPts val="700"/>
              </a:spcBef>
            </a:pPr>
            <a:r>
              <a:rPr lang="en-US" sz="1100" b="1">
                <a:solidFill>
                  <a:srgbClr val="22211E"/>
                </a:solidFill>
                <a:latin typeface="MiSans"/>
                <a:ea typeface="MiSans"/>
              </a:rPr>
              <a:t>边界</a:t>
            </a:r>
            <a:r>
              <a:rPr lang="en-US" sz="1100">
                <a:solidFill>
                  <a:srgbClr val="22211E"/>
                </a:solidFill>
                <a:latin typeface="MiSans"/>
                <a:ea typeface="MiSans"/>
              </a:rPr>
              <a:t>:只读取数、不改系统;缺数站点如实标注</a:t>
            </a:r>
            <a:endParaRPr lang="en-US" sz="1100"/>
          </a:p>
          <a:p>
            <a:pPr algn="l">
              <a:lnSpc>
                <a:spcPct val="150000"/>
              </a:lnSpc>
              <a:spcBef>
                <a:spcPts val="700"/>
              </a:spcBef>
            </a:pPr>
            <a:r>
              <a:rPr lang="en-US" sz="1100" b="1">
                <a:solidFill>
                  <a:srgbClr val="22211E"/>
                </a:solidFill>
                <a:latin typeface="MiSans"/>
                <a:ea typeface="MiSans"/>
              </a:rPr>
              <a:t>验收</a:t>
            </a:r>
            <a:r>
              <a:rPr lang="en-US" sz="1100">
                <a:solidFill>
                  <a:srgbClr val="22211E"/>
                </a:solidFill>
                <a:latin typeface="MiSans"/>
                <a:ea typeface="MiSans"/>
              </a:rPr>
              <a:t>:含趋势图与异常清单,数据可溯源到站点</a:t>
            </a:r>
            <a:endParaRPr lang="en-US" sz="1100"/>
          </a:p>
        </p:txBody>
      </p:sp>
      <p:sp>
        <p:nvSpPr>
          <p:cNvPr id="28" name="good-note"/>
          <p:cNvSpPr txBox="1"/>
          <p:nvPr/>
        </p:nvSpPr>
        <p:spPr>
          <a:xfrm>
            <a:off x="6172200" y="5257800"/>
            <a:ext cx="5105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6B675F"/>
                </a:solidFill>
                <a:latin typeface="MiSans"/>
                <a:ea typeface="MiSans"/>
              </a:rPr>
              <a:t>派活之后,人只做最终复核——这就是「教练」的工作方式</a:t>
            </a:r>
            <a:endParaRPr lang="en-US" sz="1050"/>
          </a:p>
        </p:txBody>
      </p:sp>
      <p:sp>
        <p:nvSpPr>
          <p:cNvPr id="29" name="action-band"/>
          <p:cNvSpPr/>
          <p:nvPr/>
        </p:nvSpPr>
        <p:spPr>
          <a:xfrm>
            <a:off x="711200" y="5791200"/>
            <a:ext cx="107696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</a:ln>
        </p:spPr>
      </p:sp>
      <p:sp>
        <p:nvSpPr>
          <p:cNvPr id="30" name="action-bar"/>
          <p:cNvSpPr/>
          <p:nvPr/>
        </p:nvSpPr>
        <p:spPr>
          <a:xfrm>
            <a:off x="711200" y="5791200"/>
            <a:ext cx="50800" cy="482600"/>
          </a:xfrm>
          <a:prstGeom prst="rect">
            <a:avLst/>
          </a:prstGeom>
          <a:solidFill>
            <a:srgbClr val="1E4D3B"/>
          </a:solidFill>
          <a:ln>
            <a:noFill/>
          </a:ln>
        </p:spPr>
      </p:sp>
      <p:sp>
        <p:nvSpPr>
          <p:cNvPr id="31" name="action-icon"/>
          <p:cNvSpPr/>
          <p:nvPr>
            <p:extLst>
              <p:ext uri="{F5677B7D-0D2A-4D9B-9A5C-6D8D7D0E5A5D}">
                <pptd:icon encoding="base64url">eyJpY29uTmFtZSI6ImZhczpwZW4tdG8tc3F1YXJlIn0</pptd:icon>
              </p:ext>
            </p:extLst>
          </p:nvPr>
        </p:nvSpPr>
        <p:spPr>
          <a:xfrm>
            <a:off x="965200" y="5918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472" y="22"/>
                </a:moveTo>
                <a:cubicBezTo>
                  <a:pt x="450" y="0"/>
                  <a:pt x="414" y="0"/>
                  <a:pt x="392" y="22"/>
                </a:cubicBezTo>
                <a:lnTo>
                  <a:pt x="368" y="46"/>
                </a:lnTo>
                <a:lnTo>
                  <a:pt x="466" y="144"/>
                </a:lnTo>
                <a:lnTo>
                  <a:pt x="490" y="120"/>
                </a:lnTo>
                <a:cubicBezTo>
                  <a:pt x="512" y="98"/>
                  <a:pt x="512" y="62"/>
                  <a:pt x="490" y="40"/>
                </a:cubicBezTo>
                <a:lnTo>
                  <a:pt x="472" y="22"/>
                </a:lnTo>
                <a:close/>
                <a:moveTo>
                  <a:pt x="96" y="64"/>
                </a:moveTo>
                <a:cubicBezTo>
                  <a:pt x="43" y="64"/>
                  <a:pt x="0" y="107"/>
                  <a:pt x="0" y="160"/>
                </a:cubicBezTo>
                <a:lnTo>
                  <a:pt x="0" y="416"/>
                </a:lnTo>
                <a:cubicBezTo>
                  <a:pt x="0" y="469"/>
                  <a:pt x="43" y="512"/>
                  <a:pt x="96" y="512"/>
                </a:cubicBezTo>
                <a:lnTo>
                  <a:pt x="352" y="512"/>
                </a:lnTo>
                <a:cubicBezTo>
                  <a:pt x="405" y="512"/>
                  <a:pt x="448" y="469"/>
                  <a:pt x="448" y="416"/>
                </a:cubicBezTo>
                <a:lnTo>
                  <a:pt x="448" y="320"/>
                </a:lnTo>
                <a:cubicBezTo>
                  <a:pt x="448" y="302"/>
                  <a:pt x="434" y="288"/>
                  <a:pt x="416" y="288"/>
                </a:cubicBezTo>
                <a:cubicBezTo>
                  <a:pt x="398" y="288"/>
                  <a:pt x="384" y="302"/>
                  <a:pt x="384" y="320"/>
                </a:cubicBezTo>
                <a:lnTo>
                  <a:pt x="384" y="416"/>
                </a:lnTo>
                <a:cubicBezTo>
                  <a:pt x="384" y="434"/>
                  <a:pt x="370" y="448"/>
                  <a:pt x="352" y="448"/>
                </a:cubicBezTo>
                <a:lnTo>
                  <a:pt x="96" y="448"/>
                </a:lnTo>
                <a:cubicBezTo>
                  <a:pt x="78" y="448"/>
                  <a:pt x="64" y="434"/>
                  <a:pt x="64" y="416"/>
                </a:cubicBezTo>
                <a:lnTo>
                  <a:pt x="64" y="160"/>
                </a:lnTo>
                <a:cubicBezTo>
                  <a:pt x="64" y="142"/>
                  <a:pt x="78" y="128"/>
                  <a:pt x="96" y="128"/>
                </a:cubicBezTo>
                <a:lnTo>
                  <a:pt x="192" y="128"/>
                </a:lnTo>
                <a:cubicBezTo>
                  <a:pt x="210" y="128"/>
                  <a:pt x="224" y="114"/>
                  <a:pt x="224" y="96"/>
                </a:cubicBezTo>
                <a:cubicBezTo>
                  <a:pt x="224" y="78"/>
                  <a:pt x="210" y="64"/>
                  <a:pt x="192" y="64"/>
                </a:cubicBezTo>
                <a:lnTo>
                  <a:pt x="96" y="64"/>
                </a:lnTo>
                <a:close/>
                <a:moveTo>
                  <a:pt x="172" y="242"/>
                </a:moveTo>
                <a:cubicBezTo>
                  <a:pt x="166" y="248"/>
                  <a:pt x="162" y="255"/>
                  <a:pt x="159" y="264"/>
                </a:cubicBezTo>
                <a:lnTo>
                  <a:pt x="129" y="352"/>
                </a:lnTo>
                <a:cubicBezTo>
                  <a:pt x="126" y="361"/>
                  <a:pt x="129" y="371"/>
                  <a:pt x="135" y="377"/>
                </a:cubicBezTo>
                <a:cubicBezTo>
                  <a:pt x="142" y="384"/>
                  <a:pt x="151" y="386"/>
                  <a:pt x="160" y="383"/>
                </a:cubicBezTo>
                <a:lnTo>
                  <a:pt x="249" y="353"/>
                </a:lnTo>
                <a:cubicBezTo>
                  <a:pt x="257" y="351"/>
                  <a:pt x="264" y="346"/>
                  <a:pt x="270" y="340"/>
                </a:cubicBezTo>
                <a:lnTo>
                  <a:pt x="432" y="178"/>
                </a:lnTo>
                <a:lnTo>
                  <a:pt x="334" y="80"/>
                </a:lnTo>
                <a:lnTo>
                  <a:pt x="172" y="242"/>
                </a:lnTo>
                <a:close/>
              </a:path>
            </a:pathLst>
          </a:custGeom>
          <a:solidFill>
            <a:srgbClr val="1E4D3B"/>
          </a:solidFill>
          <a:ln>
            <a:noFill/>
          </a:ln>
        </p:spPr>
      </p:sp>
      <p:sp>
        <p:nvSpPr>
          <p:cNvPr id="32" name="action-text"/>
          <p:cNvSpPr txBox="1"/>
          <p:nvPr/>
        </p:nvSpPr>
        <p:spPr>
          <a:xfrm>
            <a:off x="1346200" y="5892800"/>
            <a:ext cx="99822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1250" b="1">
                <a:solidFill>
                  <a:srgbClr val="22211E"/>
                </a:solidFill>
                <a:latin typeface="MiSans"/>
                <a:ea typeface="MiSans"/>
              </a:rPr>
              <a:t>现场练习(5 分钟):</a:t>
            </a:r>
            <a:r>
              <a:rPr lang="en-US" sz="1250">
                <a:solidFill>
                  <a:srgbClr val="22211E"/>
                </a:solidFill>
                <a:latin typeface="MiSans"/>
                <a:ea typeface="MiSans"/>
              </a:rPr>
              <a:t>把你自己的一个周报 / 例行任务,按「目标 · 资源 · 边界 · 验收」写成一张任务委派单。</a:t>
            </a:r>
            <a:endParaRPr lang="en-US" sz="1250"/>
          </a:p>
        </p:txBody>
      </p:sp>
      <p:sp>
        <p:nvSpPr>
          <p:cNvPr id="33" name="footer-line"/>
          <p:cNvSpPr/>
          <p:nvPr>
            <p:extLst>
              <p:ext uri="{F5677B7D-0D2A-4D9B-9A5C-6D8D7D0E5A5D}">
                <pptd:line encoding="base64url">eyJjdXJ2ZSI6InJvdW5kIiwicG9pbnRzIjoiMCwxIDg0OCwxIiwidmlld0JveCI6Wzg0OCwyXX0</pptd:line>
              </p:ext>
            </p:extLst>
          </p:nvPr>
        </p:nvSpPr>
        <p:spPr>
          <a:xfrm>
            <a:off x="711200" y="6362700"/>
            <a:ext cx="10769600" cy="25400"/>
          </a:xfrm>
          <a:custGeom>
            <a:avLst/>
            <a:gdLst/>
            <a:ahLst/>
            <a:cxnLst/>
            <a:rect l="l" t="t" r="r" b="b"/>
            <a:pathLst>
              <a:path w="848" h="2">
                <a:moveTo>
                  <a:pt x="0" y="1"/>
                </a:moveTo>
                <a:lnTo>
                  <a:pt x="848" y="1"/>
                </a:lnTo>
              </a:path>
            </a:pathLst>
          </a:custGeom>
          <a:noFill/>
          <a:ln w="12700" cap="rnd">
            <a:solidFill>
              <a:srgbClr val="D8D3C8"/>
            </a:solidFill>
            <a:round/>
          </a:ln>
        </p:spPr>
      </p:sp>
      <p:sp>
        <p:nvSpPr>
          <p:cNvPr id="34" name="footer-left"/>
          <p:cNvSpPr txBox="1"/>
          <p:nvPr/>
        </p:nvSpPr>
        <p:spPr>
          <a:xfrm>
            <a:off x="711200" y="6477000"/>
            <a:ext cx="711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40000"/>
              </a:lnSpc>
            </a:pPr>
            <a:r>
              <a:rPr lang="en-US" sz="1000">
                <a:solidFill>
                  <a:srgbClr val="6B675F"/>
                </a:solidFill>
                <a:latin typeface="Liter"/>
                <a:ea typeface="Liter"/>
              </a:rPr>
              <a:t>智墒场景为教学演示/示例 · 东方智感 AI 内训第三期</a:t>
            </a:r>
            <a:endParaRPr lang="en-US" sz="1000"/>
          </a:p>
        </p:txBody>
      </p:sp>
      <p:sp>
        <p:nvSpPr>
          <p:cNvPr id="35" name="footer-right"/>
          <p:cNvSpPr txBox="1"/>
          <p:nvPr/>
        </p:nvSpPr>
        <p:spPr>
          <a:xfrm>
            <a:off x="10210800" y="64770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r">
              <a:lnSpc>
                <a:spcPct val="140000"/>
              </a:lnSpc>
            </a:pPr>
            <a:r>
              <a:rPr lang="en-US" sz="1000">
                <a:solidFill>
                  <a:srgbClr val="6B675F"/>
                </a:solidFill>
                <a:latin typeface="Liter"/>
                <a:ea typeface="Liter"/>
              </a:rPr>
              <a:t>11</a:t>
            </a:r>
            <a:endParaRPr lang="en-US" sz="10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508000"/>
            <a:ext cx="533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100" b="1" spc="200" kern="0">
                <a:solidFill>
                  <a:srgbClr val="C26A2E"/>
                </a:solidFill>
                <a:latin typeface="Liter"/>
                <a:ea typeface="Liter"/>
              </a:rPr>
              <a:t>02 · 智能体思维</a:t>
            </a:r>
            <a:endParaRPr lang="en-US" sz="1100"/>
          </a:p>
        </p:txBody>
      </p:sp>
      <p:sp>
        <p:nvSpPr>
          <p:cNvPr id="3" name="title"/>
          <p:cNvSpPr txBox="1"/>
          <p:nvPr/>
        </p:nvSpPr>
        <p:spPr>
          <a:xfrm>
            <a:off x="711200" y="7874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22211E"/>
                </a:solidFill>
                <a:latin typeface="Liter"/>
                <a:ea typeface="Liter"/>
              </a:rPr>
              <a:t>快答、深思考、深研究、智能体:什么时候用谁</a:t>
            </a:r>
            <a:endParaRPr lang="en-US" sz="2600"/>
          </a:p>
        </p:txBody>
      </p:sp>
      <p:sp>
        <p:nvSpPr>
          <p:cNvPr id="4" name="grid-vline"/>
          <p:cNvSpPr/>
          <p:nvPr>
            <p:extLst>
              <p:ext uri="{F5677B7D-0D2A-4D9B-9A5C-6D8D7D0E5A5D}">
                <pptd:line encoding="base64url">eyJjdXJ2ZSI6InJvdW5kIiwicG9pbnRzIjoiMSwwIDEsMjgwIiwidmlld0JveCI6WzIsMjgwXX0</pptd:line>
              </p:ext>
            </p:extLst>
          </p:nvPr>
        </p:nvSpPr>
        <p:spPr>
          <a:xfrm>
            <a:off x="4305300" y="1905000"/>
            <a:ext cx="25400" cy="3556000"/>
          </a:xfrm>
          <a:custGeom>
            <a:avLst/>
            <a:gdLst/>
            <a:ahLst/>
            <a:cxnLst/>
            <a:rect l="l" t="t" r="r" b="b"/>
            <a:pathLst>
              <a:path w="2" h="280">
                <a:moveTo>
                  <a:pt x="1" y="0"/>
                </a:moveTo>
                <a:lnTo>
                  <a:pt x="1" y="280"/>
                </a:lnTo>
              </a:path>
            </a:pathLst>
          </a:custGeom>
          <a:noFill/>
          <a:ln w="12700" cap="rnd">
            <a:solidFill>
              <a:srgbClr val="D8D3C8"/>
            </a:solidFill>
            <a:round/>
          </a:ln>
        </p:spPr>
      </p:sp>
      <p:sp>
        <p:nvSpPr>
          <p:cNvPr id="5" name="grid-hline"/>
          <p:cNvSpPr/>
          <p:nvPr>
            <p:extLst>
              <p:ext uri="{F5677B7D-0D2A-4D9B-9A5C-6D8D7D0E5A5D}">
                <pptd:line encoding="base64url">eyJjdXJ2ZSI6InJvdW5kIiwicG9pbnRzIjoiMCwxIDQ2MCwxIiwidmlld0JveCI6WzQ2MCwyXX0</pptd:line>
              </p:ext>
            </p:extLst>
          </p:nvPr>
        </p:nvSpPr>
        <p:spPr>
          <a:xfrm>
            <a:off x="1397000" y="3670300"/>
            <a:ext cx="5842000" cy="25400"/>
          </a:xfrm>
          <a:custGeom>
            <a:avLst/>
            <a:gdLst/>
            <a:ahLst/>
            <a:cxnLst/>
            <a:rect l="l" t="t" r="r" b="b"/>
            <a:pathLst>
              <a:path w="460" h="2">
                <a:moveTo>
                  <a:pt x="0" y="1"/>
                </a:moveTo>
                <a:lnTo>
                  <a:pt x="460" y="1"/>
                </a:lnTo>
              </a:path>
            </a:pathLst>
          </a:custGeom>
          <a:noFill/>
          <a:ln w="12700" cap="rnd">
            <a:solidFill>
              <a:srgbClr val="D8D3C8"/>
            </a:solidFill>
            <a:round/>
          </a:ln>
        </p:spPr>
      </p:sp>
      <p:sp>
        <p:nvSpPr>
          <p:cNvPr id="6" name="axis-y-label"/>
          <p:cNvSpPr txBox="1"/>
          <p:nvPr/>
        </p:nvSpPr>
        <p:spPr>
          <a:xfrm rot="16200000">
            <a:off x="101600" y="3327400"/>
            <a:ext cx="1651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100">
                <a:solidFill>
                  <a:srgbClr val="6B675F"/>
                </a:solidFill>
                <a:latin typeface="MiSans"/>
                <a:ea typeface="MiSans"/>
              </a:rPr>
              <a:t>路径确定性:低 → 高</a:t>
            </a:r>
            <a:endParaRPr lang="en-US" sz="1100"/>
          </a:p>
        </p:txBody>
      </p:sp>
      <p:sp>
        <p:nvSpPr>
          <p:cNvPr id="7" name="axis-x-label"/>
          <p:cNvSpPr txBox="1"/>
          <p:nvPr/>
        </p:nvSpPr>
        <p:spPr>
          <a:xfrm>
            <a:off x="1397000" y="5588000"/>
            <a:ext cx="584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100">
                <a:solidFill>
                  <a:srgbClr val="6B675F"/>
                </a:solidFill>
                <a:latin typeface="MiSans"/>
                <a:ea typeface="MiSans"/>
              </a:rPr>
              <a:t>任务时长:短 → 长</a:t>
            </a:r>
            <a:endParaRPr lang="en-US" sz="1100"/>
          </a:p>
        </p:txBody>
      </p:sp>
      <p:sp>
        <p:nvSpPr>
          <p:cNvPr id="8" name="cellA-icon"/>
          <p:cNvSpPr/>
          <p:nvPr>
            <p:extLst>
              <p:ext uri="{F5677B7D-0D2A-4D9B-9A5C-6D8D7D0E5A5D}">
                <pptd:icon encoding="base64url">eyJpY29uTmFtZSI6ImZhczpib2x0In0</pptd:icon>
              </p:ext>
            </p:extLst>
          </p:nvPr>
        </p:nvSpPr>
        <p:spPr>
          <a:xfrm>
            <a:off x="1574800" y="20574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339" y="-10"/>
                </a:moveTo>
                <a:cubicBezTo>
                  <a:pt x="351" y="-1"/>
                  <a:pt x="355" y="14"/>
                  <a:pt x="350" y="28"/>
                </a:cubicBezTo>
                <a:lnTo>
                  <a:pt x="271" y="224"/>
                </a:lnTo>
                <a:lnTo>
                  <a:pt x="416" y="224"/>
                </a:lnTo>
                <a:cubicBezTo>
                  <a:pt x="430" y="224"/>
                  <a:pt x="442" y="232"/>
                  <a:pt x="446" y="245"/>
                </a:cubicBezTo>
                <a:cubicBezTo>
                  <a:pt x="451" y="258"/>
                  <a:pt x="447" y="272"/>
                  <a:pt x="437" y="281"/>
                </a:cubicBezTo>
                <a:lnTo>
                  <a:pt x="149" y="521"/>
                </a:lnTo>
                <a:cubicBezTo>
                  <a:pt x="137" y="530"/>
                  <a:pt x="121" y="531"/>
                  <a:pt x="109" y="522"/>
                </a:cubicBezTo>
                <a:cubicBezTo>
                  <a:pt x="97" y="513"/>
                  <a:pt x="93" y="498"/>
                  <a:pt x="98" y="484"/>
                </a:cubicBezTo>
                <a:lnTo>
                  <a:pt x="177" y="288"/>
                </a:lnTo>
                <a:lnTo>
                  <a:pt x="32" y="288"/>
                </a:lnTo>
                <a:cubicBezTo>
                  <a:pt x="19" y="288"/>
                  <a:pt x="7" y="280"/>
                  <a:pt x="2" y="267"/>
                </a:cubicBezTo>
                <a:cubicBezTo>
                  <a:pt x="-3" y="254"/>
                  <a:pt x="1" y="240"/>
                  <a:pt x="11" y="231"/>
                </a:cubicBezTo>
                <a:lnTo>
                  <a:pt x="300" y="-9"/>
                </a:lnTo>
                <a:cubicBezTo>
                  <a:pt x="311" y="-18"/>
                  <a:pt x="327" y="-19"/>
                  <a:pt x="339" y="-10"/>
                </a:cubicBezTo>
                <a:close/>
              </a:path>
            </a:pathLst>
          </a:custGeom>
          <a:solidFill>
            <a:srgbClr val="1E4D3B"/>
          </a:solidFill>
          <a:ln>
            <a:noFill/>
          </a:ln>
        </p:spPr>
      </p:sp>
      <p:sp>
        <p:nvSpPr>
          <p:cNvPr id="9" name="cellA-title"/>
          <p:cNvSpPr txBox="1"/>
          <p:nvPr/>
        </p:nvSpPr>
        <p:spPr>
          <a:xfrm>
            <a:off x="1879600" y="2032000"/>
            <a:ext cx="2286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300" b="1">
                <a:solidFill>
                  <a:srgbClr val="1E4D3B"/>
                </a:solidFill>
                <a:latin typeface="MiSans"/>
                <a:ea typeface="MiSans"/>
              </a:rPr>
              <a:t>即时问答 · 快模型</a:t>
            </a:r>
            <a:endParaRPr lang="en-US" sz="1300"/>
          </a:p>
        </p:txBody>
      </p:sp>
      <p:sp>
        <p:nvSpPr>
          <p:cNvPr id="10" name="cellA-when"/>
          <p:cNvSpPr txBox="1"/>
          <p:nvPr/>
        </p:nvSpPr>
        <p:spPr>
          <a:xfrm>
            <a:off x="1574800" y="23876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100">
                <a:solidFill>
                  <a:srgbClr val="6B675F"/>
                </a:solidFill>
                <a:latin typeface="MiSans"/>
                <a:ea typeface="MiSans"/>
              </a:rPr>
              <a:t>一步出结果,路径确定</a:t>
            </a:r>
            <a:endParaRPr lang="en-US" sz="1100"/>
          </a:p>
        </p:txBody>
      </p:sp>
      <p:sp>
        <p:nvSpPr>
          <p:cNvPr id="11" name="cellA-example"/>
          <p:cNvSpPr txBox="1"/>
          <p:nvPr/>
        </p:nvSpPr>
        <p:spPr>
          <a:xfrm>
            <a:off x="1574800" y="2667000"/>
            <a:ext cx="25908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50000"/>
              </a:lnSpc>
            </a:pPr>
            <a:r>
              <a:rPr lang="en-US" sz="1100">
                <a:solidFill>
                  <a:srgbClr val="22211E"/>
                </a:solidFill>
                <a:latin typeface="MiSans"/>
                <a:ea typeface="MiSans"/>
              </a:rPr>
              <a:t>例:解释「田间持水量」、</a:t>
            </a:r>
            <a:endParaRPr lang="en-US" sz="1100"/>
          </a:p>
          <a:p>
            <a:pPr algn="l">
              <a:lnSpc>
                <a:spcPct val="150000"/>
              </a:lnSpc>
            </a:pPr>
            <a:r>
              <a:rPr lang="en-US" sz="1100">
                <a:solidFill>
                  <a:srgbClr val="22211E"/>
                </a:solidFill>
                <a:latin typeface="MiSans"/>
                <a:ea typeface="MiSans"/>
              </a:rPr>
              <a:t>把一段话改写成公告口吻</a:t>
            </a:r>
            <a:endParaRPr lang="en-US" sz="1100"/>
          </a:p>
        </p:txBody>
      </p:sp>
      <p:sp>
        <p:nvSpPr>
          <p:cNvPr id="12" name="cellB-icon"/>
          <p:cNvSpPr/>
          <p:nvPr>
            <p:extLst>
              <p:ext uri="{F5677B7D-0D2A-4D9B-9A5C-6D8D7D0E5A5D}">
                <pptd:icon encoding="base64url">eyJpY29uTmFtZSI6ImZhczptYWduaWZ5aW5nLWdsYXNzLWNoYXJ0In0</pptd:icon>
              </p:ext>
            </p:extLst>
          </p:nvPr>
        </p:nvSpPr>
        <p:spPr>
          <a:xfrm>
            <a:off x="4495800" y="20574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416" y="208"/>
                </a:moveTo>
                <a:cubicBezTo>
                  <a:pt x="416" y="254"/>
                  <a:pt x="401" y="296"/>
                  <a:pt x="376" y="331"/>
                </a:cubicBezTo>
                <a:lnTo>
                  <a:pt x="503" y="457"/>
                </a:lnTo>
                <a:cubicBezTo>
                  <a:pt x="515" y="470"/>
                  <a:pt x="515" y="490"/>
                  <a:pt x="503" y="503"/>
                </a:cubicBezTo>
                <a:cubicBezTo>
                  <a:pt x="490" y="515"/>
                  <a:pt x="470" y="515"/>
                  <a:pt x="457" y="503"/>
                </a:cubicBezTo>
                <a:lnTo>
                  <a:pt x="331" y="376"/>
                </a:lnTo>
                <a:cubicBezTo>
                  <a:pt x="296" y="401"/>
                  <a:pt x="254" y="416"/>
                  <a:pt x="208" y="416"/>
                </a:cubicBezTo>
                <a:cubicBezTo>
                  <a:pt x="93" y="416"/>
                  <a:pt x="0" y="323"/>
                  <a:pt x="0" y="208"/>
                </a:cubicBezTo>
                <a:cubicBezTo>
                  <a:pt x="0" y="93"/>
                  <a:pt x="93" y="0"/>
                  <a:pt x="208" y="0"/>
                </a:cubicBezTo>
                <a:cubicBezTo>
                  <a:pt x="323" y="0"/>
                  <a:pt x="416" y="93"/>
                  <a:pt x="416" y="208"/>
                </a:cubicBezTo>
                <a:close/>
                <a:moveTo>
                  <a:pt x="104" y="216"/>
                </a:moveTo>
                <a:lnTo>
                  <a:pt x="104" y="280"/>
                </a:lnTo>
                <a:cubicBezTo>
                  <a:pt x="104" y="293"/>
                  <a:pt x="115" y="304"/>
                  <a:pt x="128" y="304"/>
                </a:cubicBezTo>
                <a:cubicBezTo>
                  <a:pt x="141" y="304"/>
                  <a:pt x="152" y="293"/>
                  <a:pt x="152" y="280"/>
                </a:cubicBezTo>
                <a:lnTo>
                  <a:pt x="152" y="216"/>
                </a:lnTo>
                <a:cubicBezTo>
                  <a:pt x="152" y="203"/>
                  <a:pt x="141" y="192"/>
                  <a:pt x="128" y="192"/>
                </a:cubicBezTo>
                <a:cubicBezTo>
                  <a:pt x="115" y="192"/>
                  <a:pt x="104" y="203"/>
                  <a:pt x="104" y="216"/>
                </a:cubicBezTo>
                <a:close/>
                <a:moveTo>
                  <a:pt x="184" y="120"/>
                </a:moveTo>
                <a:lnTo>
                  <a:pt x="184" y="280"/>
                </a:lnTo>
                <a:cubicBezTo>
                  <a:pt x="184" y="293"/>
                  <a:pt x="195" y="304"/>
                  <a:pt x="208" y="304"/>
                </a:cubicBezTo>
                <a:cubicBezTo>
                  <a:pt x="221" y="304"/>
                  <a:pt x="232" y="293"/>
                  <a:pt x="232" y="280"/>
                </a:cubicBezTo>
                <a:lnTo>
                  <a:pt x="232" y="120"/>
                </a:lnTo>
                <a:cubicBezTo>
                  <a:pt x="232" y="107"/>
                  <a:pt x="221" y="96"/>
                  <a:pt x="208" y="96"/>
                </a:cubicBezTo>
                <a:cubicBezTo>
                  <a:pt x="195" y="96"/>
                  <a:pt x="184" y="107"/>
                  <a:pt x="184" y="120"/>
                </a:cubicBezTo>
                <a:close/>
                <a:moveTo>
                  <a:pt x="264" y="184"/>
                </a:moveTo>
                <a:lnTo>
                  <a:pt x="264" y="280"/>
                </a:lnTo>
                <a:cubicBezTo>
                  <a:pt x="264" y="293"/>
                  <a:pt x="275" y="304"/>
                  <a:pt x="288" y="304"/>
                </a:cubicBezTo>
                <a:cubicBezTo>
                  <a:pt x="301" y="304"/>
                  <a:pt x="312" y="293"/>
                  <a:pt x="312" y="280"/>
                </a:cubicBezTo>
                <a:lnTo>
                  <a:pt x="312" y="184"/>
                </a:lnTo>
                <a:cubicBezTo>
                  <a:pt x="312" y="171"/>
                  <a:pt x="301" y="160"/>
                  <a:pt x="288" y="160"/>
                </a:cubicBezTo>
                <a:cubicBezTo>
                  <a:pt x="275" y="160"/>
                  <a:pt x="264" y="171"/>
                  <a:pt x="264" y="184"/>
                </a:cubicBezTo>
                <a:close/>
              </a:path>
            </a:pathLst>
          </a:custGeom>
          <a:solidFill>
            <a:srgbClr val="1E4D3B"/>
          </a:solidFill>
          <a:ln>
            <a:noFill/>
          </a:ln>
        </p:spPr>
      </p:sp>
      <p:sp>
        <p:nvSpPr>
          <p:cNvPr id="13" name="cellB-title"/>
          <p:cNvSpPr txBox="1"/>
          <p:nvPr/>
        </p:nvSpPr>
        <p:spPr>
          <a:xfrm>
            <a:off x="4800600" y="2032000"/>
            <a:ext cx="2362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300" b="1">
                <a:solidFill>
                  <a:srgbClr val="1E4D3B"/>
                </a:solidFill>
                <a:latin typeface="MiSans"/>
                <a:ea typeface="MiSans"/>
              </a:rPr>
              <a:t>广域调研 · Deep Research</a:t>
            </a:r>
            <a:endParaRPr lang="en-US" sz="1300"/>
          </a:p>
        </p:txBody>
      </p:sp>
      <p:sp>
        <p:nvSpPr>
          <p:cNvPr id="14" name="cellB-when"/>
          <p:cNvSpPr txBox="1"/>
          <p:nvPr/>
        </p:nvSpPr>
        <p:spPr>
          <a:xfrm>
            <a:off x="4495800" y="23876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100">
                <a:solidFill>
                  <a:srgbClr val="6B675F"/>
                </a:solidFill>
                <a:latin typeface="MiSans"/>
                <a:ea typeface="MiSans"/>
              </a:rPr>
              <a:t>流程固定但步骤多、耗时长</a:t>
            </a:r>
            <a:endParaRPr lang="en-US" sz="1100"/>
          </a:p>
        </p:txBody>
      </p:sp>
      <p:sp>
        <p:nvSpPr>
          <p:cNvPr id="15" name="cellB-example"/>
          <p:cNvSpPr txBox="1"/>
          <p:nvPr/>
        </p:nvSpPr>
        <p:spPr>
          <a:xfrm>
            <a:off x="4495800" y="2667000"/>
            <a:ext cx="25908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50000"/>
              </a:lnSpc>
            </a:pPr>
            <a:r>
              <a:rPr lang="en-US" sz="1100">
                <a:solidFill>
                  <a:srgbClr val="22211E"/>
                </a:solidFill>
                <a:latin typeface="MiSans"/>
                <a:ea typeface="MiSans"/>
              </a:rPr>
              <a:t>例:竞品与水利政策调研,</a:t>
            </a:r>
            <a:endParaRPr lang="en-US" sz="1100"/>
          </a:p>
          <a:p>
            <a:pPr algn="l">
              <a:lnSpc>
                <a:spcPct val="150000"/>
              </a:lnSpc>
            </a:pPr>
            <a:r>
              <a:rPr lang="en-US" sz="1100">
                <a:solidFill>
                  <a:srgbClr val="22211E"/>
                </a:solidFill>
                <a:latin typeface="MiSans"/>
                <a:ea typeface="MiSans"/>
              </a:rPr>
              <a:t>自动检索后产出综述报告</a:t>
            </a:r>
            <a:endParaRPr lang="en-US" sz="1100"/>
          </a:p>
        </p:txBody>
      </p:sp>
      <p:sp>
        <p:nvSpPr>
          <p:cNvPr id="16" name="cellC-icon"/>
          <p:cNvSpPr/>
          <p:nvPr>
            <p:extLst>
              <p:ext uri="{F5677B7D-0D2A-4D9B-9A5C-6D8D7D0E5A5D}">
                <pptd:icon encoding="base64url">eyJpY29uTmFtZSI6ImZhczpicmFpbiJ9</pptd:icon>
              </p:ext>
            </p:extLst>
          </p:nvPr>
        </p:nvSpPr>
        <p:spPr>
          <a:xfrm>
            <a:off x="1574800" y="38354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20" y="56"/>
                </a:moveTo>
                <a:cubicBezTo>
                  <a:pt x="120" y="25"/>
                  <a:pt x="145" y="0"/>
                  <a:pt x="176" y="0"/>
                </a:cubicBezTo>
                <a:lnTo>
                  <a:pt x="200" y="0"/>
                </a:lnTo>
                <a:cubicBezTo>
                  <a:pt x="218" y="0"/>
                  <a:pt x="232" y="14"/>
                  <a:pt x="232" y="32"/>
                </a:cubicBezTo>
                <a:lnTo>
                  <a:pt x="232" y="480"/>
                </a:lnTo>
                <a:cubicBezTo>
                  <a:pt x="232" y="498"/>
                  <a:pt x="218" y="512"/>
                  <a:pt x="200" y="512"/>
                </a:cubicBezTo>
                <a:lnTo>
                  <a:pt x="168" y="512"/>
                </a:lnTo>
                <a:cubicBezTo>
                  <a:pt x="138" y="512"/>
                  <a:pt x="113" y="492"/>
                  <a:pt x="106" y="464"/>
                </a:cubicBezTo>
                <a:cubicBezTo>
                  <a:pt x="105" y="464"/>
                  <a:pt x="105" y="464"/>
                  <a:pt x="104" y="464"/>
                </a:cubicBezTo>
                <a:cubicBezTo>
                  <a:pt x="60" y="464"/>
                  <a:pt x="24" y="428"/>
                  <a:pt x="24" y="384"/>
                </a:cubicBezTo>
                <a:cubicBezTo>
                  <a:pt x="24" y="366"/>
                  <a:pt x="30" y="349"/>
                  <a:pt x="40" y="336"/>
                </a:cubicBezTo>
                <a:cubicBezTo>
                  <a:pt x="21" y="321"/>
                  <a:pt x="8" y="298"/>
                  <a:pt x="8" y="272"/>
                </a:cubicBezTo>
                <a:cubicBezTo>
                  <a:pt x="8" y="241"/>
                  <a:pt x="26" y="214"/>
                  <a:pt x="51" y="201"/>
                </a:cubicBezTo>
                <a:cubicBezTo>
                  <a:pt x="44" y="189"/>
                  <a:pt x="40" y="175"/>
                  <a:pt x="40" y="160"/>
                </a:cubicBezTo>
                <a:cubicBezTo>
                  <a:pt x="40" y="116"/>
                  <a:pt x="76" y="80"/>
                  <a:pt x="120" y="80"/>
                </a:cubicBezTo>
                <a:lnTo>
                  <a:pt x="120" y="56"/>
                </a:lnTo>
                <a:close/>
                <a:moveTo>
                  <a:pt x="392" y="56"/>
                </a:moveTo>
                <a:lnTo>
                  <a:pt x="392" y="80"/>
                </a:lnTo>
                <a:cubicBezTo>
                  <a:pt x="436" y="80"/>
                  <a:pt x="472" y="116"/>
                  <a:pt x="472" y="160"/>
                </a:cubicBezTo>
                <a:cubicBezTo>
                  <a:pt x="472" y="175"/>
                  <a:pt x="468" y="189"/>
                  <a:pt x="461" y="201"/>
                </a:cubicBezTo>
                <a:cubicBezTo>
                  <a:pt x="487" y="214"/>
                  <a:pt x="504" y="241"/>
                  <a:pt x="504" y="272"/>
                </a:cubicBezTo>
                <a:cubicBezTo>
                  <a:pt x="504" y="298"/>
                  <a:pt x="491" y="321"/>
                  <a:pt x="472" y="336"/>
                </a:cubicBezTo>
                <a:cubicBezTo>
                  <a:pt x="482" y="349"/>
                  <a:pt x="488" y="366"/>
                  <a:pt x="488" y="384"/>
                </a:cubicBezTo>
                <a:cubicBezTo>
                  <a:pt x="488" y="428"/>
                  <a:pt x="452" y="464"/>
                  <a:pt x="408" y="464"/>
                </a:cubicBezTo>
                <a:cubicBezTo>
                  <a:pt x="407" y="464"/>
                  <a:pt x="407" y="464"/>
                  <a:pt x="406" y="464"/>
                </a:cubicBezTo>
                <a:cubicBezTo>
                  <a:pt x="399" y="492"/>
                  <a:pt x="374" y="512"/>
                  <a:pt x="344" y="512"/>
                </a:cubicBezTo>
                <a:lnTo>
                  <a:pt x="312" y="512"/>
                </a:lnTo>
                <a:cubicBezTo>
                  <a:pt x="294" y="512"/>
                  <a:pt x="280" y="498"/>
                  <a:pt x="280" y="480"/>
                </a:cubicBezTo>
                <a:lnTo>
                  <a:pt x="280" y="32"/>
                </a:lnTo>
                <a:cubicBezTo>
                  <a:pt x="280" y="14"/>
                  <a:pt x="294" y="0"/>
                  <a:pt x="312" y="0"/>
                </a:cubicBezTo>
                <a:lnTo>
                  <a:pt x="336" y="0"/>
                </a:lnTo>
                <a:cubicBezTo>
                  <a:pt x="367" y="0"/>
                  <a:pt x="392" y="25"/>
                  <a:pt x="392" y="56"/>
                </a:cubicBezTo>
                <a:close/>
              </a:path>
            </a:pathLst>
          </a:custGeom>
          <a:solidFill>
            <a:srgbClr val="1E4D3B"/>
          </a:solidFill>
          <a:ln>
            <a:noFill/>
          </a:ln>
        </p:spPr>
      </p:sp>
      <p:sp>
        <p:nvSpPr>
          <p:cNvPr id="17" name="cellC-title"/>
          <p:cNvSpPr txBox="1"/>
          <p:nvPr/>
        </p:nvSpPr>
        <p:spPr>
          <a:xfrm>
            <a:off x="1879600" y="3810000"/>
            <a:ext cx="2286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300" b="1">
                <a:solidFill>
                  <a:srgbClr val="1E4D3B"/>
                </a:solidFill>
                <a:latin typeface="MiSans"/>
                <a:ea typeface="MiSans"/>
              </a:rPr>
              <a:t>复杂推理 · 推理模型</a:t>
            </a:r>
            <a:endParaRPr lang="en-US" sz="1300"/>
          </a:p>
        </p:txBody>
      </p:sp>
      <p:sp>
        <p:nvSpPr>
          <p:cNvPr id="18" name="cellC-when"/>
          <p:cNvSpPr txBox="1"/>
          <p:nvPr/>
        </p:nvSpPr>
        <p:spPr>
          <a:xfrm>
            <a:off x="1574800" y="41656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100">
                <a:solidFill>
                  <a:srgbClr val="6B675F"/>
                </a:solidFill>
                <a:latin typeface="MiSans"/>
                <a:ea typeface="MiSans"/>
              </a:rPr>
              <a:t>路径不确定,需要深度思考</a:t>
            </a:r>
            <a:endParaRPr lang="en-US" sz="1100"/>
          </a:p>
        </p:txBody>
      </p:sp>
      <p:sp>
        <p:nvSpPr>
          <p:cNvPr id="19" name="cellC-example"/>
          <p:cNvSpPr txBox="1"/>
          <p:nvPr/>
        </p:nvSpPr>
        <p:spPr>
          <a:xfrm>
            <a:off x="1574800" y="4445000"/>
            <a:ext cx="25908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50000"/>
              </a:lnSpc>
            </a:pPr>
            <a:r>
              <a:rPr lang="en-US" sz="1100">
                <a:solidFill>
                  <a:srgbClr val="22211E"/>
                </a:solidFill>
                <a:latin typeface="MiSans"/>
                <a:ea typeface="MiSans"/>
              </a:rPr>
              <a:t>例:灌溉模型调参的推导、</a:t>
            </a:r>
            <a:endParaRPr lang="en-US" sz="1100"/>
          </a:p>
          <a:p>
            <a:pPr algn="l">
              <a:lnSpc>
                <a:spcPct val="150000"/>
              </a:lnSpc>
            </a:pPr>
            <a:r>
              <a:rPr lang="en-US" sz="1100">
                <a:solidFill>
                  <a:srgbClr val="22211E"/>
                </a:solidFill>
                <a:latin typeface="MiSans"/>
                <a:ea typeface="MiSans"/>
              </a:rPr>
              <a:t>一次复杂的方案比选</a:t>
            </a:r>
            <a:endParaRPr lang="en-US" sz="1100"/>
          </a:p>
        </p:txBody>
      </p:sp>
      <p:sp>
        <p:nvSpPr>
          <p:cNvPr id="20" name="cellD-icon"/>
          <p:cNvSpPr/>
          <p:nvPr>
            <p:extLst>
              <p:ext uri="{F5677B7D-0D2A-4D9B-9A5C-6D8D7D0E5A5D}">
                <pptd:icon encoding="base64url">eyJpY29uTmFtZSI6ImZhczpyb2JvdCJ9</pptd:icon>
              </p:ext>
            </p:extLst>
          </p:nvPr>
        </p:nvSpPr>
        <p:spPr>
          <a:xfrm>
            <a:off x="4495800" y="38354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352" y="0"/>
                </a:moveTo>
                <a:cubicBezTo>
                  <a:pt x="352" y="-18"/>
                  <a:pt x="338" y="-32"/>
                  <a:pt x="320" y="-32"/>
                </a:cubicBezTo>
                <a:cubicBezTo>
                  <a:pt x="302" y="-32"/>
                  <a:pt x="288" y="-18"/>
                  <a:pt x="288" y="0"/>
                </a:cubicBezTo>
                <a:lnTo>
                  <a:pt x="288" y="64"/>
                </a:lnTo>
                <a:lnTo>
                  <a:pt x="192" y="64"/>
                </a:lnTo>
                <a:cubicBezTo>
                  <a:pt x="139" y="64"/>
                  <a:pt x="96" y="107"/>
                  <a:pt x="96" y="160"/>
                </a:cubicBezTo>
                <a:lnTo>
                  <a:pt x="96" y="384"/>
                </a:lnTo>
                <a:cubicBezTo>
                  <a:pt x="96" y="437"/>
                  <a:pt x="139" y="480"/>
                  <a:pt x="192" y="480"/>
                </a:cubicBezTo>
                <a:lnTo>
                  <a:pt x="448" y="480"/>
                </a:lnTo>
                <a:cubicBezTo>
                  <a:pt x="501" y="480"/>
                  <a:pt x="544" y="437"/>
                  <a:pt x="544" y="384"/>
                </a:cubicBezTo>
                <a:lnTo>
                  <a:pt x="544" y="160"/>
                </a:lnTo>
                <a:cubicBezTo>
                  <a:pt x="544" y="107"/>
                  <a:pt x="501" y="64"/>
                  <a:pt x="448" y="64"/>
                </a:cubicBezTo>
                <a:lnTo>
                  <a:pt x="352" y="64"/>
                </a:lnTo>
                <a:lnTo>
                  <a:pt x="352" y="0"/>
                </a:lnTo>
                <a:close/>
                <a:moveTo>
                  <a:pt x="160" y="368"/>
                </a:moveTo>
                <a:cubicBezTo>
                  <a:pt x="160" y="355"/>
                  <a:pt x="171" y="344"/>
                  <a:pt x="184" y="344"/>
                </a:cubicBezTo>
                <a:lnTo>
                  <a:pt x="216" y="344"/>
                </a:lnTo>
                <a:cubicBezTo>
                  <a:pt x="229" y="344"/>
                  <a:pt x="240" y="355"/>
                  <a:pt x="240" y="368"/>
                </a:cubicBezTo>
                <a:cubicBezTo>
                  <a:pt x="240" y="381"/>
                  <a:pt x="229" y="392"/>
                  <a:pt x="216" y="392"/>
                </a:cubicBezTo>
                <a:lnTo>
                  <a:pt x="184" y="392"/>
                </a:lnTo>
                <a:cubicBezTo>
                  <a:pt x="171" y="392"/>
                  <a:pt x="160" y="381"/>
                  <a:pt x="160" y="368"/>
                </a:cubicBezTo>
                <a:close/>
                <a:moveTo>
                  <a:pt x="280" y="368"/>
                </a:moveTo>
                <a:cubicBezTo>
                  <a:pt x="280" y="355"/>
                  <a:pt x="291" y="344"/>
                  <a:pt x="304" y="344"/>
                </a:cubicBezTo>
                <a:lnTo>
                  <a:pt x="336" y="344"/>
                </a:lnTo>
                <a:cubicBezTo>
                  <a:pt x="349" y="344"/>
                  <a:pt x="360" y="355"/>
                  <a:pt x="360" y="368"/>
                </a:cubicBezTo>
                <a:cubicBezTo>
                  <a:pt x="360" y="381"/>
                  <a:pt x="349" y="392"/>
                  <a:pt x="336" y="392"/>
                </a:cubicBezTo>
                <a:lnTo>
                  <a:pt x="304" y="392"/>
                </a:lnTo>
                <a:cubicBezTo>
                  <a:pt x="291" y="392"/>
                  <a:pt x="280" y="381"/>
                  <a:pt x="280" y="368"/>
                </a:cubicBezTo>
                <a:close/>
                <a:moveTo>
                  <a:pt x="400" y="368"/>
                </a:moveTo>
                <a:cubicBezTo>
                  <a:pt x="400" y="355"/>
                  <a:pt x="411" y="344"/>
                  <a:pt x="424" y="344"/>
                </a:cubicBezTo>
                <a:lnTo>
                  <a:pt x="456" y="344"/>
                </a:lnTo>
                <a:cubicBezTo>
                  <a:pt x="469" y="344"/>
                  <a:pt x="480" y="355"/>
                  <a:pt x="480" y="368"/>
                </a:cubicBezTo>
                <a:cubicBezTo>
                  <a:pt x="480" y="381"/>
                  <a:pt x="469" y="392"/>
                  <a:pt x="456" y="392"/>
                </a:cubicBezTo>
                <a:lnTo>
                  <a:pt x="424" y="392"/>
                </a:lnTo>
                <a:cubicBezTo>
                  <a:pt x="411" y="392"/>
                  <a:pt x="400" y="381"/>
                  <a:pt x="400" y="368"/>
                </a:cubicBezTo>
                <a:close/>
                <a:moveTo>
                  <a:pt x="224" y="176"/>
                </a:moveTo>
                <a:cubicBezTo>
                  <a:pt x="251" y="176"/>
                  <a:pt x="272" y="197"/>
                  <a:pt x="272" y="224"/>
                </a:cubicBezTo>
                <a:cubicBezTo>
                  <a:pt x="272" y="251"/>
                  <a:pt x="251" y="272"/>
                  <a:pt x="224" y="272"/>
                </a:cubicBezTo>
                <a:cubicBezTo>
                  <a:pt x="197" y="272"/>
                  <a:pt x="176" y="251"/>
                  <a:pt x="176" y="224"/>
                </a:cubicBezTo>
                <a:cubicBezTo>
                  <a:pt x="176" y="197"/>
                  <a:pt x="197" y="176"/>
                  <a:pt x="224" y="176"/>
                </a:cubicBezTo>
                <a:close/>
                <a:moveTo>
                  <a:pt x="368" y="224"/>
                </a:moveTo>
                <a:cubicBezTo>
                  <a:pt x="368" y="197"/>
                  <a:pt x="389" y="176"/>
                  <a:pt x="416" y="176"/>
                </a:cubicBezTo>
                <a:cubicBezTo>
                  <a:pt x="443" y="176"/>
                  <a:pt x="464" y="197"/>
                  <a:pt x="464" y="224"/>
                </a:cubicBezTo>
                <a:cubicBezTo>
                  <a:pt x="464" y="251"/>
                  <a:pt x="443" y="272"/>
                  <a:pt x="416" y="272"/>
                </a:cubicBezTo>
                <a:cubicBezTo>
                  <a:pt x="389" y="272"/>
                  <a:pt x="368" y="251"/>
                  <a:pt x="368" y="224"/>
                </a:cubicBezTo>
                <a:close/>
                <a:moveTo>
                  <a:pt x="64" y="224"/>
                </a:moveTo>
                <a:cubicBezTo>
                  <a:pt x="64" y="206"/>
                  <a:pt x="50" y="192"/>
                  <a:pt x="32" y="192"/>
                </a:cubicBezTo>
                <a:cubicBezTo>
                  <a:pt x="14" y="192"/>
                  <a:pt x="0" y="206"/>
                  <a:pt x="0" y="224"/>
                </a:cubicBezTo>
                <a:lnTo>
                  <a:pt x="0" y="320"/>
                </a:lnTo>
                <a:cubicBezTo>
                  <a:pt x="0" y="338"/>
                  <a:pt x="14" y="352"/>
                  <a:pt x="32" y="352"/>
                </a:cubicBezTo>
                <a:cubicBezTo>
                  <a:pt x="50" y="352"/>
                  <a:pt x="64" y="338"/>
                  <a:pt x="64" y="320"/>
                </a:cubicBezTo>
                <a:lnTo>
                  <a:pt x="64" y="224"/>
                </a:lnTo>
                <a:close/>
                <a:moveTo>
                  <a:pt x="608" y="192"/>
                </a:moveTo>
                <a:cubicBezTo>
                  <a:pt x="590" y="192"/>
                  <a:pt x="576" y="206"/>
                  <a:pt x="576" y="224"/>
                </a:cubicBezTo>
                <a:lnTo>
                  <a:pt x="576" y="320"/>
                </a:lnTo>
                <a:cubicBezTo>
                  <a:pt x="576" y="338"/>
                  <a:pt x="590" y="352"/>
                  <a:pt x="608" y="352"/>
                </a:cubicBezTo>
                <a:cubicBezTo>
                  <a:pt x="626" y="352"/>
                  <a:pt x="640" y="338"/>
                  <a:pt x="640" y="320"/>
                </a:cubicBezTo>
                <a:lnTo>
                  <a:pt x="640" y="224"/>
                </a:lnTo>
                <a:cubicBezTo>
                  <a:pt x="640" y="206"/>
                  <a:pt x="626" y="192"/>
                  <a:pt x="608" y="192"/>
                </a:cubicBezTo>
                <a:close/>
              </a:path>
            </a:pathLst>
          </a:custGeom>
          <a:solidFill>
            <a:srgbClr val="C26A2E"/>
          </a:solidFill>
          <a:ln>
            <a:noFill/>
          </a:ln>
        </p:spPr>
      </p:sp>
      <p:sp>
        <p:nvSpPr>
          <p:cNvPr id="21" name="cellD-title"/>
          <p:cNvSpPr txBox="1"/>
          <p:nvPr/>
        </p:nvSpPr>
        <p:spPr>
          <a:xfrm>
            <a:off x="4800600" y="3810000"/>
            <a:ext cx="2362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300" b="1">
                <a:solidFill>
                  <a:srgbClr val="C26A2E"/>
                </a:solidFill>
                <a:latin typeface="MiSans"/>
                <a:ea typeface="MiSans"/>
              </a:rPr>
              <a:t>多步干活 · Agent(本期主角)</a:t>
            </a:r>
            <a:endParaRPr lang="en-US" sz="1300"/>
          </a:p>
        </p:txBody>
      </p:sp>
      <p:sp>
        <p:nvSpPr>
          <p:cNvPr id="22" name="cellD-when"/>
          <p:cNvSpPr txBox="1"/>
          <p:nvPr/>
        </p:nvSpPr>
        <p:spPr>
          <a:xfrm>
            <a:off x="4495800" y="41656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100">
                <a:solidFill>
                  <a:srgbClr val="6B675F"/>
                </a:solidFill>
                <a:latin typeface="MiSans"/>
                <a:ea typeface="MiSans"/>
              </a:rPr>
              <a:t>边做边看,路径现场定</a:t>
            </a:r>
            <a:endParaRPr lang="en-US" sz="1100"/>
          </a:p>
        </p:txBody>
      </p:sp>
      <p:sp>
        <p:nvSpPr>
          <p:cNvPr id="23" name="cellD-example"/>
          <p:cNvSpPr txBox="1"/>
          <p:nvPr/>
        </p:nvSpPr>
        <p:spPr>
          <a:xfrm>
            <a:off x="4495800" y="4445000"/>
            <a:ext cx="25908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50000"/>
              </a:lnSpc>
            </a:pPr>
            <a:r>
              <a:rPr lang="en-US" sz="1100">
                <a:solidFill>
                  <a:srgbClr val="22211E"/>
                </a:solidFill>
                <a:latin typeface="MiSans"/>
                <a:ea typeface="MiSans"/>
              </a:rPr>
              <a:t>例:生成并发送巡检报告、</a:t>
            </a:r>
            <a:endParaRPr lang="en-US" sz="1100"/>
          </a:p>
          <a:p>
            <a:pPr algn="l">
              <a:lnSpc>
                <a:spcPct val="150000"/>
              </a:lnSpc>
            </a:pPr>
            <a:r>
              <a:rPr lang="en-US" sz="1100">
                <a:solidFill>
                  <a:srgbClr val="22211E"/>
                </a:solidFill>
                <a:latin typeface="MiSans"/>
                <a:ea typeface="MiSans"/>
              </a:rPr>
              <a:t>数据异常自动排查几圈</a:t>
            </a:r>
            <a:endParaRPr lang="en-US" sz="1100"/>
          </a:p>
        </p:txBody>
      </p:sp>
      <p:sp>
        <p:nvSpPr>
          <p:cNvPr id="24" name="order-label"/>
          <p:cNvSpPr txBox="1"/>
          <p:nvPr/>
        </p:nvSpPr>
        <p:spPr>
          <a:xfrm>
            <a:off x="7747000" y="1905000"/>
            <a:ext cx="3733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E4D3B"/>
                </a:solidFill>
                <a:latin typeface="Liter"/>
                <a:ea typeface="Liter"/>
              </a:rPr>
              <a:t>判断顺序:先简后繁</a:t>
            </a:r>
            <a:endParaRPr lang="en-US" sz="1500"/>
          </a:p>
        </p:txBody>
      </p:sp>
      <p:sp>
        <p:nvSpPr>
          <p:cNvPr id="25" name="order-list"/>
          <p:cNvSpPr txBox="1"/>
          <p:nvPr/>
        </p:nvSpPr>
        <p:spPr>
          <a:xfrm>
            <a:off x="7747000" y="2286000"/>
            <a:ext cx="3733800" cy="1320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50000"/>
              </a:lnSpc>
            </a:pPr>
            <a:r>
              <a:rPr lang="en-US" sz="1200" b="1">
                <a:solidFill>
                  <a:srgbClr val="22211E"/>
                </a:solidFill>
                <a:latin typeface="MiSans"/>
                <a:ea typeface="MiSans"/>
              </a:rPr>
              <a:t>1</a:t>
            </a:r>
            <a:r>
              <a:rPr lang="en-US" sz="1200">
                <a:solidFill>
                  <a:srgbClr val="22211E"/>
                </a:solidFill>
                <a:latin typeface="MiSans"/>
                <a:ea typeface="MiSans"/>
              </a:rPr>
              <a:t> 一次问答能解决 → 快答</a:t>
            </a:r>
            <a:endParaRPr lang="en-US" sz="120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200" b="1">
                <a:solidFill>
                  <a:srgbClr val="22211E"/>
                </a:solidFill>
                <a:latin typeface="MiSans"/>
                <a:ea typeface="MiSans"/>
              </a:rPr>
              <a:t>2</a:t>
            </a:r>
            <a:r>
              <a:rPr lang="en-US" sz="1200">
                <a:solidFill>
                  <a:srgbClr val="22211E"/>
                </a:solidFill>
                <a:latin typeface="MiSans"/>
                <a:ea typeface="MiSans"/>
              </a:rPr>
              <a:t> 要想很久但一步到位 → 推理模型</a:t>
            </a:r>
            <a:endParaRPr lang="en-US" sz="120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200" b="1">
                <a:solidFill>
                  <a:srgbClr val="22211E"/>
                </a:solidFill>
                <a:latin typeface="MiSans"/>
                <a:ea typeface="MiSans"/>
              </a:rPr>
              <a:t>3</a:t>
            </a:r>
            <a:r>
              <a:rPr lang="en-US" sz="1200">
                <a:solidFill>
                  <a:srgbClr val="22211E"/>
                </a:solidFill>
                <a:latin typeface="MiSans"/>
                <a:ea typeface="MiSans"/>
              </a:rPr>
              <a:t> 要查大量资料再综述 → Deep Research</a:t>
            </a:r>
            <a:endParaRPr lang="en-US" sz="120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200" b="1">
                <a:solidFill>
                  <a:srgbClr val="22211E"/>
                </a:solidFill>
                <a:latin typeface="MiSans"/>
                <a:ea typeface="MiSans"/>
              </a:rPr>
              <a:t>4</a:t>
            </a:r>
            <a:r>
              <a:rPr lang="en-US" sz="1200">
                <a:solidFill>
                  <a:srgbClr val="22211E"/>
                </a:solidFill>
                <a:latin typeface="MiSans"/>
                <a:ea typeface="MiSans"/>
              </a:rPr>
              <a:t> 要多步操作、看结果再定 → Agent</a:t>
            </a:r>
            <a:endParaRPr lang="en-US" sz="1200"/>
          </a:p>
        </p:txBody>
      </p:sp>
      <p:sp>
        <p:nvSpPr>
          <p:cNvPr id="26" name="trap-box"/>
          <p:cNvSpPr/>
          <p:nvPr/>
        </p:nvSpPr>
        <p:spPr>
          <a:xfrm>
            <a:off x="7747000" y="3810000"/>
            <a:ext cx="3733800" cy="1498600"/>
          </a:xfrm>
          <a:prstGeom prst="rect">
            <a:avLst/>
          </a:prstGeom>
          <a:solidFill>
            <a:srgbClr val="F7EBDC"/>
          </a:solidFill>
          <a:ln>
            <a:noFill/>
          </a:ln>
        </p:spPr>
      </p:sp>
      <p:sp>
        <p:nvSpPr>
          <p:cNvPr id="27" name="trap-title"/>
          <p:cNvSpPr txBox="1"/>
          <p:nvPr/>
        </p:nvSpPr>
        <p:spPr>
          <a:xfrm>
            <a:off x="7950200" y="3962400"/>
            <a:ext cx="3327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300" b="1">
                <a:solidFill>
                  <a:srgbClr val="22211E"/>
                </a:solidFill>
                <a:latin typeface="MiSans"/>
                <a:ea typeface="MiSans"/>
              </a:rPr>
              <a:t>误区提醒</a:t>
            </a:r>
            <a:endParaRPr lang="en-US" sz="1300"/>
          </a:p>
        </p:txBody>
      </p:sp>
      <p:sp>
        <p:nvSpPr>
          <p:cNvPr id="28" name="trap-desc"/>
          <p:cNvSpPr txBox="1"/>
          <p:nvPr/>
        </p:nvSpPr>
        <p:spPr>
          <a:xfrm>
            <a:off x="7950200" y="4267200"/>
            <a:ext cx="33274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55000"/>
              </a:lnSpc>
            </a:pPr>
            <a:r>
              <a:rPr lang="en-US" sz="1100">
                <a:solidFill>
                  <a:srgbClr val="22211E"/>
                </a:solidFill>
                <a:latin typeface="MiSans"/>
                <a:ea typeface="MiSans"/>
              </a:rPr>
              <a:t>不要什么都开 Agent。循环有成本——更慢、更贵、出错环节更多。能一次答完的,别派活。</a:t>
            </a:r>
            <a:endParaRPr lang="en-US" sz="1100"/>
          </a:p>
        </p:txBody>
      </p:sp>
      <p:sp>
        <p:nvSpPr>
          <p:cNvPr id="29" name="check-tip"/>
          <p:cNvSpPr txBox="1"/>
          <p:nvPr/>
        </p:nvSpPr>
        <p:spPr>
          <a:xfrm>
            <a:off x="7747000" y="5537200"/>
            <a:ext cx="37338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50000"/>
              </a:lnSpc>
            </a:pPr>
            <a:r>
              <a:rPr lang="en-US" sz="1100">
                <a:solidFill>
                  <a:srgbClr val="6B675F"/>
                </a:solidFill>
                <a:latin typeface="Liter"/>
                <a:ea typeface="Liter"/>
              </a:rPr>
              <a:t>检查:拿到任务先问两句——路径能写死吗?大概要多久?</a:t>
            </a:r>
            <a:endParaRPr lang="en-US" sz="1100"/>
          </a:p>
        </p:txBody>
      </p:sp>
      <p:sp>
        <p:nvSpPr>
          <p:cNvPr id="30" name="footer-line"/>
          <p:cNvSpPr/>
          <p:nvPr>
            <p:extLst>
              <p:ext uri="{F5677B7D-0D2A-4D9B-9A5C-6D8D7D0E5A5D}">
                <pptd:line encoding="base64url">eyJjdXJ2ZSI6InJvdW5kIiwicG9pbnRzIjoiMCwxIDg0OCwxIiwidmlld0JveCI6Wzg0OCwyXX0</pptd:line>
              </p:ext>
            </p:extLst>
          </p:nvPr>
        </p:nvSpPr>
        <p:spPr>
          <a:xfrm>
            <a:off x="711200" y="6362700"/>
            <a:ext cx="10769600" cy="25400"/>
          </a:xfrm>
          <a:custGeom>
            <a:avLst/>
            <a:gdLst/>
            <a:ahLst/>
            <a:cxnLst/>
            <a:rect l="l" t="t" r="r" b="b"/>
            <a:pathLst>
              <a:path w="848" h="2">
                <a:moveTo>
                  <a:pt x="0" y="1"/>
                </a:moveTo>
                <a:lnTo>
                  <a:pt x="848" y="1"/>
                </a:lnTo>
              </a:path>
            </a:pathLst>
          </a:custGeom>
          <a:noFill/>
          <a:ln w="12700" cap="rnd">
            <a:solidFill>
              <a:srgbClr val="D8D3C8"/>
            </a:solidFill>
            <a:round/>
          </a:ln>
        </p:spPr>
      </p:sp>
      <p:sp>
        <p:nvSpPr>
          <p:cNvPr id="31" name="footer-left"/>
          <p:cNvSpPr txBox="1"/>
          <p:nvPr/>
        </p:nvSpPr>
        <p:spPr>
          <a:xfrm>
            <a:off x="711200" y="6477000"/>
            <a:ext cx="787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40000"/>
              </a:lnSpc>
            </a:pPr>
            <a:r>
              <a:rPr lang="en-US" sz="1000">
                <a:solidFill>
                  <a:srgbClr val="6B675F"/>
                </a:solidFill>
                <a:latin typeface="Liter"/>
                <a:ea typeface="Liter"/>
              </a:rPr>
              <a:t>模式名称据公开产品发布信息整理 · 公司例子为教学演示 · 东方智感 AI 内训第三期</a:t>
            </a:r>
            <a:endParaRPr lang="en-US" sz="1000"/>
          </a:p>
        </p:txBody>
      </p:sp>
      <p:sp>
        <p:nvSpPr>
          <p:cNvPr id="32" name="footer-right"/>
          <p:cNvSpPr txBox="1"/>
          <p:nvPr/>
        </p:nvSpPr>
        <p:spPr>
          <a:xfrm>
            <a:off x="10210800" y="64770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r">
              <a:lnSpc>
                <a:spcPct val="140000"/>
              </a:lnSpc>
            </a:pPr>
            <a:r>
              <a:rPr lang="en-US" sz="1000">
                <a:solidFill>
                  <a:srgbClr val="6B675F"/>
                </a:solidFill>
                <a:latin typeface="Liter"/>
                <a:ea typeface="Liter"/>
              </a:rPr>
              <a:t>12</a:t>
            </a:r>
            <a:endParaRPr lang="en-US" sz="10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508000"/>
            <a:ext cx="533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100" b="1" spc="200" kern="0">
                <a:solidFill>
                  <a:srgbClr val="C26A2E"/>
                </a:solidFill>
                <a:latin typeface="Liter"/>
                <a:ea typeface="Liter"/>
              </a:rPr>
              <a:t>02 · 智能体思维</a:t>
            </a:r>
            <a:endParaRPr lang="en-US" sz="1100"/>
          </a:p>
        </p:txBody>
      </p:sp>
      <p:sp>
        <p:nvSpPr>
          <p:cNvPr id="3" name="title"/>
          <p:cNvSpPr txBox="1"/>
          <p:nvPr/>
        </p:nvSpPr>
        <p:spPr>
          <a:xfrm>
            <a:off x="711200" y="7874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22211E"/>
                </a:solidFill>
                <a:latin typeface="Liter"/>
                <a:ea typeface="Liter"/>
              </a:rPr>
              <a:t>上下文工程:Prompt Engineering 的下一站</a:t>
            </a:r>
            <a:endParaRPr lang="en-US" sz="2600"/>
          </a:p>
        </p:txBody>
      </p:sp>
      <p:sp>
        <p:nvSpPr>
          <p:cNvPr id="4" name="layer1-box"/>
          <p:cNvSpPr/>
          <p:nvPr/>
        </p:nvSpPr>
        <p:spPr>
          <a:xfrm>
            <a:off x="711200" y="1879600"/>
            <a:ext cx="38100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</a:ln>
        </p:spPr>
      </p:sp>
      <p:sp>
        <p:nvSpPr>
          <p:cNvPr id="5" name="layer1-accent"/>
          <p:cNvSpPr/>
          <p:nvPr/>
        </p:nvSpPr>
        <p:spPr>
          <a:xfrm>
            <a:off x="711200" y="1879600"/>
            <a:ext cx="50800" cy="584200"/>
          </a:xfrm>
          <a:prstGeom prst="rect">
            <a:avLst/>
          </a:prstGeom>
          <a:solidFill>
            <a:srgbClr val="1E4D3B"/>
          </a:solidFill>
          <a:ln>
            <a:noFill/>
          </a:ln>
        </p:spPr>
      </p:sp>
      <p:sp>
        <p:nvSpPr>
          <p:cNvPr id="6" name="layer1-text"/>
          <p:cNvSpPr txBox="1"/>
          <p:nvPr/>
        </p:nvSpPr>
        <p:spPr>
          <a:xfrm>
            <a:off x="914400" y="1879600"/>
            <a:ext cx="35052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30000"/>
              </a:lnSpc>
            </a:pPr>
            <a:r>
              <a:rPr lang="en-US" sz="1250" b="1">
                <a:solidFill>
                  <a:srgbClr val="22211E"/>
                </a:solidFill>
                <a:latin typeface="MiSans"/>
                <a:ea typeface="MiSans"/>
              </a:rPr>
              <a:t>系统提示 · System Prompt</a:t>
            </a:r>
            <a:endParaRPr lang="en-US" sz="1600"/>
          </a:p>
          <a:p>
            <a:pPr algn="l">
              <a:lnSpc>
                <a:spcPct val="130000"/>
              </a:lnSpc>
            </a:pPr>
            <a:r>
              <a:rPr lang="en-US" sz="1000">
                <a:solidFill>
                  <a:srgbClr val="6B675F"/>
                </a:solidFill>
                <a:latin typeface="MiSans"/>
                <a:ea typeface="MiSans"/>
              </a:rPr>
              <a:t>角色、规则、输出要求</a:t>
            </a:r>
            <a:endParaRPr lang="en-US" sz="1600"/>
          </a:p>
        </p:txBody>
      </p:sp>
      <p:sp>
        <p:nvSpPr>
          <p:cNvPr id="7" name="layer2-box"/>
          <p:cNvSpPr/>
          <p:nvPr/>
        </p:nvSpPr>
        <p:spPr>
          <a:xfrm>
            <a:off x="711200" y="2565400"/>
            <a:ext cx="38100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</a:ln>
        </p:spPr>
      </p:sp>
      <p:sp>
        <p:nvSpPr>
          <p:cNvPr id="8" name="layer2-accent"/>
          <p:cNvSpPr/>
          <p:nvPr/>
        </p:nvSpPr>
        <p:spPr>
          <a:xfrm>
            <a:off x="711200" y="2565400"/>
            <a:ext cx="50800" cy="584200"/>
          </a:xfrm>
          <a:prstGeom prst="rect">
            <a:avLst/>
          </a:prstGeom>
          <a:solidFill>
            <a:srgbClr val="1E4D3B"/>
          </a:solidFill>
          <a:ln>
            <a:noFill/>
          </a:ln>
        </p:spPr>
      </p:sp>
      <p:sp>
        <p:nvSpPr>
          <p:cNvPr id="9" name="layer2-text"/>
          <p:cNvSpPr txBox="1"/>
          <p:nvPr/>
        </p:nvSpPr>
        <p:spPr>
          <a:xfrm>
            <a:off x="914400" y="2565400"/>
            <a:ext cx="35052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30000"/>
              </a:lnSpc>
            </a:pPr>
            <a:r>
              <a:rPr lang="en-US" sz="1250" b="1">
                <a:solidFill>
                  <a:srgbClr val="22211E"/>
                </a:solidFill>
                <a:latin typeface="MiSans"/>
                <a:ea typeface="MiSans"/>
              </a:rPr>
              <a:t>记忆 · Memory</a:t>
            </a:r>
            <a:endParaRPr lang="en-US" sz="1600"/>
          </a:p>
          <a:p>
            <a:pPr algn="l">
              <a:lnSpc>
                <a:spcPct val="130000"/>
              </a:lnSpc>
            </a:pPr>
            <a:r>
              <a:rPr lang="en-US" sz="1000">
                <a:solidFill>
                  <a:srgbClr val="6B675F"/>
                </a:solidFill>
                <a:latin typeface="MiSans"/>
                <a:ea typeface="MiSans"/>
              </a:rPr>
              <a:t>偏好、历史结论、项目背景</a:t>
            </a:r>
            <a:endParaRPr lang="en-US" sz="1600"/>
          </a:p>
        </p:txBody>
      </p:sp>
      <p:sp>
        <p:nvSpPr>
          <p:cNvPr id="10" name="layer3-box"/>
          <p:cNvSpPr/>
          <p:nvPr/>
        </p:nvSpPr>
        <p:spPr>
          <a:xfrm>
            <a:off x="711200" y="3251200"/>
            <a:ext cx="38100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</a:ln>
        </p:spPr>
      </p:sp>
      <p:sp>
        <p:nvSpPr>
          <p:cNvPr id="11" name="layer3-accent"/>
          <p:cNvSpPr/>
          <p:nvPr/>
        </p:nvSpPr>
        <p:spPr>
          <a:xfrm>
            <a:off x="711200" y="3251200"/>
            <a:ext cx="50800" cy="584200"/>
          </a:xfrm>
          <a:prstGeom prst="rect">
            <a:avLst/>
          </a:prstGeom>
          <a:solidFill>
            <a:srgbClr val="1E4D3B"/>
          </a:solidFill>
          <a:ln>
            <a:noFill/>
          </a:ln>
        </p:spPr>
      </p:sp>
      <p:sp>
        <p:nvSpPr>
          <p:cNvPr id="12" name="layer3-text"/>
          <p:cNvSpPr txBox="1"/>
          <p:nvPr/>
        </p:nvSpPr>
        <p:spPr>
          <a:xfrm>
            <a:off x="914400" y="3251200"/>
            <a:ext cx="35052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30000"/>
              </a:lnSpc>
            </a:pPr>
            <a:r>
              <a:rPr lang="en-US" sz="1250" b="1">
                <a:solidFill>
                  <a:srgbClr val="22211E"/>
                </a:solidFill>
                <a:latin typeface="MiSans"/>
                <a:ea typeface="MiSans"/>
              </a:rPr>
              <a:t>检索资料 · RAG</a:t>
            </a:r>
            <a:endParaRPr lang="en-US" sz="1600"/>
          </a:p>
          <a:p>
            <a:pPr algn="l">
              <a:lnSpc>
                <a:spcPct val="130000"/>
              </a:lnSpc>
            </a:pPr>
            <a:r>
              <a:rPr lang="en-US" sz="1000">
                <a:solidFill>
                  <a:srgbClr val="6B675F"/>
                </a:solidFill>
                <a:latin typeface="MiSans"/>
                <a:ea typeface="MiSans"/>
              </a:rPr>
              <a:t>知识库、文档、实时数据</a:t>
            </a:r>
            <a:endParaRPr lang="en-US" sz="1600"/>
          </a:p>
        </p:txBody>
      </p:sp>
      <p:sp>
        <p:nvSpPr>
          <p:cNvPr id="13" name="layer4-box"/>
          <p:cNvSpPr/>
          <p:nvPr/>
        </p:nvSpPr>
        <p:spPr>
          <a:xfrm>
            <a:off x="711200" y="3937000"/>
            <a:ext cx="38100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</a:ln>
        </p:spPr>
      </p:sp>
      <p:sp>
        <p:nvSpPr>
          <p:cNvPr id="14" name="layer4-accent"/>
          <p:cNvSpPr/>
          <p:nvPr/>
        </p:nvSpPr>
        <p:spPr>
          <a:xfrm>
            <a:off x="711200" y="3937000"/>
            <a:ext cx="50800" cy="584200"/>
          </a:xfrm>
          <a:prstGeom prst="rect">
            <a:avLst/>
          </a:prstGeom>
          <a:solidFill>
            <a:srgbClr val="1E4D3B"/>
          </a:solidFill>
          <a:ln>
            <a:noFill/>
          </a:ln>
        </p:spPr>
      </p:sp>
      <p:sp>
        <p:nvSpPr>
          <p:cNvPr id="15" name="layer4-text"/>
          <p:cNvSpPr txBox="1"/>
          <p:nvPr/>
        </p:nvSpPr>
        <p:spPr>
          <a:xfrm>
            <a:off x="914400" y="3937000"/>
            <a:ext cx="35052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30000"/>
              </a:lnSpc>
            </a:pPr>
            <a:r>
              <a:rPr lang="en-US" sz="1250" b="1">
                <a:solidFill>
                  <a:srgbClr val="22211E"/>
                </a:solidFill>
                <a:latin typeface="MiSans"/>
                <a:ea typeface="MiSans"/>
              </a:rPr>
              <a:t>工具说明 · Tools</a:t>
            </a:r>
            <a:endParaRPr lang="en-US" sz="1600"/>
          </a:p>
          <a:p>
            <a:pPr algn="l">
              <a:lnSpc>
                <a:spcPct val="130000"/>
              </a:lnSpc>
            </a:pPr>
            <a:r>
              <a:rPr lang="en-US" sz="1000">
                <a:solidFill>
                  <a:srgbClr val="6B675F"/>
                </a:solidFill>
                <a:latin typeface="MiSans"/>
                <a:ea typeface="MiSans"/>
              </a:rPr>
              <a:t>可用工具清单与参数说明</a:t>
            </a:r>
            <a:endParaRPr lang="en-US" sz="1600"/>
          </a:p>
        </p:txBody>
      </p:sp>
      <p:sp>
        <p:nvSpPr>
          <p:cNvPr id="16" name="layer5-box"/>
          <p:cNvSpPr/>
          <p:nvPr/>
        </p:nvSpPr>
        <p:spPr>
          <a:xfrm>
            <a:off x="711200" y="4622800"/>
            <a:ext cx="38100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</a:ln>
        </p:spPr>
      </p:sp>
      <p:sp>
        <p:nvSpPr>
          <p:cNvPr id="17" name="layer5-accent"/>
          <p:cNvSpPr/>
          <p:nvPr/>
        </p:nvSpPr>
        <p:spPr>
          <a:xfrm>
            <a:off x="711200" y="4622800"/>
            <a:ext cx="50800" cy="584200"/>
          </a:xfrm>
          <a:prstGeom prst="rect">
            <a:avLst/>
          </a:prstGeom>
          <a:solidFill>
            <a:srgbClr val="C26A2E"/>
          </a:solidFill>
          <a:ln>
            <a:noFill/>
          </a:ln>
        </p:spPr>
      </p:sp>
      <p:sp>
        <p:nvSpPr>
          <p:cNvPr id="18" name="layer5-text"/>
          <p:cNvSpPr txBox="1"/>
          <p:nvPr/>
        </p:nvSpPr>
        <p:spPr>
          <a:xfrm>
            <a:off x="914400" y="4622800"/>
            <a:ext cx="35052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30000"/>
              </a:lnSpc>
            </a:pPr>
            <a:r>
              <a:rPr lang="en-US" sz="1250" b="1">
                <a:solidFill>
                  <a:srgbClr val="22211E"/>
                </a:solidFill>
                <a:latin typeface="MiSans"/>
                <a:ea typeface="MiSans"/>
              </a:rPr>
              <a:t>对话历史 · History</a:t>
            </a:r>
            <a:endParaRPr lang="en-US" sz="1600"/>
          </a:p>
          <a:p>
            <a:pPr algn="l">
              <a:lnSpc>
                <a:spcPct val="130000"/>
              </a:lnSpc>
            </a:pPr>
            <a:r>
              <a:rPr lang="en-US" sz="1000">
                <a:solidFill>
                  <a:srgbClr val="6B675F"/>
                </a:solidFill>
                <a:latin typeface="MiSans"/>
                <a:ea typeface="MiSans"/>
              </a:rPr>
              <a:t>多轮对话 + 你最新的提问</a:t>
            </a:r>
            <a:endParaRPr lang="en-US" sz="1600"/>
          </a:p>
        </p:txBody>
      </p:sp>
      <p:sp>
        <p:nvSpPr>
          <p:cNvPr id="19" name="layer5-note"/>
          <p:cNvSpPr txBox="1"/>
          <p:nvPr/>
        </p:nvSpPr>
        <p:spPr>
          <a:xfrm>
            <a:off x="914400" y="5283200"/>
            <a:ext cx="3606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050">
                <a:solidFill>
                  <a:srgbClr val="C26A2E"/>
                </a:solidFill>
                <a:latin typeface="MiSans"/>
                <a:ea typeface="MiSans"/>
              </a:rPr>
              <a:t>▲ 你写的 Prompt,住在第 5 层——只是其中一小块</a:t>
            </a:r>
            <a:endParaRPr lang="en-US" sz="1050"/>
          </a:p>
        </p:txBody>
      </p:sp>
      <p:sp>
        <p:nvSpPr>
          <p:cNvPr id="20" name="merge-chevron"/>
          <p:cNvSpPr/>
          <p:nvPr/>
        </p:nvSpPr>
        <p:spPr>
          <a:xfrm>
            <a:off x="4724400" y="3302000"/>
            <a:ext cx="431800" cy="508000"/>
          </a:xfrm>
          <a:prstGeom prst="chevron">
            <a:avLst/>
          </a:prstGeom>
          <a:solidFill>
            <a:srgbClr val="1E4D3B"/>
          </a:solidFill>
          <a:ln>
            <a:noFill/>
          </a:ln>
        </p:spPr>
      </p:sp>
      <p:sp>
        <p:nvSpPr>
          <p:cNvPr id="21" name="merge-label"/>
          <p:cNvSpPr txBox="1"/>
          <p:nvPr/>
        </p:nvSpPr>
        <p:spPr>
          <a:xfrm>
            <a:off x="4622800" y="3886200"/>
            <a:ext cx="635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ctr">
              <a:lnSpc>
                <a:spcPct val="120000"/>
              </a:lnSpc>
            </a:pPr>
            <a:r>
              <a:rPr lang="en-US" sz="1000">
                <a:solidFill>
                  <a:srgbClr val="6B675F"/>
                </a:solidFill>
                <a:latin typeface="MiSans"/>
                <a:ea typeface="MiSans"/>
              </a:rPr>
              <a:t>拼成</a:t>
            </a:r>
            <a:endParaRPr lang="en-US" sz="1000"/>
          </a:p>
        </p:txBody>
      </p:sp>
      <p:sp>
        <p:nvSpPr>
          <p:cNvPr id="22" name="world-box"/>
          <p:cNvSpPr/>
          <p:nvPr/>
        </p:nvSpPr>
        <p:spPr>
          <a:xfrm>
            <a:off x="5384800" y="2362200"/>
            <a:ext cx="2235200" cy="2413000"/>
          </a:xfrm>
          <a:prstGeom prst="rect">
            <a:avLst/>
          </a:prstGeom>
          <a:solidFill>
            <a:srgbClr val="1E4D3B"/>
          </a:solidFill>
          <a:ln>
            <a:noFill/>
          </a:ln>
        </p:spPr>
      </p:sp>
      <p:sp>
        <p:nvSpPr>
          <p:cNvPr id="23" name="world-icon"/>
          <p:cNvSpPr/>
          <p:nvPr>
            <p:extLst>
              <p:ext uri="{F5677B7D-0D2A-4D9B-9A5C-6D8D7D0E5A5D}">
                <pptd:icon encoding="base64url">eyJpY29uTmFtZSI6ImZhczpnbG9iZSJ9</pptd:icon>
              </p:ext>
            </p:extLst>
          </p:nvPr>
        </p:nvSpPr>
        <p:spPr>
          <a:xfrm>
            <a:off x="6299200" y="26924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352" y="280"/>
                </a:moveTo>
                <a:lnTo>
                  <a:pt x="161" y="280"/>
                </a:lnTo>
                <a:cubicBezTo>
                  <a:pt x="164" y="345"/>
                  <a:pt x="178" y="404"/>
                  <a:pt x="198" y="447"/>
                </a:cubicBezTo>
                <a:cubicBezTo>
                  <a:pt x="210" y="472"/>
                  <a:pt x="222" y="489"/>
                  <a:pt x="234" y="500"/>
                </a:cubicBezTo>
                <a:cubicBezTo>
                  <a:pt x="245" y="510"/>
                  <a:pt x="252" y="512"/>
                  <a:pt x="256" y="512"/>
                </a:cubicBezTo>
                <a:cubicBezTo>
                  <a:pt x="260" y="512"/>
                  <a:pt x="268" y="510"/>
                  <a:pt x="279" y="500"/>
                </a:cubicBezTo>
                <a:cubicBezTo>
                  <a:pt x="291" y="489"/>
                  <a:pt x="303" y="472"/>
                  <a:pt x="314" y="447"/>
                </a:cubicBezTo>
                <a:cubicBezTo>
                  <a:pt x="335" y="404"/>
                  <a:pt x="349" y="345"/>
                  <a:pt x="352" y="280"/>
                </a:cubicBezTo>
                <a:close/>
                <a:moveTo>
                  <a:pt x="161" y="232"/>
                </a:moveTo>
                <a:lnTo>
                  <a:pt x="352" y="232"/>
                </a:lnTo>
                <a:cubicBezTo>
                  <a:pt x="349" y="168"/>
                  <a:pt x="335" y="108"/>
                  <a:pt x="314" y="65"/>
                </a:cubicBezTo>
                <a:cubicBezTo>
                  <a:pt x="303" y="40"/>
                  <a:pt x="291" y="23"/>
                  <a:pt x="279" y="12"/>
                </a:cubicBezTo>
                <a:cubicBezTo>
                  <a:pt x="268" y="2"/>
                  <a:pt x="260" y="0"/>
                  <a:pt x="256" y="0"/>
                </a:cubicBezTo>
                <a:cubicBezTo>
                  <a:pt x="252" y="0"/>
                  <a:pt x="245" y="2"/>
                  <a:pt x="233" y="12"/>
                </a:cubicBezTo>
                <a:cubicBezTo>
                  <a:pt x="222" y="23"/>
                  <a:pt x="210" y="40"/>
                  <a:pt x="198" y="65"/>
                </a:cubicBezTo>
                <a:cubicBezTo>
                  <a:pt x="178" y="108"/>
                  <a:pt x="164" y="168"/>
                  <a:pt x="161" y="232"/>
                </a:cubicBezTo>
                <a:close/>
                <a:moveTo>
                  <a:pt x="113" y="232"/>
                </a:moveTo>
                <a:cubicBezTo>
                  <a:pt x="116" y="146"/>
                  <a:pt x="139" y="67"/>
                  <a:pt x="171" y="15"/>
                </a:cubicBezTo>
                <a:cubicBezTo>
                  <a:pt x="79" y="47"/>
                  <a:pt x="11" y="131"/>
                  <a:pt x="2" y="232"/>
                </a:cubicBezTo>
                <a:lnTo>
                  <a:pt x="113" y="232"/>
                </a:lnTo>
                <a:close/>
                <a:moveTo>
                  <a:pt x="2" y="280"/>
                </a:moveTo>
                <a:cubicBezTo>
                  <a:pt x="11" y="381"/>
                  <a:pt x="79" y="465"/>
                  <a:pt x="171" y="497"/>
                </a:cubicBezTo>
                <a:cubicBezTo>
                  <a:pt x="139" y="445"/>
                  <a:pt x="116" y="366"/>
                  <a:pt x="113" y="280"/>
                </a:cubicBezTo>
                <a:lnTo>
                  <a:pt x="2" y="280"/>
                </a:lnTo>
                <a:close/>
                <a:moveTo>
                  <a:pt x="400" y="280"/>
                </a:moveTo>
                <a:cubicBezTo>
                  <a:pt x="396" y="366"/>
                  <a:pt x="374" y="445"/>
                  <a:pt x="342" y="497"/>
                </a:cubicBezTo>
                <a:cubicBezTo>
                  <a:pt x="434" y="465"/>
                  <a:pt x="502" y="381"/>
                  <a:pt x="511" y="280"/>
                </a:cubicBezTo>
                <a:lnTo>
                  <a:pt x="400" y="280"/>
                </a:lnTo>
                <a:close/>
                <a:moveTo>
                  <a:pt x="511" y="232"/>
                </a:moveTo>
                <a:cubicBezTo>
                  <a:pt x="502" y="131"/>
                  <a:pt x="434" y="47"/>
                  <a:pt x="342" y="15"/>
                </a:cubicBezTo>
                <a:cubicBezTo>
                  <a:pt x="374" y="67"/>
                  <a:pt x="396" y="146"/>
                  <a:pt x="400" y="232"/>
                </a:cubicBezTo>
                <a:lnTo>
                  <a:pt x="511" y="232"/>
                </a:lnTo>
                <a:close/>
              </a:path>
            </a:pathLst>
          </a:custGeom>
          <a:solidFill>
            <a:srgbClr val="F7F5F0"/>
          </a:solidFill>
          <a:ln>
            <a:noFill/>
          </a:ln>
        </p:spPr>
      </p:sp>
      <p:sp>
        <p:nvSpPr>
          <p:cNvPr id="24" name="world-title"/>
          <p:cNvSpPr txBox="1"/>
          <p:nvPr/>
        </p:nvSpPr>
        <p:spPr>
          <a:xfrm>
            <a:off x="5384800" y="3225800"/>
            <a:ext cx="22352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ctr">
              <a:lnSpc>
                <a:spcPct val="135000"/>
              </a:lnSpc>
            </a:pPr>
            <a:r>
              <a:rPr lang="en-US" sz="1600" b="1">
                <a:solidFill>
                  <a:srgbClr val="F7F5F0"/>
                </a:solidFill>
                <a:latin typeface="MiSans"/>
                <a:ea typeface="MiSans"/>
              </a:rPr>
              <a:t>模型看到的</a:t>
            </a:r>
            <a:endParaRPr lang="en-US" sz="1600"/>
          </a:p>
          <a:p>
            <a:pPr algn="ctr">
              <a:lnSpc>
                <a:spcPct val="135000"/>
              </a:lnSpc>
            </a:pPr>
            <a:r>
              <a:rPr lang="en-US" sz="1600" b="1">
                <a:solidFill>
                  <a:srgbClr val="F7F5F0"/>
                </a:solidFill>
                <a:latin typeface="MiSans"/>
                <a:ea typeface="MiSans"/>
              </a:rPr>
              <a:t>完整世界</a:t>
            </a:r>
            <a:endParaRPr lang="en-US" sz="1600"/>
          </a:p>
        </p:txBody>
      </p:sp>
      <p:sp>
        <p:nvSpPr>
          <p:cNvPr id="25" name="world-caption"/>
          <p:cNvSpPr txBox="1"/>
          <p:nvPr/>
        </p:nvSpPr>
        <p:spPr>
          <a:xfrm>
            <a:off x="5384800" y="3962400"/>
            <a:ext cx="2235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ctr">
              <a:lnSpc>
                <a:spcPct val="120000"/>
              </a:lnSpc>
            </a:pPr>
            <a:r>
              <a:rPr lang="en-US" sz="1000">
                <a:solidFill>
                  <a:srgbClr val="D8D3C8"/>
                </a:solidFill>
                <a:latin typeface="MiSans"/>
                <a:ea typeface="MiSans"/>
              </a:rPr>
              <a:t>= 上下文窗口(Context)</a:t>
            </a:r>
            <a:endParaRPr lang="en-US" sz="1000"/>
          </a:p>
        </p:txBody>
      </p:sp>
      <p:sp>
        <p:nvSpPr>
          <p:cNvPr id="26" name="world-note"/>
          <p:cNvSpPr txBox="1"/>
          <p:nvPr/>
        </p:nvSpPr>
        <p:spPr>
          <a:xfrm>
            <a:off x="5232400" y="4927600"/>
            <a:ext cx="2540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ctr">
              <a:lnSpc>
                <a:spcPct val="150000"/>
              </a:lnSpc>
            </a:pPr>
            <a:r>
              <a:rPr lang="en-US" sz="1050">
                <a:solidFill>
                  <a:srgbClr val="6B675F"/>
                </a:solidFill>
                <a:latin typeface="MiSans"/>
                <a:ea typeface="MiSans"/>
              </a:rPr>
              <a:t>模型回答的是这整个世界,不只是你那句话。</a:t>
            </a:r>
            <a:endParaRPr lang="en-US" sz="1050"/>
          </a:p>
        </p:txBody>
      </p:sp>
      <p:sp>
        <p:nvSpPr>
          <p:cNvPr id="27" name="def-label"/>
          <p:cNvSpPr txBox="1"/>
          <p:nvPr/>
        </p:nvSpPr>
        <p:spPr>
          <a:xfrm>
            <a:off x="8128000" y="1879600"/>
            <a:ext cx="33528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E4D3B"/>
                </a:solidFill>
                <a:latin typeface="Liter"/>
                <a:ea typeface="Liter"/>
              </a:rPr>
              <a:t>从写好一段话,到经营一个世界</a:t>
            </a:r>
            <a:endParaRPr lang="en-US" sz="1500"/>
          </a:p>
        </p:txBody>
      </p:sp>
      <p:sp>
        <p:nvSpPr>
          <p:cNvPr id="28" name="def-body"/>
          <p:cNvSpPr txBox="1"/>
          <p:nvPr/>
        </p:nvSpPr>
        <p:spPr>
          <a:xfrm>
            <a:off x="8128000" y="2286000"/>
            <a:ext cx="33528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55000"/>
              </a:lnSpc>
            </a:pPr>
            <a:r>
              <a:rPr lang="en-US" sz="1200">
                <a:solidFill>
                  <a:srgbClr val="22211E"/>
                </a:solidFill>
                <a:latin typeface="MiSans"/>
                <a:ea typeface="MiSans"/>
              </a:rPr>
              <a:t>Prompt Engineering(第二期)优化的是第 5 层里的那段话;上下文工程(Context Engineering)经营的是全部 5 层——模型看到的一切。</a:t>
            </a:r>
            <a:endParaRPr lang="en-US" sz="1200"/>
          </a:p>
        </p:txBody>
      </p:sp>
      <p:sp>
        <p:nvSpPr>
          <p:cNvPr id="29" name="check-box"/>
          <p:cNvSpPr/>
          <p:nvPr/>
        </p:nvSpPr>
        <p:spPr>
          <a:xfrm>
            <a:off x="8128000" y="3606800"/>
            <a:ext cx="3352800" cy="1371600"/>
          </a:xfrm>
          <a:prstGeom prst="rect">
            <a:avLst/>
          </a:prstGeom>
          <a:solidFill>
            <a:srgbClr val="EAF1EC"/>
          </a:solidFill>
          <a:ln>
            <a:noFill/>
          </a:ln>
        </p:spPr>
      </p:sp>
      <p:sp>
        <p:nvSpPr>
          <p:cNvPr id="30" name="check-title"/>
          <p:cNvSpPr txBox="1"/>
          <p:nvPr/>
        </p:nvSpPr>
        <p:spPr>
          <a:xfrm>
            <a:off x="8331200" y="3759200"/>
            <a:ext cx="2946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250" b="1">
                <a:solidFill>
                  <a:srgbClr val="1E4D3B"/>
                </a:solidFill>
                <a:latin typeface="MiSans"/>
                <a:ea typeface="MiSans"/>
              </a:rPr>
              <a:t>想一想</a:t>
            </a:r>
            <a:endParaRPr lang="en-US" sz="1250"/>
          </a:p>
        </p:txBody>
      </p:sp>
      <p:sp>
        <p:nvSpPr>
          <p:cNvPr id="31" name="check-desc"/>
          <p:cNvSpPr txBox="1"/>
          <p:nvPr/>
        </p:nvSpPr>
        <p:spPr>
          <a:xfrm>
            <a:off x="8331200" y="4038600"/>
            <a:ext cx="29464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55000"/>
              </a:lnSpc>
            </a:pPr>
            <a:r>
              <a:rPr lang="en-US" sz="1100">
                <a:solidFill>
                  <a:srgbClr val="22211E"/>
                </a:solidFill>
                <a:latin typeface="MiSans"/>
                <a:ea typeface="MiSans"/>
              </a:rPr>
              <a:t>为什么同一句话,换个上下文效果天差地别?因为模型回应的不是这句话,而是它看到的整个世界</a:t>
            </a:r>
            <a:endParaRPr lang="en-US" sz="1100"/>
          </a:p>
        </p:txBody>
      </p:sp>
      <p:sp>
        <p:nvSpPr>
          <p:cNvPr id="32" name="link-note"/>
          <p:cNvSpPr txBox="1"/>
          <p:nvPr/>
        </p:nvSpPr>
        <p:spPr>
          <a:xfrm>
            <a:off x="8128000" y="5232400"/>
            <a:ext cx="33528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50000"/>
              </a:lnSpc>
            </a:pPr>
            <a:r>
              <a:rPr lang="en-US" sz="1100">
                <a:solidFill>
                  <a:srgbClr val="6B675F"/>
                </a:solidFill>
                <a:latin typeface="Liter"/>
                <a:ea typeface="Liter"/>
              </a:rPr>
              <a:t>与第二期衔接:Prompt 没有过时——它是上下文的一部分。</a:t>
            </a:r>
            <a:endParaRPr lang="en-US" sz="1100"/>
          </a:p>
        </p:txBody>
      </p:sp>
      <p:sp>
        <p:nvSpPr>
          <p:cNvPr id="33" name="footer-line"/>
          <p:cNvSpPr/>
          <p:nvPr>
            <p:extLst>
              <p:ext uri="{F5677B7D-0D2A-4D9B-9A5C-6D8D7D0E5A5D}">
                <pptd:line encoding="base64url">eyJjdXJ2ZSI6InJvdW5kIiwicG9pbnRzIjoiMCwxIDg0OCwxIiwidmlld0JveCI6Wzg0OCwyXX0</pptd:line>
              </p:ext>
            </p:extLst>
          </p:nvPr>
        </p:nvSpPr>
        <p:spPr>
          <a:xfrm>
            <a:off x="711200" y="6362700"/>
            <a:ext cx="10769600" cy="25400"/>
          </a:xfrm>
          <a:custGeom>
            <a:avLst/>
            <a:gdLst/>
            <a:ahLst/>
            <a:cxnLst/>
            <a:rect l="l" t="t" r="r" b="b"/>
            <a:pathLst>
              <a:path w="848" h="2">
                <a:moveTo>
                  <a:pt x="0" y="1"/>
                </a:moveTo>
                <a:lnTo>
                  <a:pt x="848" y="1"/>
                </a:lnTo>
              </a:path>
            </a:pathLst>
          </a:custGeom>
          <a:noFill/>
          <a:ln w="12700" cap="rnd">
            <a:solidFill>
              <a:srgbClr val="D8D3C8"/>
            </a:solidFill>
            <a:round/>
          </a:ln>
        </p:spPr>
      </p:sp>
      <p:sp>
        <p:nvSpPr>
          <p:cNvPr id="34" name="footer-left"/>
          <p:cNvSpPr txBox="1"/>
          <p:nvPr/>
        </p:nvSpPr>
        <p:spPr>
          <a:xfrm>
            <a:off x="711200" y="6477000"/>
            <a:ext cx="711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40000"/>
              </a:lnSpc>
            </a:pPr>
            <a:r>
              <a:rPr lang="en-US" sz="1000">
                <a:solidFill>
                  <a:srgbClr val="6B675F"/>
                </a:solidFill>
                <a:latin typeface="Liter"/>
                <a:ea typeface="Liter"/>
              </a:rPr>
              <a:t>东方智感 · AI 内训第三期</a:t>
            </a:r>
            <a:endParaRPr lang="en-US" sz="1000"/>
          </a:p>
        </p:txBody>
      </p:sp>
      <p:sp>
        <p:nvSpPr>
          <p:cNvPr id="35" name="footer-right"/>
          <p:cNvSpPr txBox="1"/>
          <p:nvPr/>
        </p:nvSpPr>
        <p:spPr>
          <a:xfrm>
            <a:off x="10210800" y="64770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r">
              <a:lnSpc>
                <a:spcPct val="140000"/>
              </a:lnSpc>
            </a:pPr>
            <a:r>
              <a:rPr lang="en-US" sz="1000">
                <a:solidFill>
                  <a:srgbClr val="6B675F"/>
                </a:solidFill>
                <a:latin typeface="Liter"/>
                <a:ea typeface="Liter"/>
              </a:rPr>
              <a:t>13</a:t>
            </a:r>
            <a:endParaRPr lang="en-US" sz="10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1E4D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812800"/>
            <a:ext cx="533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100" b="1" spc="200" kern="0">
                <a:solidFill>
                  <a:srgbClr val="C26A2E"/>
                </a:solidFill>
                <a:latin typeface="Liter"/>
                <a:ea typeface="Liter"/>
              </a:rPr>
              <a:t>AI 内训第三期 · 从会问到会派活</a:t>
            </a:r>
            <a:endParaRPr lang="en-US" sz="1100"/>
          </a:p>
        </p:txBody>
      </p:sp>
      <p:sp>
        <p:nvSpPr>
          <p:cNvPr id="3" name="deco-icon"/>
          <p:cNvSpPr/>
          <p:nvPr>
            <p:extLst>
              <p:ext uri="{F5677B7D-0D2A-4D9B-9A5C-6D8D7D0E5A5D}">
                <pptd:icon encoding="base64url">eyJpY29uTmFtZSI6ImZhczpnYXVnZS1oaWdoIn0</pptd:icon>
              </p:ext>
            </p:extLst>
          </p:nvPr>
        </p:nvSpPr>
        <p:spPr>
          <a:xfrm>
            <a:off x="8128000" y="1905000"/>
            <a:ext cx="2540000" cy="25400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0" y="256"/>
                </a:move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ubicBezTo>
                  <a:pt x="115" y="512"/>
                  <a:pt x="0" y="397"/>
                  <a:pt x="0" y="256"/>
                </a:cubicBezTo>
                <a:close/>
                <a:moveTo>
                  <a:pt x="288" y="96"/>
                </a:moveTo>
                <a:cubicBezTo>
                  <a:pt x="288" y="78"/>
                  <a:pt x="274" y="64"/>
                  <a:pt x="256" y="64"/>
                </a:cubicBezTo>
                <a:cubicBezTo>
                  <a:pt x="238" y="64"/>
                  <a:pt x="224" y="78"/>
                  <a:pt x="224" y="96"/>
                </a:cubicBezTo>
                <a:cubicBezTo>
                  <a:pt x="224" y="114"/>
                  <a:pt x="238" y="128"/>
                  <a:pt x="256" y="128"/>
                </a:cubicBezTo>
                <a:cubicBezTo>
                  <a:pt x="274" y="128"/>
                  <a:pt x="288" y="114"/>
                  <a:pt x="288" y="96"/>
                </a:cubicBezTo>
                <a:close/>
                <a:moveTo>
                  <a:pt x="256" y="416"/>
                </a:moveTo>
                <a:cubicBezTo>
                  <a:pt x="291" y="416"/>
                  <a:pt x="320" y="387"/>
                  <a:pt x="320" y="352"/>
                </a:cubicBezTo>
                <a:cubicBezTo>
                  <a:pt x="320" y="336"/>
                  <a:pt x="314" y="321"/>
                  <a:pt x="304" y="310"/>
                </a:cubicBezTo>
                <a:lnTo>
                  <a:pt x="374" y="171"/>
                </a:lnTo>
                <a:cubicBezTo>
                  <a:pt x="379" y="159"/>
                  <a:pt x="375" y="144"/>
                  <a:pt x="363" y="139"/>
                </a:cubicBezTo>
                <a:cubicBezTo>
                  <a:pt x="351" y="133"/>
                  <a:pt x="337" y="137"/>
                  <a:pt x="331" y="149"/>
                </a:cubicBezTo>
                <a:lnTo>
                  <a:pt x="261" y="288"/>
                </a:lnTo>
                <a:cubicBezTo>
                  <a:pt x="259" y="288"/>
                  <a:pt x="258" y="288"/>
                  <a:pt x="256" y="288"/>
                </a:cubicBezTo>
                <a:cubicBezTo>
                  <a:pt x="221" y="288"/>
                  <a:pt x="192" y="317"/>
                  <a:pt x="192" y="352"/>
                </a:cubicBezTo>
                <a:cubicBezTo>
                  <a:pt x="192" y="387"/>
                  <a:pt x="221" y="416"/>
                  <a:pt x="256" y="416"/>
                </a:cubicBezTo>
                <a:close/>
                <a:moveTo>
                  <a:pt x="176" y="144"/>
                </a:moveTo>
                <a:cubicBezTo>
                  <a:pt x="176" y="126"/>
                  <a:pt x="162" y="112"/>
                  <a:pt x="144" y="112"/>
                </a:cubicBezTo>
                <a:cubicBezTo>
                  <a:pt x="126" y="112"/>
                  <a:pt x="112" y="126"/>
                  <a:pt x="112" y="144"/>
                </a:cubicBezTo>
                <a:cubicBezTo>
                  <a:pt x="112" y="162"/>
                  <a:pt x="126" y="176"/>
                  <a:pt x="144" y="176"/>
                </a:cubicBezTo>
                <a:cubicBezTo>
                  <a:pt x="162" y="176"/>
                  <a:pt x="176" y="162"/>
                  <a:pt x="176" y="144"/>
                </a:cubicBezTo>
                <a:close/>
                <a:moveTo>
                  <a:pt x="96" y="288"/>
                </a:moveTo>
                <a:cubicBezTo>
                  <a:pt x="114" y="288"/>
                  <a:pt x="128" y="274"/>
                  <a:pt x="128" y="256"/>
                </a:cubicBezTo>
                <a:cubicBezTo>
                  <a:pt x="128" y="238"/>
                  <a:pt x="114" y="224"/>
                  <a:pt x="96" y="224"/>
                </a:cubicBezTo>
                <a:cubicBezTo>
                  <a:pt x="78" y="224"/>
                  <a:pt x="64" y="238"/>
                  <a:pt x="64" y="256"/>
                </a:cubicBezTo>
                <a:cubicBezTo>
                  <a:pt x="64" y="274"/>
                  <a:pt x="78" y="288"/>
                  <a:pt x="96" y="288"/>
                </a:cubicBezTo>
                <a:close/>
                <a:moveTo>
                  <a:pt x="448" y="256"/>
                </a:moveTo>
                <a:cubicBezTo>
                  <a:pt x="448" y="238"/>
                  <a:pt x="434" y="224"/>
                  <a:pt x="416" y="224"/>
                </a:cubicBezTo>
                <a:cubicBezTo>
                  <a:pt x="398" y="224"/>
                  <a:pt x="384" y="238"/>
                  <a:pt x="384" y="256"/>
                </a:cubicBezTo>
                <a:cubicBezTo>
                  <a:pt x="384" y="274"/>
                  <a:pt x="398" y="288"/>
                  <a:pt x="416" y="288"/>
                </a:cubicBezTo>
                <a:cubicBezTo>
                  <a:pt x="434" y="288"/>
                  <a:pt x="448" y="274"/>
                  <a:pt x="448" y="256"/>
                </a:cubicBezTo>
                <a:close/>
              </a:path>
            </a:pathLst>
          </a:custGeom>
          <a:solidFill>
            <a:srgbClr val="2A5C47">
              <a:alpha val="30000"/>
            </a:srgbClr>
          </a:solidFill>
          <a:ln>
            <a:noFill/>
          </a:ln>
        </p:spPr>
      </p:sp>
      <p:sp>
        <p:nvSpPr>
          <p:cNvPr id="4" name="chapter-num"/>
          <p:cNvSpPr txBox="1"/>
          <p:nvPr/>
        </p:nvSpPr>
        <p:spPr>
          <a:xfrm>
            <a:off x="711200" y="1625600"/>
            <a:ext cx="2794000" cy="104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6400" b="1">
                <a:solidFill>
                  <a:srgbClr val="C26A2E"/>
                </a:solidFill>
                <a:latin typeface="Liter"/>
                <a:ea typeface="Liter"/>
              </a:rPr>
              <a:t>03</a:t>
            </a:r>
            <a:endParaRPr lang="en-US" sz="6400"/>
          </a:p>
        </p:txBody>
      </p:sp>
      <p:sp>
        <p:nvSpPr>
          <p:cNvPr id="5" name="terra-bar"/>
          <p:cNvSpPr/>
          <p:nvPr/>
        </p:nvSpPr>
        <p:spPr>
          <a:xfrm>
            <a:off x="711200" y="2844800"/>
            <a:ext cx="711200" cy="50800"/>
          </a:xfrm>
          <a:prstGeom prst="rect">
            <a:avLst/>
          </a:prstGeom>
          <a:solidFill>
            <a:srgbClr val="C26A2E"/>
          </a:solidFill>
          <a:ln>
            <a:noFill/>
          </a:ln>
        </p:spPr>
      </p:sp>
      <p:sp>
        <p:nvSpPr>
          <p:cNvPr id="6" name="chapter-title"/>
          <p:cNvSpPr txBox="1"/>
          <p:nvPr/>
        </p:nvSpPr>
        <p:spPr>
          <a:xfrm>
            <a:off x="711200" y="3124200"/>
            <a:ext cx="9652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3400" b="1">
                <a:solidFill>
                  <a:srgbClr val="F7F5F0"/>
                </a:solidFill>
                <a:latin typeface="Liter"/>
                <a:ea typeface="Liter"/>
              </a:rPr>
              <a:t>Harness 与 Loop Engineering</a:t>
            </a:r>
            <a:endParaRPr lang="en-US" sz="3400"/>
          </a:p>
        </p:txBody>
      </p:sp>
      <p:sp>
        <p:nvSpPr>
          <p:cNvPr id="7" name="chapter-subtitle"/>
          <p:cNvSpPr txBox="1"/>
          <p:nvPr/>
        </p:nvSpPr>
        <p:spPr>
          <a:xfrm>
            <a:off x="711200" y="3835400"/>
            <a:ext cx="8890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800">
                <a:solidFill>
                  <a:srgbClr val="D8D3C8"/>
                </a:solidFill>
                <a:latin typeface="MiSans"/>
                <a:ea typeface="MiSans"/>
              </a:rPr>
              <a:t>给智能体造驾驶舱</a:t>
            </a:r>
            <a:endParaRPr lang="en-US" sz="1800"/>
          </a:p>
        </p:txBody>
      </p:sp>
      <p:sp>
        <p:nvSpPr>
          <p:cNvPr id="8" name="question-icon"/>
          <p:cNvSpPr/>
          <p:nvPr>
            <p:extLst>
              <p:ext uri="{F5677B7D-0D2A-4D9B-9A5C-6D8D7D0E5A5D}">
                <pptd:icon encoding="base64url">eyJpY29uTmFtZSI6ImZhczpjaXJjbGUtcXVlc3Rpb24ifQ</pptd:icon>
              </p:ext>
            </p:extLst>
          </p:nvPr>
        </p:nvSpPr>
        <p:spPr>
          <a:xfrm>
            <a:off x="711200" y="4648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397" y="512"/>
                  <a:pt x="512" y="397"/>
                  <a:pt x="512" y="256"/>
                </a:cubicBezTo>
                <a:cubicBezTo>
                  <a:pt x="512" y="115"/>
                  <a:pt x="397" y="0"/>
                  <a:pt x="256" y="0"/>
                </a:cubicBezTo>
                <a:cubicBezTo>
                  <a:pt x="115" y="0"/>
                  <a:pt x="0" y="115"/>
                  <a:pt x="0" y="256"/>
                </a:cubicBezTo>
                <a:cubicBezTo>
                  <a:pt x="0" y="397"/>
                  <a:pt x="115" y="512"/>
                  <a:pt x="256" y="512"/>
                </a:cubicBezTo>
                <a:close/>
                <a:moveTo>
                  <a:pt x="256" y="176"/>
                </a:moveTo>
                <a:cubicBezTo>
                  <a:pt x="238" y="176"/>
                  <a:pt x="224" y="190"/>
                  <a:pt x="224" y="208"/>
                </a:cubicBezTo>
                <a:cubicBezTo>
                  <a:pt x="224" y="221"/>
                  <a:pt x="213" y="232"/>
                  <a:pt x="200" y="232"/>
                </a:cubicBezTo>
                <a:cubicBezTo>
                  <a:pt x="187" y="232"/>
                  <a:pt x="176" y="221"/>
                  <a:pt x="176" y="208"/>
                </a:cubicBezTo>
                <a:cubicBezTo>
                  <a:pt x="176" y="164"/>
                  <a:pt x="212" y="128"/>
                  <a:pt x="256" y="128"/>
                </a:cubicBezTo>
                <a:cubicBezTo>
                  <a:pt x="300" y="128"/>
                  <a:pt x="336" y="164"/>
                  <a:pt x="336" y="208"/>
                </a:cubicBezTo>
                <a:cubicBezTo>
                  <a:pt x="336" y="255"/>
                  <a:pt x="300" y="275"/>
                  <a:pt x="280" y="283"/>
                </a:cubicBezTo>
                <a:lnTo>
                  <a:pt x="280" y="286"/>
                </a:lnTo>
                <a:cubicBezTo>
                  <a:pt x="280" y="300"/>
                  <a:pt x="269" y="310"/>
                  <a:pt x="256" y="310"/>
                </a:cubicBezTo>
                <a:cubicBezTo>
                  <a:pt x="243" y="310"/>
                  <a:pt x="232" y="300"/>
                  <a:pt x="232" y="286"/>
                </a:cubicBezTo>
                <a:lnTo>
                  <a:pt x="232" y="278"/>
                </a:lnTo>
                <a:cubicBezTo>
                  <a:pt x="232" y="258"/>
                  <a:pt x="247" y="243"/>
                  <a:pt x="262" y="238"/>
                </a:cubicBezTo>
                <a:cubicBezTo>
                  <a:pt x="269" y="236"/>
                  <a:pt x="275" y="233"/>
                  <a:pt x="280" y="228"/>
                </a:cubicBezTo>
                <a:cubicBezTo>
                  <a:pt x="285" y="224"/>
                  <a:pt x="288" y="218"/>
                  <a:pt x="288" y="208"/>
                </a:cubicBezTo>
                <a:cubicBezTo>
                  <a:pt x="288" y="190"/>
                  <a:pt x="274" y="176"/>
                  <a:pt x="256" y="176"/>
                </a:cubicBezTo>
                <a:close/>
                <a:moveTo>
                  <a:pt x="224" y="368"/>
                </a:moveTo>
                <a:cubicBezTo>
                  <a:pt x="224" y="350"/>
                  <a:pt x="238" y="336"/>
                  <a:pt x="256" y="336"/>
                </a:cubicBezTo>
                <a:cubicBezTo>
                  <a:pt x="274" y="336"/>
                  <a:pt x="288" y="350"/>
                  <a:pt x="288" y="368"/>
                </a:cubicBezTo>
                <a:cubicBezTo>
                  <a:pt x="288" y="386"/>
                  <a:pt x="274" y="400"/>
                  <a:pt x="256" y="400"/>
                </a:cubicBezTo>
                <a:cubicBezTo>
                  <a:pt x="238" y="400"/>
                  <a:pt x="224" y="386"/>
                  <a:pt x="224" y="368"/>
                </a:cubicBezTo>
                <a:close/>
              </a:path>
            </a:pathLst>
          </a:custGeom>
          <a:solidFill>
            <a:srgbClr val="C26A2E"/>
          </a:solidFill>
          <a:ln>
            <a:noFill/>
          </a:ln>
        </p:spPr>
      </p:sp>
      <p:sp>
        <p:nvSpPr>
          <p:cNvPr id="9" name="question-text"/>
          <p:cNvSpPr txBox="1"/>
          <p:nvPr/>
        </p:nvSpPr>
        <p:spPr>
          <a:xfrm>
            <a:off x="1066800" y="4622800"/>
            <a:ext cx="965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400">
                <a:solidFill>
                  <a:srgbClr val="F7F5F0"/>
                </a:solidFill>
                <a:latin typeface="MiSans"/>
                <a:ea typeface="MiSans"/>
              </a:rPr>
              <a:t>本章学习问题:模型是发动机,谁来造方向盘、仪表盘和刹车?</a:t>
            </a:r>
            <a:endParaRPr lang="en-US" sz="1400"/>
          </a:p>
        </p:txBody>
      </p:sp>
      <p:sp>
        <p:nvSpPr>
          <p:cNvPr id="10" name="keywords-icon"/>
          <p:cNvSpPr/>
          <p:nvPr>
            <p:extLst>
              <p:ext uri="{F5677B7D-0D2A-4D9B-9A5C-6D8D7D0E5A5D}">
                <pptd:icon encoding="base64url">eyJpY29uTmFtZSI6ImZhczp0YWdzIn0</pptd:icon>
              </p:ext>
            </p:extLst>
          </p:nvPr>
        </p:nvSpPr>
        <p:spPr>
          <a:xfrm>
            <a:off x="711200" y="51308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401" y="39"/>
                </a:moveTo>
                <a:lnTo>
                  <a:pt x="549" y="189"/>
                </a:lnTo>
                <a:cubicBezTo>
                  <a:pt x="577" y="218"/>
                  <a:pt x="577" y="263"/>
                  <a:pt x="549" y="291"/>
                </a:cubicBezTo>
                <a:lnTo>
                  <a:pt x="393" y="449"/>
                </a:lnTo>
                <a:cubicBezTo>
                  <a:pt x="384" y="458"/>
                  <a:pt x="369" y="458"/>
                  <a:pt x="359" y="449"/>
                </a:cubicBezTo>
                <a:cubicBezTo>
                  <a:pt x="350" y="440"/>
                  <a:pt x="350" y="425"/>
                  <a:pt x="359" y="415"/>
                </a:cubicBezTo>
                <a:lnTo>
                  <a:pt x="515" y="257"/>
                </a:lnTo>
                <a:cubicBezTo>
                  <a:pt x="525" y="248"/>
                  <a:pt x="525" y="232"/>
                  <a:pt x="515" y="223"/>
                </a:cubicBezTo>
                <a:lnTo>
                  <a:pt x="367" y="73"/>
                </a:lnTo>
                <a:cubicBezTo>
                  <a:pt x="358" y="64"/>
                  <a:pt x="358" y="48"/>
                  <a:pt x="367" y="39"/>
                </a:cubicBezTo>
                <a:cubicBezTo>
                  <a:pt x="377" y="30"/>
                  <a:pt x="392" y="30"/>
                  <a:pt x="401" y="39"/>
                </a:cubicBezTo>
                <a:close/>
                <a:moveTo>
                  <a:pt x="32" y="230"/>
                </a:moveTo>
                <a:lnTo>
                  <a:pt x="32" y="96"/>
                </a:lnTo>
                <a:cubicBezTo>
                  <a:pt x="32" y="61"/>
                  <a:pt x="61" y="32"/>
                  <a:pt x="96" y="32"/>
                </a:cubicBezTo>
                <a:lnTo>
                  <a:pt x="230" y="32"/>
                </a:lnTo>
                <a:cubicBezTo>
                  <a:pt x="247" y="32"/>
                  <a:pt x="263" y="39"/>
                  <a:pt x="275" y="51"/>
                </a:cubicBezTo>
                <a:lnTo>
                  <a:pt x="419" y="195"/>
                </a:lnTo>
                <a:cubicBezTo>
                  <a:pt x="444" y="220"/>
                  <a:pt x="444" y="260"/>
                  <a:pt x="419" y="285"/>
                </a:cubicBezTo>
                <a:lnTo>
                  <a:pt x="285" y="419"/>
                </a:lnTo>
                <a:cubicBezTo>
                  <a:pt x="260" y="444"/>
                  <a:pt x="220" y="444"/>
                  <a:pt x="195" y="419"/>
                </a:cubicBezTo>
                <a:lnTo>
                  <a:pt x="51" y="275"/>
                </a:lnTo>
                <a:cubicBezTo>
                  <a:pt x="39" y="263"/>
                  <a:pt x="32" y="246"/>
                  <a:pt x="32" y="229"/>
                </a:cubicBezTo>
                <a:close/>
                <a:moveTo>
                  <a:pt x="176" y="144"/>
                </a:moveTo>
                <a:cubicBezTo>
                  <a:pt x="176" y="126"/>
                  <a:pt x="162" y="112"/>
                  <a:pt x="144" y="112"/>
                </a:cubicBezTo>
                <a:cubicBezTo>
                  <a:pt x="126" y="112"/>
                  <a:pt x="112" y="126"/>
                  <a:pt x="112" y="144"/>
                </a:cubicBezTo>
                <a:cubicBezTo>
                  <a:pt x="112" y="162"/>
                  <a:pt x="126" y="176"/>
                  <a:pt x="144" y="176"/>
                </a:cubicBezTo>
                <a:cubicBezTo>
                  <a:pt x="162" y="176"/>
                  <a:pt x="176" y="162"/>
                  <a:pt x="176" y="144"/>
                </a:cubicBezTo>
                <a:close/>
              </a:path>
            </a:pathLst>
          </a:custGeom>
          <a:solidFill>
            <a:srgbClr val="D8D3C8"/>
          </a:solidFill>
          <a:ln>
            <a:noFill/>
          </a:ln>
        </p:spPr>
      </p:sp>
      <p:sp>
        <p:nvSpPr>
          <p:cNvPr id="11" name="keywords-text"/>
          <p:cNvSpPr txBox="1"/>
          <p:nvPr/>
        </p:nvSpPr>
        <p:spPr>
          <a:xfrm>
            <a:off x="1066800" y="5105400"/>
            <a:ext cx="914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200" b="1">
                <a:solidFill>
                  <a:srgbClr val="D8D3C8"/>
                </a:solidFill>
                <a:latin typeface="MiSans"/>
                <a:ea typeface="MiSans"/>
              </a:rPr>
              <a:t>关键词:</a:t>
            </a:r>
            <a:r>
              <a:rPr lang="en-US" sz="1200">
                <a:solidFill>
                  <a:srgbClr val="D8D3C8"/>
                </a:solidFill>
                <a:latin typeface="MiSans"/>
                <a:ea typeface="MiSans"/>
              </a:rPr>
              <a:t>环境 · 工具 · 反馈 · 护栏</a:t>
            </a:r>
            <a:endParaRPr lang="en-US" sz="1200"/>
          </a:p>
        </p:txBody>
      </p:sp>
      <p:sp>
        <p:nvSpPr>
          <p:cNvPr id="12" name="footer-left"/>
          <p:cNvSpPr txBox="1"/>
          <p:nvPr/>
        </p:nvSpPr>
        <p:spPr>
          <a:xfrm>
            <a:off x="711200" y="64516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40000"/>
              </a:lnSpc>
            </a:pPr>
            <a:r>
              <a:rPr lang="en-US" sz="1000">
                <a:solidFill>
                  <a:srgbClr val="D8D3C8"/>
                </a:solidFill>
                <a:latin typeface="Liter"/>
                <a:ea typeface="Liter"/>
              </a:rPr>
              <a:t>东方智感 · AI 内训第三期</a:t>
            </a:r>
            <a:endParaRPr lang="en-US" sz="1000"/>
          </a:p>
        </p:txBody>
      </p:sp>
      <p:sp>
        <p:nvSpPr>
          <p:cNvPr id="13" name="footer-right"/>
          <p:cNvSpPr txBox="1"/>
          <p:nvPr/>
        </p:nvSpPr>
        <p:spPr>
          <a:xfrm>
            <a:off x="10922000" y="6451600"/>
            <a:ext cx="558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r">
              <a:lnSpc>
                <a:spcPct val="140000"/>
              </a:lnSpc>
            </a:pPr>
            <a:r>
              <a:rPr lang="en-US" sz="1000">
                <a:solidFill>
                  <a:srgbClr val="D8D3C8"/>
                </a:solidFill>
                <a:latin typeface="Liter"/>
                <a:ea typeface="Liter"/>
              </a:rPr>
              <a:t>14</a:t>
            </a:r>
            <a:endParaRPr lang="en-US" sz="10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826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100" b="1" spc="200" kern="0">
                <a:solidFill>
                  <a:srgbClr val="C26A2E"/>
                </a:solidFill>
                <a:latin typeface="Liter"/>
                <a:ea typeface="Liter"/>
              </a:rPr>
              <a:t>第三章 · HARNESS 与 LOOP ENGINEERING</a:t>
            </a:r>
            <a:endParaRPr lang="en-US" sz="1100"/>
          </a:p>
        </p:txBody>
      </p:sp>
      <p:sp>
        <p:nvSpPr>
          <p:cNvPr id="3" name="title"/>
          <p:cNvSpPr txBox="1"/>
          <p:nvPr/>
        </p:nvSpPr>
        <p:spPr>
          <a:xfrm>
            <a:off x="711200" y="7874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22211E"/>
                </a:solidFill>
                <a:latin typeface="Liter"/>
                <a:ea typeface="Liter"/>
              </a:rPr>
              <a:t>Harness:模型之外,让智能体能干活的整套装备</a:t>
            </a:r>
            <a:endParaRPr lang="en-US" sz="2600"/>
          </a:p>
        </p:txBody>
      </p:sp>
      <p:sp>
        <p:nvSpPr>
          <p:cNvPr id="4" name="nest-outer"/>
          <p:cNvSpPr/>
          <p:nvPr/>
        </p:nvSpPr>
        <p:spPr>
          <a:xfrm>
            <a:off x="711200" y="1778000"/>
            <a:ext cx="5588000" cy="4064000"/>
          </a:xfrm>
          <a:prstGeom prst="rect">
            <a:avLst/>
          </a:prstGeom>
          <a:noFill/>
          <a:ln w="12700">
            <a:solidFill>
              <a:srgbClr val="1E4D3B"/>
            </a:solidFill>
          </a:ln>
        </p:spPr>
      </p:sp>
      <p:sp>
        <p:nvSpPr>
          <p:cNvPr id="5" name="nest-outer-label"/>
          <p:cNvSpPr txBox="1"/>
          <p:nvPr/>
        </p:nvSpPr>
        <p:spPr>
          <a:xfrm>
            <a:off x="889000" y="1879600"/>
            <a:ext cx="5232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200" b="1">
                <a:solidFill>
                  <a:srgbClr val="1E4D3B"/>
                </a:solidFill>
                <a:latin typeface="MiSans"/>
                <a:ea typeface="MiSans"/>
              </a:rPr>
              <a:t>外层 · 组织:数据、系统、流程、人</a:t>
            </a:r>
            <a:endParaRPr lang="en-US" sz="1200"/>
          </a:p>
        </p:txBody>
      </p:sp>
      <p:sp>
        <p:nvSpPr>
          <p:cNvPr id="6" name="nest-mid"/>
          <p:cNvSpPr/>
          <p:nvPr/>
        </p:nvSpPr>
        <p:spPr>
          <a:xfrm>
            <a:off x="1092200" y="2540000"/>
            <a:ext cx="4826000" cy="2921000"/>
          </a:xfrm>
          <a:prstGeom prst="rect">
            <a:avLst/>
          </a:prstGeom>
          <a:solidFill>
            <a:srgbClr val="EAF1EC"/>
          </a:solidFill>
          <a:ln w="12700">
            <a:solidFill>
              <a:srgbClr val="1E4D3B"/>
            </a:solidFill>
          </a:ln>
        </p:spPr>
      </p:sp>
      <p:sp>
        <p:nvSpPr>
          <p:cNvPr id="7" name="nest-mid-label"/>
          <p:cNvSpPr txBox="1"/>
          <p:nvPr/>
        </p:nvSpPr>
        <p:spPr>
          <a:xfrm>
            <a:off x="1270000" y="2641600"/>
            <a:ext cx="4470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200" b="1">
                <a:solidFill>
                  <a:srgbClr val="1E4D3B"/>
                </a:solidFill>
                <a:latin typeface="MiSans"/>
                <a:ea typeface="MiSans"/>
              </a:rPr>
              <a:t>中层 · Harness:智能体的驾驶舱</a:t>
            </a:r>
            <a:endParaRPr lang="en-US" sz="1200"/>
          </a:p>
        </p:txBody>
      </p:sp>
      <p:sp>
        <p:nvSpPr>
          <p:cNvPr id="8" name="harness-tag-1"/>
          <p:cNvSpPr/>
          <p:nvPr/>
        </p:nvSpPr>
        <p:spPr>
          <a:xfrm>
            <a:off x="1270000" y="2997200"/>
            <a:ext cx="838200" cy="33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</a:ln>
        </p:spPr>
      </p:sp>
      <p:sp>
        <p:nvSpPr>
          <p:cNvPr id="9" name="harness-tag-1-t"/>
          <p:cNvSpPr txBox="1"/>
          <p:nvPr/>
        </p:nvSpPr>
        <p:spPr>
          <a:xfrm>
            <a:off x="1270000" y="2997200"/>
            <a:ext cx="8382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100">
                <a:solidFill>
                  <a:srgbClr val="22211E"/>
                </a:solidFill>
                <a:latin typeface="MiSans"/>
                <a:ea typeface="MiSans"/>
              </a:rPr>
              <a:t>工具接口</a:t>
            </a:r>
            <a:endParaRPr lang="en-US" sz="1100"/>
          </a:p>
        </p:txBody>
      </p:sp>
      <p:sp>
        <p:nvSpPr>
          <p:cNvPr id="10" name="harness-tag-2"/>
          <p:cNvSpPr/>
          <p:nvPr/>
        </p:nvSpPr>
        <p:spPr>
          <a:xfrm>
            <a:off x="2197100" y="2997200"/>
            <a:ext cx="838200" cy="33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</a:ln>
        </p:spPr>
      </p:sp>
      <p:sp>
        <p:nvSpPr>
          <p:cNvPr id="11" name="harness-tag-2-t"/>
          <p:cNvSpPr txBox="1"/>
          <p:nvPr/>
        </p:nvSpPr>
        <p:spPr>
          <a:xfrm>
            <a:off x="2197100" y="2997200"/>
            <a:ext cx="8382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100">
                <a:solidFill>
                  <a:srgbClr val="22211E"/>
                </a:solidFill>
                <a:latin typeface="MiSans"/>
                <a:ea typeface="MiSans"/>
              </a:rPr>
              <a:t>记忆存储</a:t>
            </a:r>
            <a:endParaRPr lang="en-US" sz="1100"/>
          </a:p>
        </p:txBody>
      </p:sp>
      <p:sp>
        <p:nvSpPr>
          <p:cNvPr id="12" name="harness-tag-3"/>
          <p:cNvSpPr/>
          <p:nvPr/>
        </p:nvSpPr>
        <p:spPr>
          <a:xfrm>
            <a:off x="3124200" y="2997200"/>
            <a:ext cx="838200" cy="33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</a:ln>
        </p:spPr>
      </p:sp>
      <p:sp>
        <p:nvSpPr>
          <p:cNvPr id="13" name="harness-tag-3-t"/>
          <p:cNvSpPr txBox="1"/>
          <p:nvPr/>
        </p:nvSpPr>
        <p:spPr>
          <a:xfrm>
            <a:off x="3124200" y="2997200"/>
            <a:ext cx="8382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100">
                <a:solidFill>
                  <a:srgbClr val="22211E"/>
                </a:solidFill>
                <a:latin typeface="MiSans"/>
                <a:ea typeface="MiSans"/>
              </a:rPr>
              <a:t>上下文管理</a:t>
            </a:r>
            <a:endParaRPr lang="en-US" sz="1100"/>
          </a:p>
        </p:txBody>
      </p:sp>
      <p:sp>
        <p:nvSpPr>
          <p:cNvPr id="14" name="harness-tag-4"/>
          <p:cNvSpPr/>
          <p:nvPr/>
        </p:nvSpPr>
        <p:spPr>
          <a:xfrm>
            <a:off x="4051300" y="2997200"/>
            <a:ext cx="838200" cy="33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</a:ln>
        </p:spPr>
      </p:sp>
      <p:sp>
        <p:nvSpPr>
          <p:cNvPr id="15" name="harness-tag-4-t"/>
          <p:cNvSpPr txBox="1"/>
          <p:nvPr/>
        </p:nvSpPr>
        <p:spPr>
          <a:xfrm>
            <a:off x="4051300" y="2997200"/>
            <a:ext cx="8382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100">
                <a:solidFill>
                  <a:srgbClr val="22211E"/>
                </a:solidFill>
                <a:latin typeface="MiSans"/>
                <a:ea typeface="MiSans"/>
              </a:rPr>
              <a:t>循环调度</a:t>
            </a:r>
            <a:endParaRPr lang="en-US" sz="1100"/>
          </a:p>
        </p:txBody>
      </p:sp>
      <p:sp>
        <p:nvSpPr>
          <p:cNvPr id="16" name="harness-tag-5"/>
          <p:cNvSpPr/>
          <p:nvPr/>
        </p:nvSpPr>
        <p:spPr>
          <a:xfrm>
            <a:off x="4978400" y="2997200"/>
            <a:ext cx="838200" cy="33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</a:ln>
        </p:spPr>
      </p:sp>
      <p:sp>
        <p:nvSpPr>
          <p:cNvPr id="17" name="harness-tag-5-t"/>
          <p:cNvSpPr txBox="1"/>
          <p:nvPr/>
        </p:nvSpPr>
        <p:spPr>
          <a:xfrm>
            <a:off x="4978400" y="2997200"/>
            <a:ext cx="8382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100">
                <a:solidFill>
                  <a:srgbClr val="22211E"/>
                </a:solidFill>
                <a:latin typeface="MiSans"/>
                <a:ea typeface="MiSans"/>
              </a:rPr>
              <a:t>护栏</a:t>
            </a:r>
            <a:endParaRPr lang="en-US" sz="1100"/>
          </a:p>
        </p:txBody>
      </p:sp>
      <p:sp>
        <p:nvSpPr>
          <p:cNvPr id="18" name="nest-core"/>
          <p:cNvSpPr/>
          <p:nvPr/>
        </p:nvSpPr>
        <p:spPr>
          <a:xfrm>
            <a:off x="2489200" y="3810000"/>
            <a:ext cx="2032000" cy="838200"/>
          </a:xfrm>
          <a:prstGeom prst="rect">
            <a:avLst/>
          </a:prstGeom>
          <a:solidFill>
            <a:srgbClr val="1E4D3B"/>
          </a:solidFill>
          <a:ln>
            <a:noFill/>
          </a:ln>
        </p:spPr>
      </p:sp>
      <p:sp>
        <p:nvSpPr>
          <p:cNvPr id="19" name="nest-core-t"/>
          <p:cNvSpPr txBox="1"/>
          <p:nvPr/>
        </p:nvSpPr>
        <p:spPr>
          <a:xfrm>
            <a:off x="2489200" y="3911600"/>
            <a:ext cx="2032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40000"/>
              </a:lnSpc>
            </a:pPr>
            <a:r>
              <a:rPr lang="en-US" sz="1300" b="1">
                <a:solidFill>
                  <a:srgbClr val="FFFFFF"/>
                </a:solidFill>
                <a:latin typeface="MiSans"/>
                <a:ea typeface="MiSans"/>
              </a:rPr>
              <a:t>内核 · 模型(LLM)</a:t>
            </a:r>
            <a:endParaRPr lang="en-US" sz="1600"/>
          </a:p>
          <a:p>
            <a:pPr algn="ctr">
              <a:lnSpc>
                <a:spcPct val="140000"/>
              </a:lnSpc>
            </a:pPr>
            <a:r>
              <a:rPr lang="en-US" sz="1000">
                <a:solidFill>
                  <a:srgbClr val="F7F5F0"/>
                </a:solidFill>
                <a:latin typeface="MiSans"/>
                <a:ea typeface="MiSans"/>
              </a:rPr>
              <a:t>负责推理的发动机</a:t>
            </a:r>
            <a:endParaRPr lang="en-US" sz="1600"/>
          </a:p>
        </p:txBody>
      </p:sp>
      <p:sp>
        <p:nvSpPr>
          <p:cNvPr id="20" name="nest-mid-note"/>
          <p:cNvSpPr txBox="1"/>
          <p:nvPr/>
        </p:nvSpPr>
        <p:spPr>
          <a:xfrm>
            <a:off x="1270000" y="4876800"/>
            <a:ext cx="4470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ctr">
              <a:lnSpc>
                <a:spcPct val="120000"/>
              </a:lnSpc>
            </a:pPr>
            <a:r>
              <a:rPr lang="en-US" sz="1000">
                <a:solidFill>
                  <a:srgbClr val="6B675F"/>
                </a:solidFill>
                <a:latin typeface="MiSans"/>
                <a:ea typeface="MiSans"/>
              </a:rPr>
              <a:t>同一个模型,配上不同的 Harness,能干完全不同的活</a:t>
            </a:r>
            <a:endParaRPr lang="en-US" sz="1000"/>
          </a:p>
        </p:txBody>
      </p:sp>
      <p:sp>
        <p:nvSpPr>
          <p:cNvPr id="21" name="nest-outer-note"/>
          <p:cNvSpPr txBox="1"/>
          <p:nvPr/>
        </p:nvSpPr>
        <p:spPr>
          <a:xfrm>
            <a:off x="889000" y="5537200"/>
            <a:ext cx="5232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000">
                <a:solidFill>
                  <a:srgbClr val="6B675F"/>
                </a:solidFill>
                <a:latin typeface="MiSans"/>
                <a:ea typeface="MiSans"/>
              </a:rPr>
              <a:t>模型之外的一切:接口、数据、权限、流程,都在 Harness 这一层</a:t>
            </a:r>
            <a:endParaRPr lang="en-US" sz="1000"/>
          </a:p>
        </p:txBody>
      </p:sp>
      <p:sp>
        <p:nvSpPr>
          <p:cNvPr id="22" name="def-h"/>
          <p:cNvSpPr txBox="1"/>
          <p:nvPr/>
        </p:nvSpPr>
        <p:spPr>
          <a:xfrm>
            <a:off x="6858000" y="1778000"/>
            <a:ext cx="4622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E4D3B"/>
                </a:solidFill>
                <a:latin typeface="Liter"/>
                <a:ea typeface="Liter"/>
              </a:rPr>
              <a:t>一句话记住</a:t>
            </a:r>
            <a:endParaRPr lang="en-US" sz="1500"/>
          </a:p>
        </p:txBody>
      </p:sp>
      <p:sp>
        <p:nvSpPr>
          <p:cNvPr id="23" name="def-body"/>
          <p:cNvSpPr txBox="1"/>
          <p:nvPr/>
        </p:nvSpPr>
        <p:spPr>
          <a:xfrm>
            <a:off x="6858000" y="2108200"/>
            <a:ext cx="46228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55000"/>
              </a:lnSpc>
            </a:pPr>
            <a:r>
              <a:rPr lang="en-US" sz="1300">
                <a:solidFill>
                  <a:srgbClr val="22211E"/>
                </a:solidFill>
                <a:latin typeface="Liter"/>
                <a:ea typeface="Liter"/>
              </a:rPr>
              <a:t>Harness = 智能体的</a:t>
            </a:r>
            <a:r>
              <a:rPr lang="en-US" sz="1300" b="1">
                <a:solidFill>
                  <a:srgbClr val="22211E"/>
                </a:solidFill>
                <a:latin typeface="Liter"/>
                <a:ea typeface="Liter"/>
              </a:rPr>
              <a:t>驾驶舱</a:t>
            </a:r>
            <a:r>
              <a:rPr lang="en-US" sz="1300">
                <a:solidFill>
                  <a:srgbClr val="22211E"/>
                </a:solidFill>
                <a:latin typeface="Liter"/>
                <a:ea typeface="Liter"/>
              </a:rPr>
              <a:t>:方向盘是工具,仪表盘是反馈,刹车是护栏——模型只负责发动机。</a:t>
            </a:r>
            <a:endParaRPr lang="en-US" sz="1300"/>
          </a:p>
        </p:txBody>
      </p:sp>
      <p:sp>
        <p:nvSpPr>
          <p:cNvPr id="24" name="ana-box"/>
          <p:cNvSpPr/>
          <p:nvPr/>
        </p:nvSpPr>
        <p:spPr>
          <a:xfrm>
            <a:off x="6858000" y="3124200"/>
            <a:ext cx="4622800" cy="1397000"/>
          </a:xfrm>
          <a:prstGeom prst="rect">
            <a:avLst/>
          </a:prstGeom>
          <a:solidFill>
            <a:srgbClr val="EAF1EC"/>
          </a:solidFill>
          <a:ln>
            <a:noFill/>
          </a:ln>
        </p:spPr>
      </p:sp>
      <p:sp>
        <p:nvSpPr>
          <p:cNvPr id="25" name="ana-icon"/>
          <p:cNvSpPr/>
          <p:nvPr>
            <p:extLst>
              <p:ext uri="{F5677B7D-0D2A-4D9B-9A5C-6D8D7D0E5A5D}">
                <pptd:icon encoding="base64url">eyJpY29uTmFtZSI6ImZhczpzYXRlbGxpdGUtZGlzaCJ9</pptd:icon>
              </p:ext>
            </p:extLst>
          </p:nvPr>
        </p:nvSpPr>
        <p:spPr>
          <a:xfrm>
            <a:off x="7061200" y="33274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32" y="0"/>
                </a:moveTo>
                <a:cubicBezTo>
                  <a:pt x="387" y="0"/>
                  <a:pt x="512" y="125"/>
                  <a:pt x="512" y="280"/>
                </a:cubicBezTo>
                <a:cubicBezTo>
                  <a:pt x="512" y="293"/>
                  <a:pt x="501" y="304"/>
                  <a:pt x="488" y="304"/>
                </a:cubicBezTo>
                <a:cubicBezTo>
                  <a:pt x="475" y="304"/>
                  <a:pt x="464" y="293"/>
                  <a:pt x="464" y="280"/>
                </a:cubicBezTo>
                <a:cubicBezTo>
                  <a:pt x="464" y="152"/>
                  <a:pt x="360" y="48"/>
                  <a:pt x="232" y="48"/>
                </a:cubicBezTo>
                <a:cubicBezTo>
                  <a:pt x="219" y="48"/>
                  <a:pt x="208" y="37"/>
                  <a:pt x="208" y="24"/>
                </a:cubicBezTo>
                <a:cubicBezTo>
                  <a:pt x="208" y="11"/>
                  <a:pt x="219" y="0"/>
                  <a:pt x="232" y="0"/>
                </a:cubicBezTo>
                <a:close/>
                <a:moveTo>
                  <a:pt x="208" y="120"/>
                </a:moveTo>
                <a:cubicBezTo>
                  <a:pt x="208" y="107"/>
                  <a:pt x="219" y="96"/>
                  <a:pt x="232" y="96"/>
                </a:cubicBezTo>
                <a:cubicBezTo>
                  <a:pt x="334" y="96"/>
                  <a:pt x="416" y="178"/>
                  <a:pt x="416" y="280"/>
                </a:cubicBezTo>
                <a:cubicBezTo>
                  <a:pt x="416" y="293"/>
                  <a:pt x="405" y="304"/>
                  <a:pt x="392" y="304"/>
                </a:cubicBezTo>
                <a:cubicBezTo>
                  <a:pt x="379" y="304"/>
                  <a:pt x="368" y="293"/>
                  <a:pt x="368" y="280"/>
                </a:cubicBezTo>
                <a:cubicBezTo>
                  <a:pt x="368" y="205"/>
                  <a:pt x="307" y="144"/>
                  <a:pt x="232" y="144"/>
                </a:cubicBezTo>
                <a:cubicBezTo>
                  <a:pt x="219" y="144"/>
                  <a:pt x="208" y="133"/>
                  <a:pt x="208" y="120"/>
                </a:cubicBezTo>
                <a:close/>
                <a:moveTo>
                  <a:pt x="26" y="143"/>
                </a:moveTo>
                <a:cubicBezTo>
                  <a:pt x="35" y="125"/>
                  <a:pt x="59" y="123"/>
                  <a:pt x="73" y="137"/>
                </a:cubicBezTo>
                <a:lnTo>
                  <a:pt x="201" y="265"/>
                </a:lnTo>
                <a:lnTo>
                  <a:pt x="233" y="233"/>
                </a:lnTo>
                <a:cubicBezTo>
                  <a:pt x="246" y="221"/>
                  <a:pt x="266" y="221"/>
                  <a:pt x="279" y="233"/>
                </a:cubicBezTo>
                <a:cubicBezTo>
                  <a:pt x="291" y="246"/>
                  <a:pt x="291" y="266"/>
                  <a:pt x="279" y="279"/>
                </a:cubicBezTo>
                <a:lnTo>
                  <a:pt x="247" y="311"/>
                </a:lnTo>
                <a:lnTo>
                  <a:pt x="375" y="439"/>
                </a:lnTo>
                <a:cubicBezTo>
                  <a:pt x="389" y="453"/>
                  <a:pt x="387" y="477"/>
                  <a:pt x="369" y="486"/>
                </a:cubicBezTo>
                <a:cubicBezTo>
                  <a:pt x="335" y="503"/>
                  <a:pt x="297" y="512"/>
                  <a:pt x="256" y="512"/>
                </a:cubicBezTo>
                <a:cubicBezTo>
                  <a:pt x="115" y="512"/>
                  <a:pt x="0" y="398"/>
                  <a:pt x="0" y="256"/>
                </a:cubicBezTo>
                <a:cubicBezTo>
                  <a:pt x="0" y="215"/>
                  <a:pt x="10" y="177"/>
                  <a:pt x="26" y="143"/>
                </a:cubicBezTo>
                <a:close/>
              </a:path>
            </a:pathLst>
          </a:custGeom>
          <a:solidFill>
            <a:srgbClr val="1E4D3B"/>
          </a:solidFill>
          <a:ln>
            <a:noFill/>
          </a:ln>
        </p:spPr>
      </p:sp>
      <p:sp>
        <p:nvSpPr>
          <p:cNvPr id="26" name="ana-h"/>
          <p:cNvSpPr txBox="1"/>
          <p:nvPr/>
        </p:nvSpPr>
        <p:spPr>
          <a:xfrm>
            <a:off x="7467600" y="33274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300" b="1">
                <a:solidFill>
                  <a:srgbClr val="22211E"/>
                </a:solidFill>
                <a:latin typeface="MiSans"/>
                <a:ea typeface="MiSans"/>
              </a:rPr>
              <a:t>看我们自己</a:t>
            </a:r>
            <a:endParaRPr lang="en-US" sz="1300"/>
          </a:p>
        </p:txBody>
      </p:sp>
      <p:sp>
        <p:nvSpPr>
          <p:cNvPr id="27" name="ana-body"/>
          <p:cNvSpPr txBox="1"/>
          <p:nvPr/>
        </p:nvSpPr>
        <p:spPr>
          <a:xfrm>
            <a:off x="7061200" y="3708400"/>
            <a:ext cx="42164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50000"/>
              </a:lnSpc>
            </a:pPr>
            <a:r>
              <a:rPr lang="en-US" sz="1200">
                <a:solidFill>
                  <a:srgbClr val="22211E"/>
                </a:solidFill>
                <a:latin typeface="MiSans"/>
                <a:ea typeface="MiSans"/>
              </a:rPr>
              <a:t>我们的传感器 + 物联网平台,其实就是</a:t>
            </a:r>
            <a:r>
              <a:rPr lang="en-US" sz="1200" b="1">
                <a:solidFill>
                  <a:srgbClr val="22211E"/>
                </a:solidFill>
                <a:latin typeface="MiSans"/>
                <a:ea typeface="MiSans"/>
              </a:rPr>
              <a:t>物理世界数据的 Harness</a:t>
            </a:r>
            <a:r>
              <a:rPr lang="en-US" sz="1200">
                <a:solidFill>
                  <a:srgbClr val="22211E"/>
                </a:solidFill>
                <a:latin typeface="MiSans"/>
                <a:ea typeface="MiSans"/>
              </a:rPr>
              <a:t>——把墒情、气象、地质信号接进数字世界。</a:t>
            </a:r>
            <a:endParaRPr lang="en-US" sz="1200"/>
          </a:p>
        </p:txBody>
      </p:sp>
      <p:sp>
        <p:nvSpPr>
          <p:cNvPr id="28" name="chk-box"/>
          <p:cNvSpPr/>
          <p:nvPr/>
        </p:nvSpPr>
        <p:spPr>
          <a:xfrm>
            <a:off x="6858000" y="4724400"/>
            <a:ext cx="4622800" cy="965200"/>
          </a:xfrm>
          <a:prstGeom prst="rect">
            <a:avLst/>
          </a:prstGeom>
          <a:solidFill>
            <a:srgbClr val="F7EBDC"/>
          </a:solidFill>
          <a:ln>
            <a:noFill/>
          </a:ln>
        </p:spPr>
      </p:sp>
      <p:sp>
        <p:nvSpPr>
          <p:cNvPr id="29" name="chk-icon"/>
          <p:cNvSpPr/>
          <p:nvPr>
            <p:extLst>
              <p:ext uri="{F5677B7D-0D2A-4D9B-9A5C-6D8D7D0E5A5D}">
                <pptd:icon encoding="base64url">eyJpY29uTmFtZSI6ImZhczpjaXJjbGUtcXVlc3Rpb24ifQ</pptd:icon>
              </p:ext>
            </p:extLst>
          </p:nvPr>
        </p:nvSpPr>
        <p:spPr>
          <a:xfrm>
            <a:off x="7061200" y="49276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397" y="512"/>
                  <a:pt x="512" y="397"/>
                  <a:pt x="512" y="256"/>
                </a:cubicBezTo>
                <a:cubicBezTo>
                  <a:pt x="512" y="115"/>
                  <a:pt x="397" y="0"/>
                  <a:pt x="256" y="0"/>
                </a:cubicBezTo>
                <a:cubicBezTo>
                  <a:pt x="115" y="0"/>
                  <a:pt x="0" y="115"/>
                  <a:pt x="0" y="256"/>
                </a:cubicBezTo>
                <a:cubicBezTo>
                  <a:pt x="0" y="397"/>
                  <a:pt x="115" y="512"/>
                  <a:pt x="256" y="512"/>
                </a:cubicBezTo>
                <a:close/>
                <a:moveTo>
                  <a:pt x="256" y="176"/>
                </a:moveTo>
                <a:cubicBezTo>
                  <a:pt x="238" y="176"/>
                  <a:pt x="224" y="190"/>
                  <a:pt x="224" y="208"/>
                </a:cubicBezTo>
                <a:cubicBezTo>
                  <a:pt x="224" y="221"/>
                  <a:pt x="213" y="232"/>
                  <a:pt x="200" y="232"/>
                </a:cubicBezTo>
                <a:cubicBezTo>
                  <a:pt x="187" y="232"/>
                  <a:pt x="176" y="221"/>
                  <a:pt x="176" y="208"/>
                </a:cubicBezTo>
                <a:cubicBezTo>
                  <a:pt x="176" y="164"/>
                  <a:pt x="212" y="128"/>
                  <a:pt x="256" y="128"/>
                </a:cubicBezTo>
                <a:cubicBezTo>
                  <a:pt x="300" y="128"/>
                  <a:pt x="336" y="164"/>
                  <a:pt x="336" y="208"/>
                </a:cubicBezTo>
                <a:cubicBezTo>
                  <a:pt x="336" y="255"/>
                  <a:pt x="300" y="275"/>
                  <a:pt x="280" y="283"/>
                </a:cubicBezTo>
                <a:lnTo>
                  <a:pt x="280" y="286"/>
                </a:lnTo>
                <a:cubicBezTo>
                  <a:pt x="280" y="300"/>
                  <a:pt x="269" y="310"/>
                  <a:pt x="256" y="310"/>
                </a:cubicBezTo>
                <a:cubicBezTo>
                  <a:pt x="243" y="310"/>
                  <a:pt x="232" y="300"/>
                  <a:pt x="232" y="286"/>
                </a:cubicBezTo>
                <a:lnTo>
                  <a:pt x="232" y="278"/>
                </a:lnTo>
                <a:cubicBezTo>
                  <a:pt x="232" y="258"/>
                  <a:pt x="247" y="243"/>
                  <a:pt x="262" y="238"/>
                </a:cubicBezTo>
                <a:cubicBezTo>
                  <a:pt x="269" y="236"/>
                  <a:pt x="275" y="233"/>
                  <a:pt x="280" y="228"/>
                </a:cubicBezTo>
                <a:cubicBezTo>
                  <a:pt x="285" y="224"/>
                  <a:pt x="288" y="218"/>
                  <a:pt x="288" y="208"/>
                </a:cubicBezTo>
                <a:cubicBezTo>
                  <a:pt x="288" y="190"/>
                  <a:pt x="274" y="176"/>
                  <a:pt x="256" y="176"/>
                </a:cubicBezTo>
                <a:close/>
                <a:moveTo>
                  <a:pt x="224" y="368"/>
                </a:moveTo>
                <a:cubicBezTo>
                  <a:pt x="224" y="350"/>
                  <a:pt x="238" y="336"/>
                  <a:pt x="256" y="336"/>
                </a:cubicBezTo>
                <a:cubicBezTo>
                  <a:pt x="274" y="336"/>
                  <a:pt x="288" y="350"/>
                  <a:pt x="288" y="368"/>
                </a:cubicBezTo>
                <a:cubicBezTo>
                  <a:pt x="288" y="386"/>
                  <a:pt x="274" y="400"/>
                  <a:pt x="256" y="400"/>
                </a:cubicBezTo>
                <a:cubicBezTo>
                  <a:pt x="238" y="400"/>
                  <a:pt x="224" y="386"/>
                  <a:pt x="224" y="368"/>
                </a:cubicBezTo>
                <a:close/>
              </a:path>
            </a:pathLst>
          </a:custGeom>
          <a:solidFill>
            <a:srgbClr val="C26A2E"/>
          </a:solidFill>
          <a:ln>
            <a:noFill/>
          </a:ln>
        </p:spPr>
      </p:sp>
      <p:sp>
        <p:nvSpPr>
          <p:cNvPr id="30" name="chk-h"/>
          <p:cNvSpPr txBox="1"/>
          <p:nvPr/>
        </p:nvSpPr>
        <p:spPr>
          <a:xfrm>
            <a:off x="7416800" y="4914900"/>
            <a:ext cx="3860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300" b="1">
                <a:solidFill>
                  <a:srgbClr val="C26A2E"/>
                </a:solidFill>
                <a:latin typeface="MiSans"/>
                <a:ea typeface="MiSans"/>
              </a:rPr>
              <a:t>检查</a:t>
            </a:r>
            <a:endParaRPr lang="en-US" sz="1300"/>
          </a:p>
        </p:txBody>
      </p:sp>
      <p:sp>
        <p:nvSpPr>
          <p:cNvPr id="31" name="chk-body"/>
          <p:cNvSpPr txBox="1"/>
          <p:nvPr/>
        </p:nvSpPr>
        <p:spPr>
          <a:xfrm>
            <a:off x="7061200" y="5232400"/>
            <a:ext cx="4216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200">
                <a:solidFill>
                  <a:srgbClr val="22211E"/>
                </a:solidFill>
                <a:latin typeface="MiSans"/>
                <a:ea typeface="MiSans"/>
              </a:rPr>
              <a:t>不看页面,说出 Harness 的至少 3 个组成部分。</a:t>
            </a:r>
            <a:endParaRPr lang="en-US" sz="1200"/>
          </a:p>
        </p:txBody>
      </p:sp>
      <p:sp>
        <p:nvSpPr>
          <p:cNvPr id="32" name="footer-line"/>
          <p:cNvSpPr/>
          <p:nvPr/>
        </p:nvSpPr>
        <p:spPr>
          <a:xfrm>
            <a:off x="711200" y="6375400"/>
            <a:ext cx="10769600" cy="12700"/>
          </a:xfrm>
          <a:prstGeom prst="rect">
            <a:avLst/>
          </a:prstGeom>
          <a:solidFill>
            <a:srgbClr val="D8D3C8"/>
          </a:solidFill>
          <a:ln>
            <a:noFill/>
          </a:ln>
        </p:spPr>
      </p:sp>
      <p:sp>
        <p:nvSpPr>
          <p:cNvPr id="33" name="footer-src"/>
          <p:cNvSpPr txBox="1"/>
          <p:nvPr/>
        </p:nvSpPr>
        <p:spPr>
          <a:xfrm>
            <a:off x="711200" y="6477000"/>
            <a:ext cx="812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40000"/>
              </a:lnSpc>
            </a:pPr>
            <a:r>
              <a:rPr lang="en-US" sz="1000">
                <a:solidFill>
                  <a:srgbClr val="6B675F"/>
                </a:solidFill>
                <a:latin typeface="Liter"/>
                <a:ea typeface="Liter"/>
              </a:rPr>
              <a:t>概念据公开 Agent 工程资料整理;公司类比基于公开产品能力</a:t>
            </a:r>
            <a:endParaRPr lang="en-US" sz="1000"/>
          </a:p>
        </p:txBody>
      </p:sp>
      <p:sp>
        <p:nvSpPr>
          <p:cNvPr id="34" name="footer-page"/>
          <p:cNvSpPr txBox="1"/>
          <p:nvPr/>
        </p:nvSpPr>
        <p:spPr>
          <a:xfrm>
            <a:off x="10464800" y="64770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r">
              <a:lnSpc>
                <a:spcPct val="140000"/>
              </a:lnSpc>
            </a:pPr>
            <a:r>
              <a:rPr lang="en-US" sz="1000">
                <a:solidFill>
                  <a:srgbClr val="6B675F"/>
                </a:solidFill>
                <a:latin typeface="Liter"/>
                <a:ea typeface="Liter"/>
              </a:rPr>
              <a:t>15 / 35</a:t>
            </a:r>
            <a:endParaRPr lang="en-US" sz="10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826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100" b="1" spc="200" kern="0">
                <a:solidFill>
                  <a:srgbClr val="C26A2E"/>
                </a:solidFill>
                <a:latin typeface="Liter"/>
                <a:ea typeface="Liter"/>
              </a:rPr>
              <a:t>第三章 · HARNESS 与 LOOP ENGINEERING</a:t>
            </a:r>
            <a:endParaRPr lang="en-US" sz="1100"/>
          </a:p>
        </p:txBody>
      </p:sp>
      <p:sp>
        <p:nvSpPr>
          <p:cNvPr id="3" name="title"/>
          <p:cNvSpPr txBox="1"/>
          <p:nvPr/>
        </p:nvSpPr>
        <p:spPr>
          <a:xfrm>
            <a:off x="711200" y="7874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22211E"/>
                </a:solidFill>
                <a:latin typeface="Liter"/>
                <a:ea typeface="Liter"/>
              </a:rPr>
              <a:t>Loop Engineering:四要素各有各的设计标准</a:t>
            </a:r>
            <a:endParaRPr lang="en-US" sz="2600"/>
          </a:p>
        </p:txBody>
      </p:sp>
      <p:sp>
        <p:nvSpPr>
          <p:cNvPr id="4" name="node-1"/>
          <p:cNvSpPr/>
          <p:nvPr/>
        </p:nvSpPr>
        <p:spPr>
          <a:xfrm>
            <a:off x="711200" y="1778000"/>
            <a:ext cx="2286000" cy="66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4D3B"/>
            </a:solidFill>
          </a:ln>
        </p:spPr>
      </p:sp>
      <p:sp>
        <p:nvSpPr>
          <p:cNvPr id="5" name="node-1-t"/>
          <p:cNvSpPr txBox="1"/>
          <p:nvPr/>
        </p:nvSpPr>
        <p:spPr>
          <a:xfrm>
            <a:off x="711200" y="1778000"/>
            <a:ext cx="2286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300" b="1">
                <a:solidFill>
                  <a:srgbClr val="1E4D3B"/>
                </a:solidFill>
                <a:latin typeface="MiSans"/>
                <a:ea typeface="MiSans"/>
              </a:rPr>
              <a:t>① 目标</a:t>
            </a:r>
            <a:r>
              <a:rPr lang="en-US" sz="1300">
                <a:solidFill>
                  <a:srgbClr val="1E4D3B"/>
                </a:solidFill>
                <a:latin typeface="MiSans"/>
                <a:ea typeface="MiSans"/>
              </a:rPr>
              <a:t> GOAL</a:t>
            </a:r>
            <a:endParaRPr lang="en-US" sz="1300"/>
          </a:p>
        </p:txBody>
      </p:sp>
      <p:sp>
        <p:nvSpPr>
          <p:cNvPr id="6" name="arr-1"/>
          <p:cNvSpPr/>
          <p:nvPr>
            <p:extLst>
              <p:ext uri="{F5677B7D-0D2A-4D9B-9A5C-6D8D7D0E5A5D}">
                <pptd:line encoding="base64url">eyJjdXJ2ZSI6InNoYXJwIiwicG9pbnRzIjoiMCwxIDM1LDEiLCJ2aWV3Qm94IjpbMzUsMl19</pptd:line>
              </p:ext>
            </p:extLst>
          </p:nvPr>
        </p:nvSpPr>
        <p:spPr>
          <a:xfrm>
            <a:off x="3048000" y="2095500"/>
            <a:ext cx="444500" cy="25400"/>
          </a:xfrm>
          <a:custGeom>
            <a:avLst/>
            <a:gdLst/>
            <a:ahLst/>
            <a:cxnLst/>
            <a:rect l="l" t="t" r="r" b="b"/>
            <a:pathLst>
              <a:path w="35" h="2">
                <a:moveTo>
                  <a:pt x="0" y="1"/>
                </a:moveTo>
                <a:lnTo>
                  <a:pt x="35" y="1"/>
                </a:lnTo>
              </a:path>
            </a:pathLst>
          </a:custGeom>
          <a:noFill/>
          <a:ln w="25400">
            <a:solidFill>
              <a:srgbClr val="1E4D3B"/>
            </a:solidFill>
            <a:tailEnd type="arrow"/>
          </a:ln>
        </p:spPr>
      </p:sp>
      <p:sp>
        <p:nvSpPr>
          <p:cNvPr id="7" name="node-2"/>
          <p:cNvSpPr/>
          <p:nvPr/>
        </p:nvSpPr>
        <p:spPr>
          <a:xfrm>
            <a:off x="3543300" y="1778000"/>
            <a:ext cx="2286000" cy="66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4D3B"/>
            </a:solidFill>
          </a:ln>
        </p:spPr>
      </p:sp>
      <p:sp>
        <p:nvSpPr>
          <p:cNvPr id="8" name="node-2-t"/>
          <p:cNvSpPr txBox="1"/>
          <p:nvPr/>
        </p:nvSpPr>
        <p:spPr>
          <a:xfrm>
            <a:off x="3543300" y="1778000"/>
            <a:ext cx="2286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300" b="1">
                <a:solidFill>
                  <a:srgbClr val="1E4D3B"/>
                </a:solidFill>
                <a:latin typeface="MiSans"/>
                <a:ea typeface="MiSans"/>
              </a:rPr>
              <a:t>② 行动</a:t>
            </a:r>
            <a:r>
              <a:rPr lang="en-US" sz="1300">
                <a:solidFill>
                  <a:srgbClr val="1E4D3B"/>
                </a:solidFill>
                <a:latin typeface="MiSans"/>
                <a:ea typeface="MiSans"/>
              </a:rPr>
              <a:t> ACT</a:t>
            </a:r>
            <a:endParaRPr lang="en-US" sz="1300"/>
          </a:p>
        </p:txBody>
      </p:sp>
      <p:sp>
        <p:nvSpPr>
          <p:cNvPr id="9" name="arr-2"/>
          <p:cNvSpPr/>
          <p:nvPr>
            <p:extLst>
              <p:ext uri="{F5677B7D-0D2A-4D9B-9A5C-6D8D7D0E5A5D}">
                <pptd:line encoding="base64url">eyJjdXJ2ZSI6InNoYXJwIiwicG9pbnRzIjoiMCwxIDM1LDEiLCJ2aWV3Qm94IjpbMzUsMl19</pptd:line>
              </p:ext>
            </p:extLst>
          </p:nvPr>
        </p:nvSpPr>
        <p:spPr>
          <a:xfrm>
            <a:off x="5880100" y="2095500"/>
            <a:ext cx="444500" cy="25400"/>
          </a:xfrm>
          <a:custGeom>
            <a:avLst/>
            <a:gdLst/>
            <a:ahLst/>
            <a:cxnLst/>
            <a:rect l="l" t="t" r="r" b="b"/>
            <a:pathLst>
              <a:path w="35" h="2">
                <a:moveTo>
                  <a:pt x="0" y="1"/>
                </a:moveTo>
                <a:lnTo>
                  <a:pt x="35" y="1"/>
                </a:lnTo>
              </a:path>
            </a:pathLst>
          </a:custGeom>
          <a:noFill/>
          <a:ln w="25400">
            <a:solidFill>
              <a:srgbClr val="1E4D3B"/>
            </a:solidFill>
            <a:tailEnd type="arrow"/>
          </a:ln>
        </p:spPr>
      </p:sp>
      <p:sp>
        <p:nvSpPr>
          <p:cNvPr id="10" name="node-3"/>
          <p:cNvSpPr/>
          <p:nvPr/>
        </p:nvSpPr>
        <p:spPr>
          <a:xfrm>
            <a:off x="6375400" y="1778000"/>
            <a:ext cx="2286000" cy="66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4D3B"/>
            </a:solidFill>
          </a:ln>
        </p:spPr>
      </p:sp>
      <p:sp>
        <p:nvSpPr>
          <p:cNvPr id="11" name="node-3-t"/>
          <p:cNvSpPr txBox="1"/>
          <p:nvPr/>
        </p:nvSpPr>
        <p:spPr>
          <a:xfrm>
            <a:off x="6375400" y="1778000"/>
            <a:ext cx="2286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300" b="1">
                <a:solidFill>
                  <a:srgbClr val="1E4D3B"/>
                </a:solidFill>
                <a:latin typeface="MiSans"/>
                <a:ea typeface="MiSans"/>
              </a:rPr>
              <a:t>③ 反馈</a:t>
            </a:r>
            <a:r>
              <a:rPr lang="en-US" sz="1300">
                <a:solidFill>
                  <a:srgbClr val="1E4D3B"/>
                </a:solidFill>
                <a:latin typeface="MiSans"/>
                <a:ea typeface="MiSans"/>
              </a:rPr>
              <a:t> FEEDBACK</a:t>
            </a:r>
            <a:endParaRPr lang="en-US" sz="1300"/>
          </a:p>
        </p:txBody>
      </p:sp>
      <p:sp>
        <p:nvSpPr>
          <p:cNvPr id="12" name="arr-3"/>
          <p:cNvSpPr/>
          <p:nvPr>
            <p:extLst>
              <p:ext uri="{F5677B7D-0D2A-4D9B-9A5C-6D8D7D0E5A5D}">
                <pptd:line encoding="base64url">eyJjdXJ2ZSI6InNoYXJwIiwicG9pbnRzIjoiMCwxIDM1LDEiLCJ2aWV3Qm94IjpbMzUsMl19</pptd:line>
              </p:ext>
            </p:extLst>
          </p:nvPr>
        </p:nvSpPr>
        <p:spPr>
          <a:xfrm>
            <a:off x="8712200" y="2095500"/>
            <a:ext cx="444500" cy="25400"/>
          </a:xfrm>
          <a:custGeom>
            <a:avLst/>
            <a:gdLst/>
            <a:ahLst/>
            <a:cxnLst/>
            <a:rect l="l" t="t" r="r" b="b"/>
            <a:pathLst>
              <a:path w="35" h="2">
                <a:moveTo>
                  <a:pt x="0" y="1"/>
                </a:moveTo>
                <a:lnTo>
                  <a:pt x="35" y="1"/>
                </a:lnTo>
              </a:path>
            </a:pathLst>
          </a:custGeom>
          <a:noFill/>
          <a:ln w="25400">
            <a:solidFill>
              <a:srgbClr val="1E4D3B"/>
            </a:solidFill>
            <a:tailEnd type="arrow"/>
          </a:ln>
        </p:spPr>
      </p:sp>
      <p:sp>
        <p:nvSpPr>
          <p:cNvPr id="13" name="node-4"/>
          <p:cNvSpPr/>
          <p:nvPr/>
        </p:nvSpPr>
        <p:spPr>
          <a:xfrm>
            <a:off x="9207500" y="1778000"/>
            <a:ext cx="2286000" cy="66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4D3B"/>
            </a:solidFill>
          </a:ln>
        </p:spPr>
      </p:sp>
      <p:sp>
        <p:nvSpPr>
          <p:cNvPr id="14" name="node-4-t"/>
          <p:cNvSpPr txBox="1"/>
          <p:nvPr/>
        </p:nvSpPr>
        <p:spPr>
          <a:xfrm>
            <a:off x="9207500" y="1778000"/>
            <a:ext cx="2286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300" b="1">
                <a:solidFill>
                  <a:srgbClr val="1E4D3B"/>
                </a:solidFill>
                <a:latin typeface="MiSans"/>
                <a:ea typeface="MiSans"/>
              </a:rPr>
              <a:t>④ 验证</a:t>
            </a:r>
            <a:r>
              <a:rPr lang="en-US" sz="1300">
                <a:solidFill>
                  <a:srgbClr val="1E4D3B"/>
                </a:solidFill>
                <a:latin typeface="MiSans"/>
                <a:ea typeface="MiSans"/>
              </a:rPr>
              <a:t> VERIFY</a:t>
            </a:r>
            <a:endParaRPr lang="en-US" sz="1300"/>
          </a:p>
        </p:txBody>
      </p:sp>
      <p:sp>
        <p:nvSpPr>
          <p:cNvPr id="15" name="node-1-p"/>
          <p:cNvSpPr txBox="1"/>
          <p:nvPr/>
        </p:nvSpPr>
        <p:spPr>
          <a:xfrm>
            <a:off x="711200" y="2565400"/>
            <a:ext cx="2286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5000"/>
              </a:lnSpc>
            </a:pPr>
            <a:r>
              <a:rPr lang="en-US" sz="1100" b="1">
                <a:solidFill>
                  <a:srgbClr val="22211E"/>
                </a:solidFill>
                <a:latin typeface="MiSans"/>
                <a:ea typeface="MiSans"/>
              </a:rPr>
              <a:t>目标要可验收</a:t>
            </a:r>
            <a:r>
              <a:rPr lang="en-US" sz="1100">
                <a:solidFill>
                  <a:srgbClr val="22211E"/>
                </a:solidFill>
                <a:latin typeface="MiSans"/>
                <a:ea typeface="MiSans"/>
              </a:rPr>
              <a:t>:完成标准写成能判对错的条件</a:t>
            </a:r>
            <a:endParaRPr lang="en-US" sz="1100"/>
          </a:p>
        </p:txBody>
      </p:sp>
      <p:sp>
        <p:nvSpPr>
          <p:cNvPr id="16" name="node-2-p"/>
          <p:cNvSpPr txBox="1"/>
          <p:nvPr/>
        </p:nvSpPr>
        <p:spPr>
          <a:xfrm>
            <a:off x="3543300" y="2565400"/>
            <a:ext cx="2286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5000"/>
              </a:lnSpc>
            </a:pPr>
            <a:r>
              <a:rPr lang="en-US" sz="1100" b="1">
                <a:solidFill>
                  <a:srgbClr val="22211E"/>
                </a:solidFill>
                <a:latin typeface="MiSans"/>
                <a:ea typeface="MiSans"/>
              </a:rPr>
              <a:t>行动要工具化</a:t>
            </a:r>
            <a:r>
              <a:rPr lang="en-US" sz="1100">
                <a:solidFill>
                  <a:srgbClr val="22211E"/>
                </a:solidFill>
                <a:latin typeface="MiSans"/>
                <a:ea typeface="MiSans"/>
              </a:rPr>
              <a:t>:每一步都是可调用的接口</a:t>
            </a:r>
            <a:endParaRPr lang="en-US" sz="1100"/>
          </a:p>
        </p:txBody>
      </p:sp>
      <p:sp>
        <p:nvSpPr>
          <p:cNvPr id="17" name="node-3-p"/>
          <p:cNvSpPr txBox="1"/>
          <p:nvPr/>
        </p:nvSpPr>
        <p:spPr>
          <a:xfrm>
            <a:off x="6375400" y="2565400"/>
            <a:ext cx="2286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5000"/>
              </a:lnSpc>
            </a:pPr>
            <a:r>
              <a:rPr lang="en-US" sz="1100" b="1">
                <a:solidFill>
                  <a:srgbClr val="22211E"/>
                </a:solidFill>
                <a:latin typeface="MiSans"/>
                <a:ea typeface="MiSans"/>
              </a:rPr>
              <a:t>反馈要结构化</a:t>
            </a:r>
            <a:r>
              <a:rPr lang="en-US" sz="1100">
                <a:solidFill>
                  <a:srgbClr val="22211E"/>
                </a:solidFill>
                <a:latin typeface="MiSans"/>
                <a:ea typeface="MiSans"/>
              </a:rPr>
              <a:t>:机器可读,而不是散文</a:t>
            </a:r>
            <a:endParaRPr lang="en-US" sz="1100"/>
          </a:p>
        </p:txBody>
      </p:sp>
      <p:sp>
        <p:nvSpPr>
          <p:cNvPr id="18" name="node-4-p"/>
          <p:cNvSpPr txBox="1"/>
          <p:nvPr/>
        </p:nvSpPr>
        <p:spPr>
          <a:xfrm>
            <a:off x="9207500" y="2565400"/>
            <a:ext cx="2286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5000"/>
              </a:lnSpc>
            </a:pPr>
            <a:r>
              <a:rPr lang="en-US" sz="1100" b="1">
                <a:solidFill>
                  <a:srgbClr val="22211E"/>
                </a:solidFill>
                <a:latin typeface="MiSans"/>
                <a:ea typeface="MiSans"/>
              </a:rPr>
              <a:t>验证要自动化</a:t>
            </a:r>
            <a:r>
              <a:rPr lang="en-US" sz="1100">
                <a:solidFill>
                  <a:srgbClr val="22211E"/>
                </a:solidFill>
                <a:latin typeface="MiSans"/>
                <a:ea typeface="MiSans"/>
              </a:rPr>
              <a:t>:程序先查,人不盯梢</a:t>
            </a:r>
            <a:endParaRPr lang="en-US" sz="1100"/>
          </a:p>
        </p:txBody>
      </p:sp>
      <p:sp>
        <p:nvSpPr>
          <p:cNvPr id="19" name="loop-back"/>
          <p:cNvSpPr/>
          <p:nvPr>
            <p:extLst>
              <p:ext uri="{F5677B7D-0D2A-4D9B-9A5C-6D8D7D0E5A5D}">
                <pptd:line encoding="base64url">eyJjdXJ2ZSI6InNoYXJwIiwicG9pbnRzIjoiNjY5LDAgNjY5LDI4IDAsMjggMCw0Iiwidmlld0JveCI6WzY2OSwzMl19</pptd:line>
              </p:ext>
            </p:extLst>
          </p:nvPr>
        </p:nvSpPr>
        <p:spPr>
          <a:xfrm>
            <a:off x="1854200" y="3403600"/>
            <a:ext cx="8496300" cy="406400"/>
          </a:xfrm>
          <a:custGeom>
            <a:avLst/>
            <a:gdLst/>
            <a:ahLst/>
            <a:cxnLst/>
            <a:rect l="l" t="t" r="r" b="b"/>
            <a:pathLst>
              <a:path w="669" h="32">
                <a:moveTo>
                  <a:pt x="669" y="0"/>
                </a:moveTo>
                <a:lnTo>
                  <a:pt x="669" y="28"/>
                </a:lnTo>
                <a:lnTo>
                  <a:pt x="0" y="28"/>
                </a:lnTo>
                <a:lnTo>
                  <a:pt x="0" y="4"/>
                </a:lnTo>
              </a:path>
            </a:pathLst>
          </a:custGeom>
          <a:noFill/>
          <a:ln w="19050">
            <a:solidFill>
              <a:srgbClr val="C26A2E"/>
            </a:solidFill>
            <a:tailEnd type="arrow"/>
          </a:ln>
        </p:spPr>
      </p:sp>
      <p:sp>
        <p:nvSpPr>
          <p:cNvPr id="20" name="loop-back-t"/>
          <p:cNvSpPr txBox="1"/>
          <p:nvPr/>
        </p:nvSpPr>
        <p:spPr>
          <a:xfrm>
            <a:off x="4191000" y="38354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ctr">
              <a:lnSpc>
                <a:spcPct val="120000"/>
              </a:lnSpc>
            </a:pPr>
            <a:r>
              <a:rPr lang="en-US" sz="1000">
                <a:solidFill>
                  <a:srgbClr val="6B675F"/>
                </a:solidFill>
                <a:latin typeface="MiSans"/>
                <a:ea typeface="MiSans"/>
              </a:rPr>
              <a:t>验证不通过 → 带着校验结果回到目标与行动,再跑一圈</a:t>
            </a:r>
            <a:endParaRPr lang="en-US" sz="1000"/>
          </a:p>
        </p:txBody>
      </p:sp>
      <p:sp>
        <p:nvSpPr>
          <p:cNvPr id="21" name="vs-h"/>
          <p:cNvSpPr txBox="1"/>
          <p:nvPr/>
        </p:nvSpPr>
        <p:spPr>
          <a:xfrm>
            <a:off x="711200" y="41910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E4D3B"/>
                </a:solidFill>
                <a:latin typeface="Liter"/>
                <a:ea typeface="Liter"/>
              </a:rPr>
              <a:t>反馈这一环,最容易做错</a:t>
            </a:r>
            <a:endParaRPr lang="en-US" sz="1500"/>
          </a:p>
        </p:txBody>
      </p:sp>
      <p:sp>
        <p:nvSpPr>
          <p:cNvPr id="22" name="bad-box"/>
          <p:cNvSpPr/>
          <p:nvPr/>
        </p:nvSpPr>
        <p:spPr>
          <a:xfrm>
            <a:off x="711200" y="4521200"/>
            <a:ext cx="5080000" cy="1270000"/>
          </a:xfrm>
          <a:prstGeom prst="rect">
            <a:avLst/>
          </a:prstGeom>
          <a:solidFill>
            <a:srgbClr val="F7EBDC"/>
          </a:solidFill>
          <a:ln>
            <a:noFill/>
          </a:ln>
        </p:spPr>
      </p:sp>
      <p:sp>
        <p:nvSpPr>
          <p:cNvPr id="23" name="bad-h"/>
          <p:cNvSpPr txBox="1"/>
          <p:nvPr/>
        </p:nvSpPr>
        <p:spPr>
          <a:xfrm>
            <a:off x="914400" y="4648200"/>
            <a:ext cx="46736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200" b="1">
                <a:solidFill>
                  <a:srgbClr val="C26A2E"/>
                </a:solidFill>
                <a:latin typeface="MiSans"/>
                <a:ea typeface="MiSans"/>
              </a:rPr>
              <a:t>✗ 反例:反馈是一段散文</a:t>
            </a:r>
            <a:endParaRPr lang="en-US" sz="1200"/>
          </a:p>
        </p:txBody>
      </p:sp>
      <p:sp>
        <p:nvSpPr>
          <p:cNvPr id="24" name="bad-body"/>
          <p:cNvSpPr txBox="1"/>
          <p:nvPr/>
        </p:nvSpPr>
        <p:spPr>
          <a:xfrm>
            <a:off x="914400" y="4927600"/>
            <a:ext cx="46736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5000"/>
              </a:lnSpc>
            </a:pPr>
            <a:r>
              <a:rPr lang="en-US" sz="1100">
                <a:solidFill>
                  <a:srgbClr val="22211E"/>
                </a:solidFill>
                <a:latin typeface="MiSans"/>
                <a:ea typeface="MiSans"/>
              </a:rPr>
              <a:t>"数据整体还行,个别站点好像缺数,墒情偏低的地方建议关注。"</a:t>
            </a:r>
            <a:endParaRPr lang="en-US" sz="1100"/>
          </a:p>
          <a:p>
            <a:pPr>
              <a:lnSpc>
                <a:spcPct val="145000"/>
              </a:lnSpc>
            </a:pPr>
            <a:r>
              <a:rPr lang="en-US" sz="1100">
                <a:solidFill>
                  <a:srgbClr val="22211E"/>
                </a:solidFill>
                <a:latin typeface="MiSans"/>
                <a:ea typeface="MiSans"/>
              </a:rPr>
              <a:t>——模型读完,不知道下一步该干什么。</a:t>
            </a:r>
            <a:endParaRPr lang="en-US" sz="1100"/>
          </a:p>
        </p:txBody>
      </p:sp>
      <p:sp>
        <p:nvSpPr>
          <p:cNvPr id="25" name="vs-arr"/>
          <p:cNvSpPr/>
          <p:nvPr>
            <p:extLst>
              <p:ext uri="{F5677B7D-0D2A-4D9B-9A5C-6D8D7D0E5A5D}">
                <pptd:line encoding="base64url">eyJjdXJ2ZSI6InNoYXJwIiwicG9pbnRzIjoiMCwxIDM2LDEiLCJ2aWV3Qm94IjpbMzYsMl19</pptd:line>
              </p:ext>
            </p:extLst>
          </p:nvPr>
        </p:nvSpPr>
        <p:spPr>
          <a:xfrm>
            <a:off x="5867400" y="5143500"/>
            <a:ext cx="457200" cy="25400"/>
          </a:xfrm>
          <a:custGeom>
            <a:avLst/>
            <a:gdLst/>
            <a:ahLst/>
            <a:cxnLst/>
            <a:rect l="l" t="t" r="r" b="b"/>
            <a:pathLst>
              <a:path w="36" h="2">
                <a:moveTo>
                  <a:pt x="0" y="1"/>
                </a:moveTo>
                <a:lnTo>
                  <a:pt x="36" y="1"/>
                </a:lnTo>
              </a:path>
            </a:pathLst>
          </a:custGeom>
          <a:noFill/>
          <a:ln w="25400">
            <a:solidFill>
              <a:srgbClr val="1E4D3B"/>
            </a:solidFill>
            <a:tailEnd type="arrow"/>
          </a:ln>
        </p:spPr>
      </p:sp>
      <p:sp>
        <p:nvSpPr>
          <p:cNvPr id="26" name="good-box"/>
          <p:cNvSpPr/>
          <p:nvPr/>
        </p:nvSpPr>
        <p:spPr>
          <a:xfrm>
            <a:off x="6400800" y="4521200"/>
            <a:ext cx="5080000" cy="1270000"/>
          </a:xfrm>
          <a:prstGeom prst="rect">
            <a:avLst/>
          </a:prstGeom>
          <a:solidFill>
            <a:srgbClr val="EAF1EC"/>
          </a:solidFill>
          <a:ln>
            <a:noFill/>
          </a:ln>
        </p:spPr>
      </p:sp>
      <p:sp>
        <p:nvSpPr>
          <p:cNvPr id="27" name="good-h"/>
          <p:cNvSpPr txBox="1"/>
          <p:nvPr/>
        </p:nvSpPr>
        <p:spPr>
          <a:xfrm>
            <a:off x="6604000" y="4648200"/>
            <a:ext cx="46736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200" b="1">
                <a:solidFill>
                  <a:srgbClr val="1E4D3B"/>
                </a:solidFill>
                <a:latin typeface="MiSans"/>
                <a:ea typeface="MiSans"/>
              </a:rPr>
              <a:t>✓ 改为:结构化校验结果(机器可读)</a:t>
            </a:r>
            <a:endParaRPr lang="en-US" sz="1200"/>
          </a:p>
        </p:txBody>
      </p:sp>
      <p:sp>
        <p:nvSpPr>
          <p:cNvPr id="28" name="good-body-1"/>
          <p:cNvSpPr txBox="1"/>
          <p:nvPr/>
        </p:nvSpPr>
        <p:spPr>
          <a:xfrm>
            <a:off x="6604000" y="4927600"/>
            <a:ext cx="46736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000">
                <a:solidFill>
                  <a:srgbClr val="22211E"/>
                </a:solidFill>
                <a:latin typeface="MiSans"/>
                <a:ea typeface="MiSans"/>
              </a:rPr>
              <a:t>{"pass": false,</a:t>
            </a:r>
            <a:endParaRPr lang="en-US" sz="1000"/>
          </a:p>
        </p:txBody>
      </p:sp>
      <p:sp>
        <p:nvSpPr>
          <p:cNvPr id="29" name="good-body-2"/>
          <p:cNvSpPr txBox="1"/>
          <p:nvPr/>
        </p:nvSpPr>
        <p:spPr>
          <a:xfrm>
            <a:off x="6604000" y="5130800"/>
            <a:ext cx="46736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000">
                <a:solidFill>
                  <a:srgbClr val="22211E"/>
                </a:solidFill>
                <a:latin typeface="MiSans"/>
                <a:ea typeface="MiSans"/>
              </a:rPr>
              <a:t> "missing_sites": ["A-07","B-12"],</a:t>
            </a:r>
            <a:endParaRPr lang="en-US" sz="1000"/>
          </a:p>
        </p:txBody>
      </p:sp>
      <p:sp>
        <p:nvSpPr>
          <p:cNvPr id="30" name="good-body-3"/>
          <p:cNvSpPr txBox="1"/>
          <p:nvPr/>
        </p:nvSpPr>
        <p:spPr>
          <a:xfrm>
            <a:off x="6604000" y="5334000"/>
            <a:ext cx="46736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000">
                <a:solidFill>
                  <a:srgbClr val="22211E"/>
                </a:solidFill>
                <a:latin typeface="MiSans"/>
                <a:ea typeface="MiSans"/>
              </a:rPr>
              <a:t> "breach": ["A-07 湿度低于阈值"],</a:t>
            </a:r>
            <a:endParaRPr lang="en-US" sz="1000"/>
          </a:p>
        </p:txBody>
      </p:sp>
      <p:sp>
        <p:nvSpPr>
          <p:cNvPr id="31" name="good-body-4"/>
          <p:cNvSpPr txBox="1"/>
          <p:nvPr/>
        </p:nvSpPr>
        <p:spPr>
          <a:xfrm>
            <a:off x="6604000" y="5537200"/>
            <a:ext cx="46736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000">
                <a:solidFill>
                  <a:srgbClr val="22211E"/>
                </a:solidFill>
                <a:latin typeface="MiSans"/>
                <a:ea typeface="MiSans"/>
              </a:rPr>
              <a:t> "next_action": "重新取数并标记"}</a:t>
            </a:r>
            <a:endParaRPr lang="en-US" sz="1000"/>
          </a:p>
        </p:txBody>
      </p:sp>
      <p:sp>
        <p:nvSpPr>
          <p:cNvPr id="32" name="chk-icon"/>
          <p:cNvSpPr/>
          <p:nvPr>
            <p:extLst>
              <p:ext uri="{F5677B7D-0D2A-4D9B-9A5C-6D8D7D0E5A5D}">
                <pptd:icon encoding="base64url">eyJpY29uTmFtZSI6ImZhczpjaXJjbGUtcXVlc3Rpb24ifQ</pptd:icon>
              </p:ext>
            </p:extLst>
          </p:nvPr>
        </p:nvSpPr>
        <p:spPr>
          <a:xfrm>
            <a:off x="711200" y="59182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397" y="512"/>
                  <a:pt x="512" y="397"/>
                  <a:pt x="512" y="256"/>
                </a:cubicBezTo>
                <a:cubicBezTo>
                  <a:pt x="512" y="115"/>
                  <a:pt x="397" y="0"/>
                  <a:pt x="256" y="0"/>
                </a:cubicBezTo>
                <a:cubicBezTo>
                  <a:pt x="115" y="0"/>
                  <a:pt x="0" y="115"/>
                  <a:pt x="0" y="256"/>
                </a:cubicBezTo>
                <a:cubicBezTo>
                  <a:pt x="0" y="397"/>
                  <a:pt x="115" y="512"/>
                  <a:pt x="256" y="512"/>
                </a:cubicBezTo>
                <a:close/>
                <a:moveTo>
                  <a:pt x="256" y="176"/>
                </a:moveTo>
                <a:cubicBezTo>
                  <a:pt x="238" y="176"/>
                  <a:pt x="224" y="190"/>
                  <a:pt x="224" y="208"/>
                </a:cubicBezTo>
                <a:cubicBezTo>
                  <a:pt x="224" y="221"/>
                  <a:pt x="213" y="232"/>
                  <a:pt x="200" y="232"/>
                </a:cubicBezTo>
                <a:cubicBezTo>
                  <a:pt x="187" y="232"/>
                  <a:pt x="176" y="221"/>
                  <a:pt x="176" y="208"/>
                </a:cubicBezTo>
                <a:cubicBezTo>
                  <a:pt x="176" y="164"/>
                  <a:pt x="212" y="128"/>
                  <a:pt x="256" y="128"/>
                </a:cubicBezTo>
                <a:cubicBezTo>
                  <a:pt x="300" y="128"/>
                  <a:pt x="336" y="164"/>
                  <a:pt x="336" y="208"/>
                </a:cubicBezTo>
                <a:cubicBezTo>
                  <a:pt x="336" y="255"/>
                  <a:pt x="300" y="275"/>
                  <a:pt x="280" y="283"/>
                </a:cubicBezTo>
                <a:lnTo>
                  <a:pt x="280" y="286"/>
                </a:lnTo>
                <a:cubicBezTo>
                  <a:pt x="280" y="300"/>
                  <a:pt x="269" y="310"/>
                  <a:pt x="256" y="310"/>
                </a:cubicBezTo>
                <a:cubicBezTo>
                  <a:pt x="243" y="310"/>
                  <a:pt x="232" y="300"/>
                  <a:pt x="232" y="286"/>
                </a:cubicBezTo>
                <a:lnTo>
                  <a:pt x="232" y="278"/>
                </a:lnTo>
                <a:cubicBezTo>
                  <a:pt x="232" y="258"/>
                  <a:pt x="247" y="243"/>
                  <a:pt x="262" y="238"/>
                </a:cubicBezTo>
                <a:cubicBezTo>
                  <a:pt x="269" y="236"/>
                  <a:pt x="275" y="233"/>
                  <a:pt x="280" y="228"/>
                </a:cubicBezTo>
                <a:cubicBezTo>
                  <a:pt x="285" y="224"/>
                  <a:pt x="288" y="218"/>
                  <a:pt x="288" y="208"/>
                </a:cubicBezTo>
                <a:cubicBezTo>
                  <a:pt x="288" y="190"/>
                  <a:pt x="274" y="176"/>
                  <a:pt x="256" y="176"/>
                </a:cubicBezTo>
                <a:close/>
                <a:moveTo>
                  <a:pt x="224" y="368"/>
                </a:moveTo>
                <a:cubicBezTo>
                  <a:pt x="224" y="350"/>
                  <a:pt x="238" y="336"/>
                  <a:pt x="256" y="336"/>
                </a:cubicBezTo>
                <a:cubicBezTo>
                  <a:pt x="274" y="336"/>
                  <a:pt x="288" y="350"/>
                  <a:pt x="288" y="368"/>
                </a:cubicBezTo>
                <a:cubicBezTo>
                  <a:pt x="288" y="386"/>
                  <a:pt x="274" y="400"/>
                  <a:pt x="256" y="400"/>
                </a:cubicBezTo>
                <a:cubicBezTo>
                  <a:pt x="238" y="400"/>
                  <a:pt x="224" y="386"/>
                  <a:pt x="224" y="368"/>
                </a:cubicBezTo>
                <a:close/>
              </a:path>
            </a:pathLst>
          </a:custGeom>
          <a:solidFill>
            <a:srgbClr val="C26A2E"/>
          </a:solidFill>
          <a:ln>
            <a:noFill/>
          </a:ln>
        </p:spPr>
      </p:sp>
      <p:sp>
        <p:nvSpPr>
          <p:cNvPr id="33" name="chk-body"/>
          <p:cNvSpPr txBox="1"/>
          <p:nvPr/>
        </p:nvSpPr>
        <p:spPr>
          <a:xfrm>
            <a:off x="1016000" y="5892800"/>
            <a:ext cx="10464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200" b="1">
                <a:solidFill>
                  <a:srgbClr val="22211E"/>
                </a:solidFill>
                <a:latin typeface="MiSans"/>
                <a:ea typeface="MiSans"/>
              </a:rPr>
              <a:t>判断题:好的循环里,验证由谁做?——程序校验 + 模型自检 + 人抽查,三者都在。</a:t>
            </a:r>
            <a:endParaRPr lang="en-US" sz="1200"/>
          </a:p>
        </p:txBody>
      </p:sp>
      <p:sp>
        <p:nvSpPr>
          <p:cNvPr id="34" name="footer-line"/>
          <p:cNvSpPr/>
          <p:nvPr/>
        </p:nvSpPr>
        <p:spPr>
          <a:xfrm>
            <a:off x="711200" y="6375400"/>
            <a:ext cx="10769600" cy="12700"/>
          </a:xfrm>
          <a:prstGeom prst="rect">
            <a:avLst/>
          </a:prstGeom>
          <a:solidFill>
            <a:srgbClr val="D8D3C8"/>
          </a:solidFill>
          <a:ln>
            <a:noFill/>
          </a:ln>
        </p:spPr>
      </p:sp>
      <p:sp>
        <p:nvSpPr>
          <p:cNvPr id="35" name="footer-src"/>
          <p:cNvSpPr txBox="1"/>
          <p:nvPr/>
        </p:nvSpPr>
        <p:spPr>
          <a:xfrm>
            <a:off x="711200" y="6477000"/>
            <a:ext cx="812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40000"/>
              </a:lnSpc>
            </a:pPr>
            <a:r>
              <a:rPr lang="en-US" sz="1000">
                <a:solidFill>
                  <a:srgbClr val="6B675F"/>
                </a:solidFill>
                <a:latin typeface="Liter"/>
                <a:ea typeface="Liter"/>
              </a:rPr>
              <a:t>方法框架据公开 Agent 工程资料整理;JSON 为教学示意</a:t>
            </a:r>
            <a:endParaRPr lang="en-US" sz="1000"/>
          </a:p>
        </p:txBody>
      </p:sp>
      <p:sp>
        <p:nvSpPr>
          <p:cNvPr id="36" name="footer-page"/>
          <p:cNvSpPr txBox="1"/>
          <p:nvPr/>
        </p:nvSpPr>
        <p:spPr>
          <a:xfrm>
            <a:off x="10464800" y="64770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r">
              <a:lnSpc>
                <a:spcPct val="140000"/>
              </a:lnSpc>
            </a:pPr>
            <a:r>
              <a:rPr lang="en-US" sz="1000">
                <a:solidFill>
                  <a:srgbClr val="6B675F"/>
                </a:solidFill>
                <a:latin typeface="Liter"/>
                <a:ea typeface="Liter"/>
              </a:rPr>
              <a:t>16 / 35</a:t>
            </a:r>
            <a:endParaRPr lang="en-US" sz="100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826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100" b="1" spc="200" kern="0">
                <a:solidFill>
                  <a:srgbClr val="C26A2E"/>
                </a:solidFill>
                <a:latin typeface="Liter"/>
                <a:ea typeface="Liter"/>
              </a:rPr>
              <a:t>第三章 · HARNESS 与 LOOP ENGINEERING</a:t>
            </a:r>
            <a:endParaRPr lang="en-US" sz="1100"/>
          </a:p>
        </p:txBody>
      </p:sp>
      <p:sp>
        <p:nvSpPr>
          <p:cNvPr id="3" name="title"/>
          <p:cNvSpPr txBox="1"/>
          <p:nvPr/>
        </p:nvSpPr>
        <p:spPr>
          <a:xfrm>
            <a:off x="711200" y="7874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22211E"/>
                </a:solidFill>
                <a:latin typeface="Liter"/>
                <a:ea typeface="Liter"/>
              </a:rPr>
              <a:t>工具设计:把公司系统变成智能体的"手"</a:t>
            </a:r>
            <a:endParaRPr lang="en-US" sz="2600"/>
          </a:p>
        </p:txBody>
      </p:sp>
      <p:sp>
        <p:nvSpPr>
          <p:cNvPr id="4" name="keys-h"/>
          <p:cNvSpPr txBox="1"/>
          <p:nvPr/>
        </p:nvSpPr>
        <p:spPr>
          <a:xfrm>
            <a:off x="711200" y="1651000"/>
            <a:ext cx="4191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E4D3B"/>
                </a:solidFill>
                <a:latin typeface="Liter"/>
                <a:ea typeface="Liter"/>
              </a:rPr>
              <a:t>工具说明书三要素</a:t>
            </a:r>
            <a:endParaRPr lang="en-US" sz="1500"/>
          </a:p>
        </p:txBody>
      </p:sp>
      <p:sp>
        <p:nvSpPr>
          <p:cNvPr id="5" name="key-1-icon"/>
          <p:cNvSpPr/>
          <p:nvPr>
            <p:extLst>
              <p:ext uri="{F5677B7D-0D2A-4D9B-9A5C-6D8D7D0E5A5D}">
                <pptd:icon encoding="base64url">eyJpY29uTmFtZSI6ImZhczp0YWcifQ</pptd:icon>
              </p:ext>
            </p:extLst>
          </p:nvPr>
        </p:nvSpPr>
        <p:spPr>
          <a:xfrm>
            <a:off x="711200" y="2057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33" y="96"/>
                </a:moveTo>
                <a:lnTo>
                  <a:pt x="33" y="246"/>
                </a:lnTo>
                <a:cubicBezTo>
                  <a:pt x="33" y="263"/>
                  <a:pt x="39" y="279"/>
                  <a:pt x="51" y="291"/>
                </a:cubicBezTo>
                <a:lnTo>
                  <a:pt x="243" y="483"/>
                </a:lnTo>
                <a:cubicBezTo>
                  <a:pt x="268" y="508"/>
                  <a:pt x="309" y="508"/>
                  <a:pt x="334" y="483"/>
                </a:cubicBezTo>
                <a:lnTo>
                  <a:pt x="483" y="333"/>
                </a:lnTo>
                <a:cubicBezTo>
                  <a:pt x="508" y="308"/>
                  <a:pt x="508" y="268"/>
                  <a:pt x="483" y="243"/>
                </a:cubicBezTo>
                <a:lnTo>
                  <a:pt x="291" y="51"/>
                </a:lnTo>
                <a:cubicBezTo>
                  <a:pt x="279" y="39"/>
                  <a:pt x="263" y="32"/>
                  <a:pt x="246" y="32"/>
                </a:cubicBezTo>
                <a:lnTo>
                  <a:pt x="97" y="32"/>
                </a:lnTo>
                <a:cubicBezTo>
                  <a:pt x="61" y="32"/>
                  <a:pt x="33" y="61"/>
                  <a:pt x="33" y="96"/>
                </a:cubicBezTo>
                <a:close/>
                <a:moveTo>
                  <a:pt x="145" y="112"/>
                </a:moveTo>
                <a:cubicBezTo>
                  <a:pt x="162" y="112"/>
                  <a:pt x="177" y="126"/>
                  <a:pt x="177" y="144"/>
                </a:cubicBezTo>
                <a:cubicBezTo>
                  <a:pt x="177" y="162"/>
                  <a:pt x="162" y="176"/>
                  <a:pt x="145" y="176"/>
                </a:cubicBezTo>
                <a:cubicBezTo>
                  <a:pt x="127" y="176"/>
                  <a:pt x="113" y="162"/>
                  <a:pt x="113" y="144"/>
                </a:cubicBezTo>
                <a:cubicBezTo>
                  <a:pt x="113" y="126"/>
                  <a:pt x="127" y="112"/>
                  <a:pt x="145" y="112"/>
                </a:cubicBezTo>
                <a:close/>
              </a:path>
            </a:pathLst>
          </a:custGeom>
          <a:solidFill>
            <a:srgbClr val="1E4D3B"/>
          </a:solidFill>
          <a:ln>
            <a:noFill/>
          </a:ln>
        </p:spPr>
      </p:sp>
      <p:sp>
        <p:nvSpPr>
          <p:cNvPr id="6" name="key-1-t"/>
          <p:cNvSpPr txBox="1"/>
          <p:nvPr/>
        </p:nvSpPr>
        <p:spPr>
          <a:xfrm>
            <a:off x="1066800" y="2032000"/>
            <a:ext cx="3835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300" b="1">
                <a:solidFill>
                  <a:srgbClr val="22211E"/>
                </a:solidFill>
                <a:latin typeface="MiSans"/>
                <a:ea typeface="MiSans"/>
              </a:rPr>
              <a:t>名字 name —— 说清干什么</a:t>
            </a:r>
            <a:endParaRPr lang="en-US" sz="1300"/>
          </a:p>
        </p:txBody>
      </p:sp>
      <p:sp>
        <p:nvSpPr>
          <p:cNvPr id="7" name="key-1-d"/>
          <p:cNvSpPr txBox="1"/>
          <p:nvPr/>
        </p:nvSpPr>
        <p:spPr>
          <a:xfrm>
            <a:off x="1066800" y="2311400"/>
            <a:ext cx="38354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5000"/>
              </a:lnSpc>
            </a:pPr>
            <a:r>
              <a:rPr lang="en-US" sz="1100">
                <a:solidFill>
                  <a:srgbClr val="6B675F"/>
                </a:solidFill>
                <a:latin typeface="MiSans"/>
                <a:ea typeface="MiSans"/>
              </a:rPr>
              <a:t>智能体靠名字决定何时调用。动词开头,一眼看懂干什么。</a:t>
            </a:r>
            <a:endParaRPr lang="en-US" sz="1100"/>
          </a:p>
        </p:txBody>
      </p:sp>
      <p:sp>
        <p:nvSpPr>
          <p:cNvPr id="8" name="key-2-icon"/>
          <p:cNvSpPr/>
          <p:nvPr>
            <p:extLst>
              <p:ext uri="{F5677B7D-0D2A-4D9B-9A5C-6D8D7D0E5A5D}">
                <pptd:icon encoding="base64url">eyJpY29uTmFtZSI6ImZhczpzbGlkZXJzIn0</pptd:icon>
              </p:ext>
            </p:extLst>
          </p:nvPr>
        </p:nvSpPr>
        <p:spPr>
          <a:xfrm>
            <a:off x="711200" y="2971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32" y="64"/>
                </a:moveTo>
                <a:cubicBezTo>
                  <a:pt x="14" y="64"/>
                  <a:pt x="0" y="78"/>
                  <a:pt x="0" y="96"/>
                </a:cubicBezTo>
                <a:cubicBezTo>
                  <a:pt x="0" y="114"/>
                  <a:pt x="14" y="128"/>
                  <a:pt x="32" y="128"/>
                </a:cubicBezTo>
                <a:lnTo>
                  <a:pt x="119" y="128"/>
                </a:lnTo>
                <a:cubicBezTo>
                  <a:pt x="131" y="156"/>
                  <a:pt x="159" y="176"/>
                  <a:pt x="192" y="176"/>
                </a:cubicBezTo>
                <a:cubicBezTo>
                  <a:pt x="225" y="176"/>
                  <a:pt x="253" y="156"/>
                  <a:pt x="265" y="128"/>
                </a:cubicBezTo>
                <a:lnTo>
                  <a:pt x="480" y="128"/>
                </a:lnTo>
                <a:cubicBezTo>
                  <a:pt x="498" y="128"/>
                  <a:pt x="512" y="114"/>
                  <a:pt x="512" y="96"/>
                </a:cubicBezTo>
                <a:cubicBezTo>
                  <a:pt x="512" y="78"/>
                  <a:pt x="498" y="64"/>
                  <a:pt x="480" y="64"/>
                </a:cubicBezTo>
                <a:lnTo>
                  <a:pt x="265" y="64"/>
                </a:lnTo>
                <a:cubicBezTo>
                  <a:pt x="253" y="36"/>
                  <a:pt x="225" y="16"/>
                  <a:pt x="192" y="16"/>
                </a:cubicBezTo>
                <a:cubicBezTo>
                  <a:pt x="159" y="16"/>
                  <a:pt x="131" y="36"/>
                  <a:pt x="119" y="64"/>
                </a:cubicBezTo>
                <a:lnTo>
                  <a:pt x="32" y="64"/>
                </a:lnTo>
                <a:close/>
                <a:moveTo>
                  <a:pt x="32" y="224"/>
                </a:move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279" y="288"/>
                </a:lnTo>
                <a:cubicBezTo>
                  <a:pt x="291" y="316"/>
                  <a:pt x="319" y="336"/>
                  <a:pt x="352" y="336"/>
                </a:cubicBezTo>
                <a:cubicBezTo>
                  <a:pt x="385" y="336"/>
                  <a:pt x="413" y="316"/>
                  <a:pt x="425" y="288"/>
                </a:cubicBezTo>
                <a:lnTo>
                  <a:pt x="480" y="288"/>
                </a:lnTo>
                <a:cubicBezTo>
                  <a:pt x="498" y="288"/>
                  <a:pt x="512" y="274"/>
                  <a:pt x="512" y="256"/>
                </a:cubicBezTo>
                <a:cubicBezTo>
                  <a:pt x="512" y="238"/>
                  <a:pt x="498" y="224"/>
                  <a:pt x="480" y="224"/>
                </a:cubicBezTo>
                <a:lnTo>
                  <a:pt x="425" y="224"/>
                </a:lnTo>
                <a:cubicBezTo>
                  <a:pt x="413" y="196"/>
                  <a:pt x="385" y="176"/>
                  <a:pt x="352" y="176"/>
                </a:cubicBezTo>
                <a:cubicBezTo>
                  <a:pt x="319" y="176"/>
                  <a:pt x="291" y="196"/>
                  <a:pt x="279" y="224"/>
                </a:cubicBezTo>
                <a:lnTo>
                  <a:pt x="32" y="224"/>
                </a:lnTo>
                <a:close/>
                <a:moveTo>
                  <a:pt x="32" y="384"/>
                </a:moveTo>
                <a:cubicBezTo>
                  <a:pt x="14" y="384"/>
                  <a:pt x="0" y="398"/>
                  <a:pt x="0" y="416"/>
                </a:cubicBezTo>
                <a:cubicBezTo>
                  <a:pt x="0" y="434"/>
                  <a:pt x="14" y="448"/>
                  <a:pt x="32" y="448"/>
                </a:cubicBezTo>
                <a:lnTo>
                  <a:pt x="87" y="448"/>
                </a:lnTo>
                <a:cubicBezTo>
                  <a:pt x="99" y="476"/>
                  <a:pt x="127" y="496"/>
                  <a:pt x="160" y="496"/>
                </a:cubicBezTo>
                <a:cubicBezTo>
                  <a:pt x="193" y="496"/>
                  <a:pt x="221" y="476"/>
                  <a:pt x="233" y="448"/>
                </a:cubicBezTo>
                <a:lnTo>
                  <a:pt x="480" y="448"/>
                </a:lnTo>
                <a:cubicBezTo>
                  <a:pt x="498" y="448"/>
                  <a:pt x="512" y="434"/>
                  <a:pt x="512" y="416"/>
                </a:cubicBezTo>
                <a:cubicBezTo>
                  <a:pt x="512" y="398"/>
                  <a:pt x="498" y="384"/>
                  <a:pt x="480" y="384"/>
                </a:cubicBezTo>
                <a:lnTo>
                  <a:pt x="233" y="384"/>
                </a:lnTo>
                <a:cubicBezTo>
                  <a:pt x="221" y="356"/>
                  <a:pt x="193" y="336"/>
                  <a:pt x="160" y="336"/>
                </a:cubicBezTo>
                <a:cubicBezTo>
                  <a:pt x="127" y="336"/>
                  <a:pt x="99" y="356"/>
                  <a:pt x="87" y="384"/>
                </a:cubicBezTo>
                <a:lnTo>
                  <a:pt x="32" y="384"/>
                </a:lnTo>
                <a:close/>
              </a:path>
            </a:pathLst>
          </a:custGeom>
          <a:solidFill>
            <a:srgbClr val="1E4D3B"/>
          </a:solidFill>
          <a:ln>
            <a:noFill/>
          </a:ln>
        </p:spPr>
      </p:sp>
      <p:sp>
        <p:nvSpPr>
          <p:cNvPr id="9" name="key-2-t"/>
          <p:cNvSpPr txBox="1"/>
          <p:nvPr/>
        </p:nvSpPr>
        <p:spPr>
          <a:xfrm>
            <a:off x="1066800" y="2946400"/>
            <a:ext cx="3835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300" b="1">
                <a:solidFill>
                  <a:srgbClr val="22211E"/>
                </a:solidFill>
                <a:latin typeface="MiSans"/>
                <a:ea typeface="MiSans"/>
              </a:rPr>
              <a:t>参数 parameters —— 说清给什么</a:t>
            </a:r>
            <a:endParaRPr lang="en-US" sz="1300"/>
          </a:p>
        </p:txBody>
      </p:sp>
      <p:sp>
        <p:nvSpPr>
          <p:cNvPr id="10" name="key-2-d"/>
          <p:cNvSpPr txBox="1"/>
          <p:nvPr/>
        </p:nvSpPr>
        <p:spPr>
          <a:xfrm>
            <a:off x="1066800" y="3225800"/>
            <a:ext cx="38354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5000"/>
              </a:lnSpc>
            </a:pPr>
            <a:r>
              <a:rPr lang="en-US" sz="1100">
                <a:solidFill>
                  <a:srgbClr val="6B675F"/>
                </a:solidFill>
                <a:latin typeface="MiSans"/>
                <a:ea typeface="MiSans"/>
              </a:rPr>
              <a:t>每个参数写清类型、必填与否、默认值,最好给一个示例。</a:t>
            </a:r>
            <a:endParaRPr lang="en-US" sz="1100"/>
          </a:p>
        </p:txBody>
      </p:sp>
      <p:sp>
        <p:nvSpPr>
          <p:cNvPr id="11" name="key-3-icon"/>
          <p:cNvSpPr/>
          <p:nvPr>
            <p:extLst>
              <p:ext uri="{F5677B7D-0D2A-4D9B-9A5C-6D8D7D0E5A5D}">
                <pptd:icon encoding="base64url">eyJpY29uTmFtZSI6ImZhczpyZXBseSJ9</pptd:icon>
              </p:ext>
            </p:extLst>
          </p:nvPr>
        </p:nvSpPr>
        <p:spPr>
          <a:xfrm>
            <a:off x="711200" y="3886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04" y="18"/>
                </a:moveTo>
                <a:cubicBezTo>
                  <a:pt x="216" y="23"/>
                  <a:pt x="224" y="35"/>
                  <a:pt x="224" y="48"/>
                </a:cubicBezTo>
                <a:lnTo>
                  <a:pt x="224" y="128"/>
                </a:lnTo>
                <a:lnTo>
                  <a:pt x="336" y="128"/>
                </a:lnTo>
                <a:cubicBezTo>
                  <a:pt x="433" y="128"/>
                  <a:pt x="512" y="207"/>
                  <a:pt x="512" y="304"/>
                </a:cubicBezTo>
                <a:cubicBezTo>
                  <a:pt x="512" y="417"/>
                  <a:pt x="431" y="468"/>
                  <a:pt x="412" y="478"/>
                </a:cubicBezTo>
                <a:cubicBezTo>
                  <a:pt x="409" y="480"/>
                  <a:pt x="407" y="480"/>
                  <a:pt x="404" y="480"/>
                </a:cubicBezTo>
                <a:cubicBezTo>
                  <a:pt x="393" y="480"/>
                  <a:pt x="384" y="471"/>
                  <a:pt x="384" y="460"/>
                </a:cubicBezTo>
                <a:cubicBezTo>
                  <a:pt x="384" y="453"/>
                  <a:pt x="388" y="446"/>
                  <a:pt x="394" y="441"/>
                </a:cubicBezTo>
                <a:cubicBezTo>
                  <a:pt x="403" y="432"/>
                  <a:pt x="416" y="414"/>
                  <a:pt x="416" y="384"/>
                </a:cubicBezTo>
                <a:cubicBezTo>
                  <a:pt x="416" y="331"/>
                  <a:pt x="373" y="288"/>
                  <a:pt x="320" y="288"/>
                </a:cubicBezTo>
                <a:lnTo>
                  <a:pt x="224" y="288"/>
                </a:lnTo>
                <a:lnTo>
                  <a:pt x="224" y="368"/>
                </a:lnTo>
                <a:cubicBezTo>
                  <a:pt x="224" y="381"/>
                  <a:pt x="216" y="393"/>
                  <a:pt x="204" y="398"/>
                </a:cubicBezTo>
                <a:cubicBezTo>
                  <a:pt x="192" y="403"/>
                  <a:pt x="179" y="400"/>
                  <a:pt x="169" y="391"/>
                </a:cubicBezTo>
                <a:lnTo>
                  <a:pt x="9" y="231"/>
                </a:lnTo>
                <a:cubicBezTo>
                  <a:pt x="-3" y="218"/>
                  <a:pt x="-3" y="198"/>
                  <a:pt x="9" y="186"/>
                </a:cubicBezTo>
                <a:lnTo>
                  <a:pt x="169" y="26"/>
                </a:lnTo>
                <a:cubicBezTo>
                  <a:pt x="178" y="16"/>
                  <a:pt x="192" y="14"/>
                  <a:pt x="204" y="19"/>
                </a:cubicBezTo>
                <a:close/>
              </a:path>
            </a:pathLst>
          </a:custGeom>
          <a:solidFill>
            <a:srgbClr val="1E4D3B"/>
          </a:solidFill>
          <a:ln>
            <a:noFill/>
          </a:ln>
        </p:spPr>
      </p:sp>
      <p:sp>
        <p:nvSpPr>
          <p:cNvPr id="12" name="key-3-t"/>
          <p:cNvSpPr txBox="1"/>
          <p:nvPr/>
        </p:nvSpPr>
        <p:spPr>
          <a:xfrm>
            <a:off x="1066800" y="3860800"/>
            <a:ext cx="3835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300" b="1">
                <a:solidFill>
                  <a:srgbClr val="22211E"/>
                </a:solidFill>
                <a:latin typeface="MiSans"/>
                <a:ea typeface="MiSans"/>
              </a:rPr>
              <a:t>返回 returns —— 说清得到什么</a:t>
            </a:r>
            <a:endParaRPr lang="en-US" sz="1300"/>
          </a:p>
        </p:txBody>
      </p:sp>
      <p:sp>
        <p:nvSpPr>
          <p:cNvPr id="13" name="key-3-d"/>
          <p:cNvSpPr txBox="1"/>
          <p:nvPr/>
        </p:nvSpPr>
        <p:spPr>
          <a:xfrm>
            <a:off x="1066800" y="4140200"/>
            <a:ext cx="38354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5000"/>
              </a:lnSpc>
            </a:pPr>
            <a:r>
              <a:rPr lang="en-US" sz="1100">
                <a:solidFill>
                  <a:srgbClr val="6B675F"/>
                </a:solidFill>
                <a:latin typeface="MiSans"/>
                <a:ea typeface="MiSans"/>
              </a:rPr>
              <a:t>返回结构化字段,而不是一段散文——模型要靠它决定下一步。</a:t>
            </a:r>
            <a:endParaRPr lang="en-US" sz="1100"/>
          </a:p>
        </p:txBody>
      </p:sp>
      <p:sp>
        <p:nvSpPr>
          <p:cNvPr id="14" name="prin-box"/>
          <p:cNvSpPr/>
          <p:nvPr/>
        </p:nvSpPr>
        <p:spPr>
          <a:xfrm>
            <a:off x="711200" y="4826000"/>
            <a:ext cx="4191000" cy="762000"/>
          </a:xfrm>
          <a:prstGeom prst="rect">
            <a:avLst/>
          </a:prstGeom>
          <a:solidFill>
            <a:srgbClr val="EAF1EC"/>
          </a:solidFill>
          <a:ln>
            <a:noFill/>
          </a:ln>
        </p:spPr>
      </p:sp>
      <p:sp>
        <p:nvSpPr>
          <p:cNvPr id="15" name="prin-body"/>
          <p:cNvSpPr txBox="1"/>
          <p:nvPr/>
        </p:nvSpPr>
        <p:spPr>
          <a:xfrm>
            <a:off x="914400" y="4953000"/>
            <a:ext cx="3784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50000"/>
              </a:lnSpc>
            </a:pPr>
            <a:r>
              <a:rPr lang="en-US" sz="1200" b="1">
                <a:solidFill>
                  <a:srgbClr val="1E4D3B"/>
                </a:solidFill>
                <a:latin typeface="MiSans"/>
                <a:ea typeface="MiSans"/>
              </a:rPr>
              <a:t>原则:好工具 = 好说明书。说明书含糊,智能体就会用错。</a:t>
            </a:r>
            <a:endParaRPr lang="en-US" sz="1200"/>
          </a:p>
        </p:txBody>
      </p:sp>
      <p:sp>
        <p:nvSpPr>
          <p:cNvPr id="16" name="code-h"/>
          <p:cNvSpPr txBox="1"/>
          <p:nvPr/>
        </p:nvSpPr>
        <p:spPr>
          <a:xfrm>
            <a:off x="5334000" y="1651000"/>
            <a:ext cx="6146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E4D3B"/>
                </a:solidFill>
                <a:latin typeface="Liter"/>
                <a:ea typeface="Liter"/>
              </a:rPr>
              <a:t>示例:墒情查询接口 → 工具描述(示意)</a:t>
            </a:r>
            <a:endParaRPr lang="en-US" sz="1500"/>
          </a:p>
        </p:txBody>
      </p:sp>
      <p:sp>
        <p:nvSpPr>
          <p:cNvPr id="17" name="code-box"/>
          <p:cNvSpPr/>
          <p:nvPr/>
        </p:nvSpPr>
        <p:spPr>
          <a:xfrm>
            <a:off x="5334000" y="1981200"/>
            <a:ext cx="614680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</a:ln>
        </p:spPr>
      </p:sp>
      <p:sp>
        <p:nvSpPr>
          <p:cNvPr id="18" name="code-accent"/>
          <p:cNvSpPr/>
          <p:nvPr/>
        </p:nvSpPr>
        <p:spPr>
          <a:xfrm>
            <a:off x="5334000" y="1981200"/>
            <a:ext cx="38100" cy="2971800"/>
          </a:xfrm>
          <a:prstGeom prst="rect">
            <a:avLst/>
          </a:prstGeom>
          <a:solidFill>
            <a:srgbClr val="1E4D3B"/>
          </a:solidFill>
          <a:ln>
            <a:noFill/>
          </a:ln>
        </p:spPr>
      </p:sp>
      <p:sp>
        <p:nvSpPr>
          <p:cNvPr id="19" name="code-body"/>
          <p:cNvSpPr txBox="1"/>
          <p:nvPr/>
        </p:nvSpPr>
        <p:spPr>
          <a:xfrm>
            <a:off x="5562600" y="2133600"/>
            <a:ext cx="5740400" cy="266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50000"/>
              </a:lnSpc>
            </a:pPr>
            <a:r>
              <a:rPr lang="en-US" sz="1000">
                <a:solidFill>
                  <a:srgbClr val="22211E"/>
                </a:solidFill>
                <a:latin typeface="MiSans"/>
                <a:ea typeface="MiSans"/>
              </a:rPr>
              <a:t>{
  "name": "get_soil_moisture",
  "description": "查询指定墒情站的逐日土壤含水量",
  "parameters": {
    "station_id": "站点编号,如 ZS-A07(必填)",
    "days": "向前查询天数,默认 7"
  },
  "returns": {
    "series": "逐日含水量列表",
    "completeness": "数据完整度 0-1"
  }
}</a:t>
            </a:r>
            <a:endParaRPr lang="en-US" sz="1000"/>
          </a:p>
        </p:txBody>
      </p:sp>
      <p:sp>
        <p:nvSpPr>
          <p:cNvPr id="20" name="code-note"/>
          <p:cNvSpPr txBox="1"/>
          <p:nvPr/>
        </p:nvSpPr>
        <p:spPr>
          <a:xfrm>
            <a:off x="5334000" y="5105400"/>
            <a:ext cx="6146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100">
                <a:solidFill>
                  <a:srgbClr val="6B675F"/>
                </a:solidFill>
                <a:latin typeface="MiSans"/>
                <a:ea typeface="MiSans"/>
              </a:rPr>
              <a:t>从 Prompt 到 MCP:协议让工具"即插即用"——同一套说明书,不同智能体都能直接调用。</a:t>
            </a:r>
            <a:endParaRPr lang="en-US" sz="1100"/>
          </a:p>
        </p:txBody>
      </p:sp>
      <p:sp>
        <p:nvSpPr>
          <p:cNvPr id="21" name="act-icon"/>
          <p:cNvSpPr/>
          <p:nvPr>
            <p:extLst>
              <p:ext uri="{F5677B7D-0D2A-4D9B-9A5C-6D8D7D0E5A5D}">
                <pptd:icon encoding="base64url">eyJpY29uTmFtZSI6ImZhczpib2x0In0</pptd:icon>
              </p:ext>
            </p:extLst>
          </p:nvPr>
        </p:nvSpPr>
        <p:spPr>
          <a:xfrm>
            <a:off x="711200" y="58166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339" y="-10"/>
                </a:moveTo>
                <a:cubicBezTo>
                  <a:pt x="351" y="-1"/>
                  <a:pt x="355" y="14"/>
                  <a:pt x="350" y="28"/>
                </a:cubicBezTo>
                <a:lnTo>
                  <a:pt x="271" y="224"/>
                </a:lnTo>
                <a:lnTo>
                  <a:pt x="416" y="224"/>
                </a:lnTo>
                <a:cubicBezTo>
                  <a:pt x="430" y="224"/>
                  <a:pt x="442" y="232"/>
                  <a:pt x="446" y="245"/>
                </a:cubicBezTo>
                <a:cubicBezTo>
                  <a:pt x="451" y="258"/>
                  <a:pt x="447" y="272"/>
                  <a:pt x="437" y="281"/>
                </a:cubicBezTo>
                <a:lnTo>
                  <a:pt x="149" y="521"/>
                </a:lnTo>
                <a:cubicBezTo>
                  <a:pt x="137" y="530"/>
                  <a:pt x="121" y="531"/>
                  <a:pt x="109" y="522"/>
                </a:cubicBezTo>
                <a:cubicBezTo>
                  <a:pt x="97" y="513"/>
                  <a:pt x="93" y="498"/>
                  <a:pt x="98" y="484"/>
                </a:cubicBezTo>
                <a:lnTo>
                  <a:pt x="177" y="288"/>
                </a:lnTo>
                <a:lnTo>
                  <a:pt x="32" y="288"/>
                </a:lnTo>
                <a:cubicBezTo>
                  <a:pt x="19" y="288"/>
                  <a:pt x="7" y="280"/>
                  <a:pt x="2" y="267"/>
                </a:cubicBezTo>
                <a:cubicBezTo>
                  <a:pt x="-3" y="254"/>
                  <a:pt x="1" y="240"/>
                  <a:pt x="11" y="231"/>
                </a:cubicBezTo>
                <a:lnTo>
                  <a:pt x="300" y="-9"/>
                </a:lnTo>
                <a:cubicBezTo>
                  <a:pt x="311" y="-18"/>
                  <a:pt x="327" y="-19"/>
                  <a:pt x="339" y="-10"/>
                </a:cubicBezTo>
                <a:close/>
              </a:path>
            </a:pathLst>
          </a:custGeom>
          <a:solidFill>
            <a:srgbClr val="C26A2E"/>
          </a:solidFill>
          <a:ln>
            <a:noFill/>
          </a:ln>
        </p:spPr>
      </p:sp>
      <p:sp>
        <p:nvSpPr>
          <p:cNvPr id="22" name="act-body"/>
          <p:cNvSpPr txBox="1"/>
          <p:nvPr/>
        </p:nvSpPr>
        <p:spPr>
          <a:xfrm>
            <a:off x="1016000" y="5791200"/>
            <a:ext cx="10464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300" b="1">
                <a:solidFill>
                  <a:srgbClr val="22211E"/>
                </a:solidFill>
                <a:latin typeface="MiSans"/>
                <a:ea typeface="MiSans"/>
              </a:rPr>
              <a:t>行动:盘一盘平台接口——哪些可以第一批工具化?从「只读、高频、参数少」的开始。</a:t>
            </a:r>
            <a:endParaRPr lang="en-US" sz="1300"/>
          </a:p>
        </p:txBody>
      </p:sp>
      <p:sp>
        <p:nvSpPr>
          <p:cNvPr id="23" name="footer-line"/>
          <p:cNvSpPr/>
          <p:nvPr/>
        </p:nvSpPr>
        <p:spPr>
          <a:xfrm>
            <a:off x="711200" y="6375400"/>
            <a:ext cx="10769600" cy="12700"/>
          </a:xfrm>
          <a:prstGeom prst="rect">
            <a:avLst/>
          </a:prstGeom>
          <a:solidFill>
            <a:srgbClr val="D8D3C8"/>
          </a:solidFill>
          <a:ln>
            <a:noFill/>
          </a:ln>
        </p:spPr>
      </p:sp>
      <p:sp>
        <p:nvSpPr>
          <p:cNvPr id="24" name="footer-src"/>
          <p:cNvSpPr txBox="1"/>
          <p:nvPr/>
        </p:nvSpPr>
        <p:spPr>
          <a:xfrm>
            <a:off x="711200" y="6477000"/>
            <a:ext cx="812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40000"/>
              </a:lnSpc>
            </a:pPr>
            <a:r>
              <a:rPr lang="en-US" sz="1000">
                <a:solidFill>
                  <a:srgbClr val="6B675F"/>
                </a:solidFill>
                <a:latin typeface="Liter"/>
                <a:ea typeface="Liter"/>
              </a:rPr>
              <a:t>接口名与字段为教学示意,非真实 API 文档</a:t>
            </a:r>
            <a:endParaRPr lang="en-US" sz="1000"/>
          </a:p>
        </p:txBody>
      </p:sp>
      <p:sp>
        <p:nvSpPr>
          <p:cNvPr id="25" name="footer-page"/>
          <p:cNvSpPr txBox="1"/>
          <p:nvPr/>
        </p:nvSpPr>
        <p:spPr>
          <a:xfrm>
            <a:off x="10464800" y="64770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r">
              <a:lnSpc>
                <a:spcPct val="140000"/>
              </a:lnSpc>
            </a:pPr>
            <a:r>
              <a:rPr lang="en-US" sz="1000">
                <a:solidFill>
                  <a:srgbClr val="6B675F"/>
                </a:solidFill>
                <a:latin typeface="Liter"/>
                <a:ea typeface="Liter"/>
              </a:rPr>
              <a:t>17 / 35</a:t>
            </a:r>
            <a:endParaRPr lang="en-US" sz="1000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826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100" b="1" spc="200" kern="0">
                <a:solidFill>
                  <a:srgbClr val="C26A2E"/>
                </a:solidFill>
                <a:latin typeface="Liter"/>
                <a:ea typeface="Liter"/>
              </a:rPr>
              <a:t>第三章 · HARNESS 与 LOOP ENGINEERING</a:t>
            </a:r>
            <a:endParaRPr lang="en-US" sz="1100"/>
          </a:p>
        </p:txBody>
      </p:sp>
      <p:sp>
        <p:nvSpPr>
          <p:cNvPr id="3" name="title"/>
          <p:cNvSpPr txBox="1"/>
          <p:nvPr/>
        </p:nvSpPr>
        <p:spPr>
          <a:xfrm>
            <a:off x="711200" y="7874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22211E"/>
                </a:solidFill>
                <a:latin typeface="Liter"/>
                <a:ea typeface="Liter"/>
              </a:rPr>
              <a:t>验证与护栏:让循环自己纠偏,人只做抽查</a:t>
            </a:r>
            <a:endParaRPr lang="en-US" sz="2600"/>
          </a:p>
        </p:txBody>
      </p:sp>
      <p:sp>
        <p:nvSpPr>
          <p:cNvPr id="4" name="layer-1"/>
          <p:cNvSpPr/>
          <p:nvPr/>
        </p:nvSpPr>
        <p:spPr>
          <a:xfrm>
            <a:off x="711200" y="1778000"/>
            <a:ext cx="5842000" cy="1066800"/>
          </a:xfrm>
          <a:prstGeom prst="rect">
            <a:avLst/>
          </a:prstGeom>
          <a:solidFill>
            <a:srgbClr val="EAF1EC"/>
          </a:solidFill>
          <a:ln>
            <a:noFill/>
          </a:ln>
        </p:spPr>
      </p:sp>
      <p:sp>
        <p:nvSpPr>
          <p:cNvPr id="5" name="layer-1-icon"/>
          <p:cNvSpPr/>
          <p:nvPr>
            <p:extLst>
              <p:ext uri="{F5677B7D-0D2A-4D9B-9A5C-6D8D7D0E5A5D}">
                <pptd:icon encoding="base64url">eyJpY29uTmFtZSI6ImZhczpmaWx0ZXIifQ</pptd:icon>
              </p:ext>
            </p:extLst>
          </p:nvPr>
        </p:nvSpPr>
        <p:spPr>
          <a:xfrm>
            <a:off x="939800" y="2133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32" y="64"/>
                </a:moveTo>
                <a:cubicBezTo>
                  <a:pt x="19" y="64"/>
                  <a:pt x="7" y="72"/>
                  <a:pt x="2" y="84"/>
                </a:cubicBezTo>
                <a:cubicBezTo>
                  <a:pt x="-3" y="96"/>
                  <a:pt x="0" y="110"/>
                  <a:pt x="9" y="119"/>
                </a:cubicBezTo>
                <a:lnTo>
                  <a:pt x="192" y="301"/>
                </a:lnTo>
                <a:lnTo>
                  <a:pt x="192" y="416"/>
                </a:lnTo>
                <a:cubicBezTo>
                  <a:pt x="192" y="425"/>
                  <a:pt x="195" y="433"/>
                  <a:pt x="201" y="439"/>
                </a:cubicBezTo>
                <a:lnTo>
                  <a:pt x="265" y="503"/>
                </a:lnTo>
                <a:cubicBezTo>
                  <a:pt x="275" y="512"/>
                  <a:pt x="288" y="515"/>
                  <a:pt x="300" y="510"/>
                </a:cubicBezTo>
                <a:cubicBezTo>
                  <a:pt x="312" y="505"/>
                  <a:pt x="320" y="493"/>
                  <a:pt x="320" y="480"/>
                </a:cubicBezTo>
                <a:lnTo>
                  <a:pt x="320" y="301"/>
                </a:lnTo>
                <a:lnTo>
                  <a:pt x="503" y="119"/>
                </a:lnTo>
                <a:cubicBezTo>
                  <a:pt x="512" y="110"/>
                  <a:pt x="515" y="96"/>
                  <a:pt x="510" y="84"/>
                </a:cubicBezTo>
                <a:cubicBezTo>
                  <a:pt x="505" y="72"/>
                  <a:pt x="493" y="64"/>
                  <a:pt x="480" y="64"/>
                </a:cubicBezTo>
                <a:lnTo>
                  <a:pt x="32" y="64"/>
                </a:lnTo>
                <a:close/>
              </a:path>
            </a:pathLst>
          </a:custGeom>
          <a:solidFill>
            <a:srgbClr val="1E4D3B"/>
          </a:solidFill>
          <a:ln>
            <a:noFill/>
          </a:ln>
        </p:spPr>
      </p:sp>
      <p:sp>
        <p:nvSpPr>
          <p:cNvPr id="6" name="layer-1-t"/>
          <p:cNvSpPr txBox="1"/>
          <p:nvPr/>
        </p:nvSpPr>
        <p:spPr>
          <a:xfrm>
            <a:off x="1422400" y="1930400"/>
            <a:ext cx="4953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300" b="1">
                <a:solidFill>
                  <a:srgbClr val="1E4D3B"/>
                </a:solidFill>
                <a:latin typeface="MiSans"/>
                <a:ea typeface="MiSans"/>
              </a:rPr>
              <a:t>① 程序化校验 —— 最便宜,先跑</a:t>
            </a:r>
            <a:endParaRPr lang="en-US" sz="1300"/>
          </a:p>
        </p:txBody>
      </p:sp>
      <p:sp>
        <p:nvSpPr>
          <p:cNvPr id="7" name="layer-1-d"/>
          <p:cNvSpPr txBox="1"/>
          <p:nvPr/>
        </p:nvSpPr>
        <p:spPr>
          <a:xfrm>
            <a:off x="1422400" y="2209800"/>
            <a:ext cx="4953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5000"/>
              </a:lnSpc>
            </a:pPr>
            <a:r>
              <a:rPr lang="en-US" sz="1100">
                <a:solidFill>
                  <a:srgbClr val="22211E"/>
                </a:solidFill>
                <a:latin typeface="MiSans"/>
                <a:ea typeface="MiSans"/>
              </a:rPr>
              <a:t>格式、阈值、范围,代码秒级检查,拦截绝大多数低级错误。</a:t>
            </a:r>
            <a:endParaRPr lang="en-US" sz="1100"/>
          </a:p>
        </p:txBody>
      </p:sp>
      <p:sp>
        <p:nvSpPr>
          <p:cNvPr id="8" name="layer-arr-1"/>
          <p:cNvSpPr/>
          <p:nvPr>
            <p:extLst>
              <p:ext uri="{F5677B7D-0D2A-4D9B-9A5C-6D8D7D0E5A5D}">
                <pptd:line encoding="base64url">eyJjdXJ2ZSI6InNoYXJwIiwicG9pbnRzIjoiMSwwIDEsMTYiLCJ2aWV3Qm94IjpbMiwxNl19</pptd:line>
              </p:ext>
            </p:extLst>
          </p:nvPr>
        </p:nvSpPr>
        <p:spPr>
          <a:xfrm>
            <a:off x="3606800" y="2870200"/>
            <a:ext cx="25400" cy="203200"/>
          </a:xfrm>
          <a:custGeom>
            <a:avLst/>
            <a:gdLst/>
            <a:ahLst/>
            <a:cxnLst/>
            <a:rect l="l" t="t" r="r" b="b"/>
            <a:pathLst>
              <a:path w="2" h="16">
                <a:moveTo>
                  <a:pt x="1" y="0"/>
                </a:moveTo>
                <a:lnTo>
                  <a:pt x="1" y="16"/>
                </a:lnTo>
              </a:path>
            </a:pathLst>
          </a:custGeom>
          <a:noFill/>
          <a:ln w="19050">
            <a:solidFill>
              <a:srgbClr val="1E4D3B"/>
            </a:solidFill>
            <a:tailEnd type="arrow"/>
          </a:ln>
        </p:spPr>
      </p:sp>
      <p:sp>
        <p:nvSpPr>
          <p:cNvPr id="9" name="layer-arr-1-t"/>
          <p:cNvSpPr txBox="1"/>
          <p:nvPr/>
        </p:nvSpPr>
        <p:spPr>
          <a:xfrm>
            <a:off x="3810000" y="2857500"/>
            <a:ext cx="2743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000">
                <a:solidFill>
                  <a:srgbClr val="6B675F"/>
                </a:solidFill>
                <a:latin typeface="MiSans"/>
                <a:ea typeface="MiSans"/>
              </a:rPr>
              <a:t>通过进入下一层;未通过回到循环</a:t>
            </a:r>
            <a:endParaRPr lang="en-US" sz="1000"/>
          </a:p>
        </p:txBody>
      </p:sp>
      <p:sp>
        <p:nvSpPr>
          <p:cNvPr id="10" name="layer-2"/>
          <p:cNvSpPr/>
          <p:nvPr/>
        </p:nvSpPr>
        <p:spPr>
          <a:xfrm>
            <a:off x="711200" y="3098800"/>
            <a:ext cx="5842000" cy="106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4D3B"/>
            </a:solidFill>
          </a:ln>
        </p:spPr>
      </p:sp>
      <p:sp>
        <p:nvSpPr>
          <p:cNvPr id="11" name="layer-2-icon"/>
          <p:cNvSpPr/>
          <p:nvPr>
            <p:extLst>
              <p:ext uri="{F5677B7D-0D2A-4D9B-9A5C-6D8D7D0E5A5D}">
                <pptd:icon encoding="base64url">eyJpY29uTmFtZSI6ImZhczpjaGVjay1kb3VibGUifQ</pptd:icon>
              </p:ext>
            </p:extLst>
          </p:nvPr>
        </p:nvSpPr>
        <p:spPr>
          <a:xfrm>
            <a:off x="939800" y="3454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250" y="67"/>
                </a:moveTo>
                <a:cubicBezTo>
                  <a:pt x="260" y="53"/>
                  <a:pt x="257" y="33"/>
                  <a:pt x="243" y="22"/>
                </a:cubicBezTo>
                <a:cubicBezTo>
                  <a:pt x="229" y="12"/>
                  <a:pt x="209" y="15"/>
                  <a:pt x="198" y="29"/>
                </a:cubicBezTo>
                <a:lnTo>
                  <a:pt x="92" y="175"/>
                </a:lnTo>
                <a:lnTo>
                  <a:pt x="55" y="137"/>
                </a:lnTo>
                <a:cubicBezTo>
                  <a:pt x="42" y="125"/>
                  <a:pt x="22" y="125"/>
                  <a:pt x="9" y="137"/>
                </a:cubicBezTo>
                <a:cubicBezTo>
                  <a:pt x="-3" y="150"/>
                  <a:pt x="-3" y="170"/>
                  <a:pt x="9" y="183"/>
                </a:cubicBezTo>
                <a:lnTo>
                  <a:pt x="73" y="247"/>
                </a:lnTo>
                <a:cubicBezTo>
                  <a:pt x="80" y="253"/>
                  <a:pt x="89" y="257"/>
                  <a:pt x="98" y="256"/>
                </a:cubicBezTo>
                <a:cubicBezTo>
                  <a:pt x="108" y="255"/>
                  <a:pt x="116" y="251"/>
                  <a:pt x="122" y="243"/>
                </a:cubicBezTo>
                <a:lnTo>
                  <a:pt x="250" y="67"/>
                </a:lnTo>
                <a:close/>
                <a:moveTo>
                  <a:pt x="378" y="203"/>
                </a:moveTo>
                <a:cubicBezTo>
                  <a:pt x="388" y="189"/>
                  <a:pt x="385" y="169"/>
                  <a:pt x="371" y="158"/>
                </a:cubicBezTo>
                <a:cubicBezTo>
                  <a:pt x="356" y="148"/>
                  <a:pt x="336" y="151"/>
                  <a:pt x="326" y="165"/>
                </a:cubicBezTo>
                <a:lnTo>
                  <a:pt x="156" y="399"/>
                </a:lnTo>
                <a:lnTo>
                  <a:pt x="87" y="329"/>
                </a:lnTo>
                <a:cubicBezTo>
                  <a:pt x="74" y="317"/>
                  <a:pt x="54" y="317"/>
                  <a:pt x="41" y="329"/>
                </a:cubicBezTo>
                <a:cubicBezTo>
                  <a:pt x="29" y="342"/>
                  <a:pt x="29" y="362"/>
                  <a:pt x="41" y="375"/>
                </a:cubicBezTo>
                <a:lnTo>
                  <a:pt x="137" y="471"/>
                </a:lnTo>
                <a:cubicBezTo>
                  <a:pt x="144" y="477"/>
                  <a:pt x="153" y="481"/>
                  <a:pt x="162" y="480"/>
                </a:cubicBezTo>
                <a:cubicBezTo>
                  <a:pt x="172" y="479"/>
                  <a:pt x="180" y="475"/>
                  <a:pt x="186" y="467"/>
                </a:cubicBezTo>
                <a:lnTo>
                  <a:pt x="378" y="203"/>
                </a:lnTo>
                <a:close/>
              </a:path>
            </a:pathLst>
          </a:custGeom>
          <a:solidFill>
            <a:srgbClr val="1E4D3B"/>
          </a:solidFill>
          <a:ln>
            <a:noFill/>
          </a:ln>
        </p:spPr>
      </p:sp>
      <p:sp>
        <p:nvSpPr>
          <p:cNvPr id="12" name="layer-2-t"/>
          <p:cNvSpPr txBox="1"/>
          <p:nvPr/>
        </p:nvSpPr>
        <p:spPr>
          <a:xfrm>
            <a:off x="1422400" y="3251200"/>
            <a:ext cx="4953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300" b="1">
                <a:solidFill>
                  <a:srgbClr val="1E4D3B"/>
                </a:solidFill>
                <a:latin typeface="MiSans"/>
                <a:ea typeface="MiSans"/>
              </a:rPr>
              <a:t>② 模型自检 —— 换个视角再查一遍</a:t>
            </a:r>
            <a:endParaRPr lang="en-US" sz="1300"/>
          </a:p>
        </p:txBody>
      </p:sp>
      <p:sp>
        <p:nvSpPr>
          <p:cNvPr id="13" name="layer-2-d"/>
          <p:cNvSpPr txBox="1"/>
          <p:nvPr/>
        </p:nvSpPr>
        <p:spPr>
          <a:xfrm>
            <a:off x="1422400" y="3530600"/>
            <a:ext cx="4953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5000"/>
              </a:lnSpc>
            </a:pPr>
            <a:r>
              <a:rPr lang="en-US" sz="1100">
                <a:solidFill>
                  <a:srgbClr val="22211E"/>
                </a:solidFill>
                <a:latin typeface="MiSans"/>
                <a:ea typeface="MiSans"/>
              </a:rPr>
              <a:t>交叉验证、引用溯源:关键数字要有出处、能复核。</a:t>
            </a:r>
            <a:endParaRPr lang="en-US" sz="1100"/>
          </a:p>
        </p:txBody>
      </p:sp>
      <p:sp>
        <p:nvSpPr>
          <p:cNvPr id="14" name="layer-arr-2"/>
          <p:cNvSpPr/>
          <p:nvPr>
            <p:extLst>
              <p:ext uri="{F5677B7D-0D2A-4D9B-9A5C-6D8D7D0E5A5D}">
                <pptd:line encoding="base64url">eyJjdXJ2ZSI6InNoYXJwIiwicG9pbnRzIjoiMSwwIDEsMTYiLCJ2aWV3Qm94IjpbMiwxNl19</pptd:line>
              </p:ext>
            </p:extLst>
          </p:nvPr>
        </p:nvSpPr>
        <p:spPr>
          <a:xfrm>
            <a:off x="3606800" y="4191000"/>
            <a:ext cx="25400" cy="203200"/>
          </a:xfrm>
          <a:custGeom>
            <a:avLst/>
            <a:gdLst/>
            <a:ahLst/>
            <a:cxnLst/>
            <a:rect l="l" t="t" r="r" b="b"/>
            <a:pathLst>
              <a:path w="2" h="16">
                <a:moveTo>
                  <a:pt x="1" y="0"/>
                </a:moveTo>
                <a:lnTo>
                  <a:pt x="1" y="16"/>
                </a:lnTo>
              </a:path>
            </a:pathLst>
          </a:custGeom>
          <a:noFill/>
          <a:ln w="19050">
            <a:solidFill>
              <a:srgbClr val="1E4D3B"/>
            </a:solidFill>
            <a:tailEnd type="arrow"/>
          </a:ln>
        </p:spPr>
      </p:sp>
      <p:sp>
        <p:nvSpPr>
          <p:cNvPr id="15" name="layer-arr-2-t"/>
          <p:cNvSpPr txBox="1"/>
          <p:nvPr/>
        </p:nvSpPr>
        <p:spPr>
          <a:xfrm>
            <a:off x="3810000" y="4178300"/>
            <a:ext cx="2743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000">
                <a:solidFill>
                  <a:srgbClr val="6B675F"/>
                </a:solidFill>
                <a:latin typeface="MiSans"/>
                <a:ea typeface="MiSans"/>
              </a:rPr>
              <a:t>仅高风险动作升级到第③层</a:t>
            </a:r>
            <a:endParaRPr lang="en-US" sz="1000"/>
          </a:p>
        </p:txBody>
      </p:sp>
      <p:sp>
        <p:nvSpPr>
          <p:cNvPr id="16" name="layer-3"/>
          <p:cNvSpPr/>
          <p:nvPr/>
        </p:nvSpPr>
        <p:spPr>
          <a:xfrm>
            <a:off x="711200" y="4419600"/>
            <a:ext cx="5842000" cy="1066800"/>
          </a:xfrm>
          <a:prstGeom prst="rect">
            <a:avLst/>
          </a:prstGeom>
          <a:solidFill>
            <a:srgbClr val="F7EBDC"/>
          </a:solidFill>
          <a:ln>
            <a:noFill/>
          </a:ln>
        </p:spPr>
      </p:sp>
      <p:sp>
        <p:nvSpPr>
          <p:cNvPr id="17" name="layer-3-icon"/>
          <p:cNvSpPr/>
          <p:nvPr>
            <p:extLst>
              <p:ext uri="{F5677B7D-0D2A-4D9B-9A5C-6D8D7D0E5A5D}">
                <pptd:icon encoding="base64url">eyJpY29uTmFtZSI6ImZhczp1c2VyLWNoZWNrIn0</pptd:icon>
              </p:ext>
            </p:extLst>
          </p:nvPr>
        </p:nvSpPr>
        <p:spPr>
          <a:xfrm>
            <a:off x="939800" y="4775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286" y="304"/>
                </a:moveTo>
                <a:cubicBezTo>
                  <a:pt x="385" y="304"/>
                  <a:pt x="464" y="384"/>
                  <a:pt x="464" y="482"/>
                </a:cubicBezTo>
                <a:cubicBezTo>
                  <a:pt x="464" y="499"/>
                  <a:pt x="451" y="512"/>
                  <a:pt x="435" y="512"/>
                </a:cubicBezTo>
                <a:lnTo>
                  <a:pt x="78" y="512"/>
                </a:lnTo>
                <a:cubicBezTo>
                  <a:pt x="62" y="512"/>
                  <a:pt x="48" y="499"/>
                  <a:pt x="48" y="482"/>
                </a:cubicBezTo>
                <a:cubicBezTo>
                  <a:pt x="48" y="384"/>
                  <a:pt x="128" y="304"/>
                  <a:pt x="227" y="304"/>
                </a:cubicBezTo>
                <a:lnTo>
                  <a:pt x="286" y="304"/>
                </a:lnTo>
                <a:close/>
                <a:moveTo>
                  <a:pt x="586" y="106"/>
                </a:moveTo>
                <a:cubicBezTo>
                  <a:pt x="594" y="95"/>
                  <a:pt x="609" y="93"/>
                  <a:pt x="619" y="101"/>
                </a:cubicBezTo>
                <a:cubicBezTo>
                  <a:pt x="630" y="108"/>
                  <a:pt x="632" y="123"/>
                  <a:pt x="625" y="134"/>
                </a:cubicBezTo>
                <a:lnTo>
                  <a:pt x="522" y="275"/>
                </a:lnTo>
                <a:cubicBezTo>
                  <a:pt x="518" y="281"/>
                  <a:pt x="511" y="284"/>
                  <a:pt x="504" y="285"/>
                </a:cubicBezTo>
                <a:cubicBezTo>
                  <a:pt x="497" y="285"/>
                  <a:pt x="490" y="283"/>
                  <a:pt x="486" y="277"/>
                </a:cubicBezTo>
                <a:lnTo>
                  <a:pt x="439" y="229"/>
                </a:lnTo>
                <a:cubicBezTo>
                  <a:pt x="430" y="220"/>
                  <a:pt x="430" y="205"/>
                  <a:pt x="440" y="195"/>
                </a:cubicBezTo>
                <a:cubicBezTo>
                  <a:pt x="449" y="186"/>
                  <a:pt x="464" y="187"/>
                  <a:pt x="474" y="196"/>
                </a:cubicBezTo>
                <a:lnTo>
                  <a:pt x="500" y="223"/>
                </a:lnTo>
                <a:lnTo>
                  <a:pt x="586" y="106"/>
                </a:lnTo>
                <a:close/>
                <a:moveTo>
                  <a:pt x="256" y="248"/>
                </a:moveTo>
                <a:cubicBezTo>
                  <a:pt x="190" y="248"/>
                  <a:pt x="136" y="194"/>
                  <a:pt x="136" y="128"/>
                </a:cubicBezTo>
                <a:cubicBezTo>
                  <a:pt x="136" y="62"/>
                  <a:pt x="190" y="8"/>
                  <a:pt x="256" y="8"/>
                </a:cubicBezTo>
                <a:cubicBezTo>
                  <a:pt x="323" y="8"/>
                  <a:pt x="376" y="62"/>
                  <a:pt x="376" y="128"/>
                </a:cubicBezTo>
                <a:cubicBezTo>
                  <a:pt x="376" y="194"/>
                  <a:pt x="323" y="248"/>
                  <a:pt x="256" y="248"/>
                </a:cubicBezTo>
                <a:close/>
              </a:path>
            </a:pathLst>
          </a:custGeom>
          <a:solidFill>
            <a:srgbClr val="C26A2E"/>
          </a:solidFill>
          <a:ln>
            <a:noFill/>
          </a:ln>
        </p:spPr>
      </p:sp>
      <p:sp>
        <p:nvSpPr>
          <p:cNvPr id="18" name="layer-3-t"/>
          <p:cNvSpPr txBox="1"/>
          <p:nvPr/>
        </p:nvSpPr>
        <p:spPr>
          <a:xfrm>
            <a:off x="1422400" y="4572000"/>
            <a:ext cx="4953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300" b="1">
                <a:solidFill>
                  <a:srgbClr val="C26A2E"/>
                </a:solidFill>
                <a:latin typeface="MiSans"/>
                <a:ea typeface="MiSans"/>
              </a:rPr>
              <a:t>③ 人在回路 —— 只守高风险动作</a:t>
            </a:r>
            <a:endParaRPr lang="en-US" sz="1300"/>
          </a:p>
        </p:txBody>
      </p:sp>
      <p:sp>
        <p:nvSpPr>
          <p:cNvPr id="19" name="layer-3-d"/>
          <p:cNvSpPr txBox="1"/>
          <p:nvPr/>
        </p:nvSpPr>
        <p:spPr>
          <a:xfrm>
            <a:off x="1422400" y="4851400"/>
            <a:ext cx="4953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5000"/>
              </a:lnSpc>
            </a:pPr>
            <a:r>
              <a:rPr lang="en-US" sz="1100">
                <a:solidFill>
                  <a:srgbClr val="22211E"/>
                </a:solidFill>
                <a:latin typeface="MiSans"/>
                <a:ea typeface="MiSans"/>
              </a:rPr>
              <a:t>对外发送、写入生产系统前,必须有人确认。</a:t>
            </a:r>
            <a:endParaRPr lang="en-US" sz="1100"/>
          </a:p>
        </p:txBody>
      </p:sp>
      <p:sp>
        <p:nvSpPr>
          <p:cNvPr id="20" name="cost-note"/>
          <p:cNvSpPr txBox="1"/>
          <p:nvPr/>
        </p:nvSpPr>
        <p:spPr>
          <a:xfrm>
            <a:off x="711200" y="5638800"/>
            <a:ext cx="5842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5000"/>
              </a:lnSpc>
            </a:pPr>
            <a:r>
              <a:rPr lang="en-US" sz="1100">
                <a:solidFill>
                  <a:srgbClr val="6B675F"/>
                </a:solidFill>
                <a:latin typeface="MiSans"/>
                <a:ea typeface="MiSans"/>
              </a:rPr>
              <a:t>越往下越贵:第①层几乎零成本,第③层消耗人的时间——能程序化的,一定先程序化。</a:t>
            </a:r>
            <a:endParaRPr lang="en-US" sz="1100"/>
          </a:p>
        </p:txBody>
      </p:sp>
      <p:sp>
        <p:nvSpPr>
          <p:cNvPr id="21" name="map-h"/>
          <p:cNvSpPr txBox="1"/>
          <p:nvPr/>
        </p:nvSpPr>
        <p:spPr>
          <a:xfrm>
            <a:off x="6858000" y="1778000"/>
            <a:ext cx="4622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E4D3B"/>
                </a:solidFill>
                <a:latin typeface="Liter"/>
                <a:ea typeface="Liter"/>
              </a:rPr>
              <a:t>对应到我们公司</a:t>
            </a:r>
            <a:endParaRPr lang="en-US" sz="1500"/>
          </a:p>
        </p:txBody>
      </p:sp>
      <p:sp>
        <p:nvSpPr>
          <p:cNvPr id="22" name="map-1-dot"/>
          <p:cNvSpPr/>
          <p:nvPr/>
        </p:nvSpPr>
        <p:spPr>
          <a:xfrm>
            <a:off x="6883400" y="2209800"/>
            <a:ext cx="101600" cy="101600"/>
          </a:xfrm>
          <a:prstGeom prst="rect">
            <a:avLst/>
          </a:prstGeom>
          <a:solidFill>
            <a:srgbClr val="1E4D3B"/>
          </a:solidFill>
          <a:ln>
            <a:noFill/>
          </a:ln>
        </p:spPr>
      </p:sp>
      <p:sp>
        <p:nvSpPr>
          <p:cNvPr id="23" name="map-1-t"/>
          <p:cNvSpPr txBox="1"/>
          <p:nvPr/>
        </p:nvSpPr>
        <p:spPr>
          <a:xfrm>
            <a:off x="7112000" y="2133600"/>
            <a:ext cx="4368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200" b="1">
                <a:solidFill>
                  <a:srgbClr val="22211E"/>
                </a:solidFill>
                <a:latin typeface="MiSans"/>
                <a:ea typeface="MiSans"/>
              </a:rPr>
              <a:t>数据清洗算法的阈值校验</a:t>
            </a:r>
            <a:r>
              <a:rPr lang="en-US" sz="1200">
                <a:solidFill>
                  <a:srgbClr val="22211E"/>
                </a:solidFill>
                <a:latin typeface="MiSans"/>
                <a:ea typeface="MiSans"/>
              </a:rPr>
              <a:t> = 第①层</a:t>
            </a:r>
            <a:endParaRPr lang="en-US" sz="1200"/>
          </a:p>
        </p:txBody>
      </p:sp>
      <p:sp>
        <p:nvSpPr>
          <p:cNvPr id="24" name="map-2-dot"/>
          <p:cNvSpPr/>
          <p:nvPr/>
        </p:nvSpPr>
        <p:spPr>
          <a:xfrm>
            <a:off x="6883400" y="2616200"/>
            <a:ext cx="101600" cy="101600"/>
          </a:xfrm>
          <a:prstGeom prst="rect">
            <a:avLst/>
          </a:prstGeom>
          <a:solidFill>
            <a:srgbClr val="C26A2E"/>
          </a:solidFill>
          <a:ln>
            <a:noFill/>
          </a:ln>
        </p:spPr>
      </p:sp>
      <p:sp>
        <p:nvSpPr>
          <p:cNvPr id="25" name="map-2-t"/>
          <p:cNvSpPr txBox="1"/>
          <p:nvPr/>
        </p:nvSpPr>
        <p:spPr>
          <a:xfrm>
            <a:off x="7112000" y="2540000"/>
            <a:ext cx="4368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200" b="1">
                <a:solidFill>
                  <a:srgbClr val="22211E"/>
                </a:solidFill>
                <a:latin typeface="MiSans"/>
                <a:ea typeface="MiSans"/>
              </a:rPr>
              <a:t>对外报告发出前人工复核</a:t>
            </a:r>
            <a:r>
              <a:rPr lang="en-US" sz="1200">
                <a:solidFill>
                  <a:srgbClr val="22211E"/>
                </a:solidFill>
                <a:latin typeface="MiSans"/>
                <a:ea typeface="MiSans"/>
              </a:rPr>
              <a:t> = 第③层</a:t>
            </a:r>
            <a:endParaRPr lang="en-US" sz="1200"/>
          </a:p>
        </p:txBody>
      </p:sp>
      <p:sp>
        <p:nvSpPr>
          <p:cNvPr id="26" name="map-div"/>
          <p:cNvSpPr/>
          <p:nvPr/>
        </p:nvSpPr>
        <p:spPr>
          <a:xfrm>
            <a:off x="6858000" y="3022600"/>
            <a:ext cx="4622800" cy="12700"/>
          </a:xfrm>
          <a:prstGeom prst="rect">
            <a:avLst/>
          </a:prstGeom>
          <a:solidFill>
            <a:srgbClr val="D8D3C8"/>
          </a:solidFill>
          <a:ln>
            <a:noFill/>
          </a:ln>
        </p:spPr>
      </p:sp>
      <p:sp>
        <p:nvSpPr>
          <p:cNvPr id="27" name="concl-t"/>
          <p:cNvSpPr txBox="1"/>
          <p:nvPr/>
        </p:nvSpPr>
        <p:spPr>
          <a:xfrm>
            <a:off x="6858000" y="3276600"/>
            <a:ext cx="46228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700" b="1">
                <a:solidFill>
                  <a:srgbClr val="1E4D3B"/>
                </a:solidFill>
                <a:latin typeface="MiSans"/>
                <a:ea typeface="MiSans"/>
              </a:rPr>
              <a:t>护栏不是不信任 AI,是让循环可托付。</a:t>
            </a:r>
            <a:endParaRPr lang="en-US" sz="1700"/>
          </a:p>
        </p:txBody>
      </p:sp>
      <p:sp>
        <p:nvSpPr>
          <p:cNvPr id="28" name="concl-d"/>
          <p:cNvSpPr txBox="1"/>
          <p:nvPr/>
        </p:nvSpPr>
        <p:spPr>
          <a:xfrm>
            <a:off x="6858000" y="3708400"/>
            <a:ext cx="4622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100">
                <a:solidFill>
                  <a:srgbClr val="6B675F"/>
                </a:solidFill>
                <a:latin typeface="MiSans"/>
                <a:ea typeface="MiSans"/>
              </a:rPr>
              <a:t>人从"盯着每一步",变成"守住关键的几道门"。</a:t>
            </a:r>
            <a:endParaRPr lang="en-US" sz="1100"/>
          </a:p>
        </p:txBody>
      </p:sp>
      <p:sp>
        <p:nvSpPr>
          <p:cNvPr id="29" name="chk-box"/>
          <p:cNvSpPr/>
          <p:nvPr/>
        </p:nvSpPr>
        <p:spPr>
          <a:xfrm>
            <a:off x="6858000" y="4318000"/>
            <a:ext cx="4622800" cy="1168400"/>
          </a:xfrm>
          <a:prstGeom prst="rect">
            <a:avLst/>
          </a:prstGeom>
          <a:solidFill>
            <a:srgbClr val="F7EBDC"/>
          </a:solidFill>
          <a:ln>
            <a:noFill/>
          </a:ln>
        </p:spPr>
      </p:sp>
      <p:sp>
        <p:nvSpPr>
          <p:cNvPr id="30" name="chk-icon"/>
          <p:cNvSpPr/>
          <p:nvPr>
            <p:extLst>
              <p:ext uri="{F5677B7D-0D2A-4D9B-9A5C-6D8D7D0E5A5D}">
                <pptd:icon encoding="base64url">eyJpY29uTmFtZSI6ImZhczpjaXJjbGUtcXVlc3Rpb24ifQ</pptd:icon>
              </p:ext>
            </p:extLst>
          </p:nvPr>
        </p:nvSpPr>
        <p:spPr>
          <a:xfrm>
            <a:off x="7061200" y="4521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397" y="512"/>
                  <a:pt x="512" y="397"/>
                  <a:pt x="512" y="256"/>
                </a:cubicBezTo>
                <a:cubicBezTo>
                  <a:pt x="512" y="115"/>
                  <a:pt x="397" y="0"/>
                  <a:pt x="256" y="0"/>
                </a:cubicBezTo>
                <a:cubicBezTo>
                  <a:pt x="115" y="0"/>
                  <a:pt x="0" y="115"/>
                  <a:pt x="0" y="256"/>
                </a:cubicBezTo>
                <a:cubicBezTo>
                  <a:pt x="0" y="397"/>
                  <a:pt x="115" y="512"/>
                  <a:pt x="256" y="512"/>
                </a:cubicBezTo>
                <a:close/>
                <a:moveTo>
                  <a:pt x="256" y="176"/>
                </a:moveTo>
                <a:cubicBezTo>
                  <a:pt x="238" y="176"/>
                  <a:pt x="224" y="190"/>
                  <a:pt x="224" y="208"/>
                </a:cubicBezTo>
                <a:cubicBezTo>
                  <a:pt x="224" y="221"/>
                  <a:pt x="213" y="232"/>
                  <a:pt x="200" y="232"/>
                </a:cubicBezTo>
                <a:cubicBezTo>
                  <a:pt x="187" y="232"/>
                  <a:pt x="176" y="221"/>
                  <a:pt x="176" y="208"/>
                </a:cubicBezTo>
                <a:cubicBezTo>
                  <a:pt x="176" y="164"/>
                  <a:pt x="212" y="128"/>
                  <a:pt x="256" y="128"/>
                </a:cubicBezTo>
                <a:cubicBezTo>
                  <a:pt x="300" y="128"/>
                  <a:pt x="336" y="164"/>
                  <a:pt x="336" y="208"/>
                </a:cubicBezTo>
                <a:cubicBezTo>
                  <a:pt x="336" y="255"/>
                  <a:pt x="300" y="275"/>
                  <a:pt x="280" y="283"/>
                </a:cubicBezTo>
                <a:lnTo>
                  <a:pt x="280" y="286"/>
                </a:lnTo>
                <a:cubicBezTo>
                  <a:pt x="280" y="300"/>
                  <a:pt x="269" y="310"/>
                  <a:pt x="256" y="310"/>
                </a:cubicBezTo>
                <a:cubicBezTo>
                  <a:pt x="243" y="310"/>
                  <a:pt x="232" y="300"/>
                  <a:pt x="232" y="286"/>
                </a:cubicBezTo>
                <a:lnTo>
                  <a:pt x="232" y="278"/>
                </a:lnTo>
                <a:cubicBezTo>
                  <a:pt x="232" y="258"/>
                  <a:pt x="247" y="243"/>
                  <a:pt x="262" y="238"/>
                </a:cubicBezTo>
                <a:cubicBezTo>
                  <a:pt x="269" y="236"/>
                  <a:pt x="275" y="233"/>
                  <a:pt x="280" y="228"/>
                </a:cubicBezTo>
                <a:cubicBezTo>
                  <a:pt x="285" y="224"/>
                  <a:pt x="288" y="218"/>
                  <a:pt x="288" y="208"/>
                </a:cubicBezTo>
                <a:cubicBezTo>
                  <a:pt x="288" y="190"/>
                  <a:pt x="274" y="176"/>
                  <a:pt x="256" y="176"/>
                </a:cubicBezTo>
                <a:close/>
                <a:moveTo>
                  <a:pt x="224" y="368"/>
                </a:moveTo>
                <a:cubicBezTo>
                  <a:pt x="224" y="350"/>
                  <a:pt x="238" y="336"/>
                  <a:pt x="256" y="336"/>
                </a:cubicBezTo>
                <a:cubicBezTo>
                  <a:pt x="274" y="336"/>
                  <a:pt x="288" y="350"/>
                  <a:pt x="288" y="368"/>
                </a:cubicBezTo>
                <a:cubicBezTo>
                  <a:pt x="288" y="386"/>
                  <a:pt x="274" y="400"/>
                  <a:pt x="256" y="400"/>
                </a:cubicBezTo>
                <a:cubicBezTo>
                  <a:pt x="238" y="400"/>
                  <a:pt x="224" y="386"/>
                  <a:pt x="224" y="368"/>
                </a:cubicBezTo>
                <a:close/>
              </a:path>
            </a:pathLst>
          </a:custGeom>
          <a:solidFill>
            <a:srgbClr val="C26A2E"/>
          </a:solidFill>
          <a:ln>
            <a:noFill/>
          </a:ln>
        </p:spPr>
      </p:sp>
      <p:sp>
        <p:nvSpPr>
          <p:cNvPr id="31" name="chk-h"/>
          <p:cNvSpPr txBox="1"/>
          <p:nvPr/>
        </p:nvSpPr>
        <p:spPr>
          <a:xfrm>
            <a:off x="7416800" y="4508500"/>
            <a:ext cx="3860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300" b="1">
                <a:solidFill>
                  <a:srgbClr val="C26A2E"/>
                </a:solidFill>
                <a:latin typeface="MiSans"/>
                <a:ea typeface="MiSans"/>
              </a:rPr>
              <a:t>检查</a:t>
            </a:r>
            <a:endParaRPr lang="en-US" sz="1300"/>
          </a:p>
        </p:txBody>
      </p:sp>
      <p:sp>
        <p:nvSpPr>
          <p:cNvPr id="32" name="chk-body"/>
          <p:cNvSpPr txBox="1"/>
          <p:nvPr/>
        </p:nvSpPr>
        <p:spPr>
          <a:xfrm>
            <a:off x="7061200" y="4826000"/>
            <a:ext cx="42164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5000"/>
              </a:lnSpc>
            </a:pPr>
            <a:r>
              <a:rPr lang="en-US" sz="1200">
                <a:solidFill>
                  <a:srgbClr val="22211E"/>
                </a:solidFill>
                <a:latin typeface="MiSans"/>
                <a:ea typeface="MiSans"/>
              </a:rPr>
              <a:t>除了对外发送、生产写入,我们还有哪些动作该进第③层?</a:t>
            </a:r>
            <a:endParaRPr lang="en-US" sz="1200"/>
          </a:p>
        </p:txBody>
      </p:sp>
      <p:sp>
        <p:nvSpPr>
          <p:cNvPr id="33" name="footer-line"/>
          <p:cNvSpPr/>
          <p:nvPr/>
        </p:nvSpPr>
        <p:spPr>
          <a:xfrm>
            <a:off x="711200" y="6375400"/>
            <a:ext cx="10769600" cy="12700"/>
          </a:xfrm>
          <a:prstGeom prst="rect">
            <a:avLst/>
          </a:prstGeom>
          <a:solidFill>
            <a:srgbClr val="D8D3C8"/>
          </a:solidFill>
          <a:ln>
            <a:noFill/>
          </a:ln>
        </p:spPr>
      </p:sp>
      <p:sp>
        <p:nvSpPr>
          <p:cNvPr id="34" name="footer-src"/>
          <p:cNvSpPr txBox="1"/>
          <p:nvPr/>
        </p:nvSpPr>
        <p:spPr>
          <a:xfrm>
            <a:off x="711200" y="6477000"/>
            <a:ext cx="812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40000"/>
              </a:lnSpc>
            </a:pPr>
            <a:r>
              <a:rPr lang="en-US" sz="1000">
                <a:solidFill>
                  <a:srgbClr val="6B675F"/>
                </a:solidFill>
                <a:latin typeface="Liter"/>
                <a:ea typeface="Liter"/>
              </a:rPr>
              <a:t>框架据公开 Agent 工程实践整理;公司场景为教学映射</a:t>
            </a:r>
            <a:endParaRPr lang="en-US" sz="1000"/>
          </a:p>
        </p:txBody>
      </p:sp>
      <p:sp>
        <p:nvSpPr>
          <p:cNvPr id="35" name="footer-page"/>
          <p:cNvSpPr txBox="1"/>
          <p:nvPr/>
        </p:nvSpPr>
        <p:spPr>
          <a:xfrm>
            <a:off x="10464800" y="64770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r">
              <a:lnSpc>
                <a:spcPct val="140000"/>
              </a:lnSpc>
            </a:pPr>
            <a:r>
              <a:rPr lang="en-US" sz="1000">
                <a:solidFill>
                  <a:srgbClr val="6B675F"/>
                </a:solidFill>
                <a:latin typeface="Liter"/>
                <a:ea typeface="Liter"/>
              </a:rPr>
              <a:t>18 / 35</a:t>
            </a:r>
            <a:endParaRPr lang="en-US" sz="1000"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826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100" b="1" spc="200" kern="0">
                <a:solidFill>
                  <a:srgbClr val="C26A2E"/>
                </a:solidFill>
                <a:latin typeface="Liter"/>
                <a:ea typeface="Liter"/>
              </a:rPr>
              <a:t>第三章 · HARNESS 与 LOOP ENGINEERING</a:t>
            </a:r>
            <a:endParaRPr lang="en-US" sz="1100"/>
          </a:p>
        </p:txBody>
      </p:sp>
      <p:sp>
        <p:nvSpPr>
          <p:cNvPr id="3" name="title"/>
          <p:cNvSpPr txBox="1"/>
          <p:nvPr/>
        </p:nvSpPr>
        <p:spPr>
          <a:xfrm>
            <a:off x="711200" y="7874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22211E"/>
                </a:solidFill>
                <a:latin typeface="Liter"/>
                <a:ea typeface="Liter"/>
              </a:rPr>
              <a:t>案例:墒情巡检报告智能体,完整跑一圈</a:t>
            </a:r>
            <a:endParaRPr lang="en-US" sz="2600"/>
          </a:p>
        </p:txBody>
      </p:sp>
      <p:sp>
        <p:nvSpPr>
          <p:cNvPr id="4" name="step-1-tag"/>
          <p:cNvSpPr txBox="1"/>
          <p:nvPr/>
        </p:nvSpPr>
        <p:spPr>
          <a:xfrm>
            <a:off x="711200" y="1676400"/>
            <a:ext cx="1930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ctr">
              <a:lnSpc>
                <a:spcPct val="120000"/>
              </a:lnSpc>
            </a:pPr>
            <a:r>
              <a:rPr lang="en-US" sz="1000" b="1">
                <a:solidFill>
                  <a:srgbClr val="C26A2E"/>
                </a:solidFill>
                <a:latin typeface="MiSans"/>
                <a:ea typeface="MiSans"/>
              </a:rPr>
              <a:t>LOOP · 目标</a:t>
            </a:r>
            <a:endParaRPr lang="en-US" sz="1000"/>
          </a:p>
        </p:txBody>
      </p:sp>
      <p:sp>
        <p:nvSpPr>
          <p:cNvPr id="5" name="step-1"/>
          <p:cNvSpPr/>
          <p:nvPr/>
        </p:nvSpPr>
        <p:spPr>
          <a:xfrm>
            <a:off x="711200" y="1930400"/>
            <a:ext cx="1930400" cy="149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4D3B"/>
            </a:solidFill>
          </a:ln>
        </p:spPr>
      </p:sp>
      <p:sp>
        <p:nvSpPr>
          <p:cNvPr id="6" name="step-1-t"/>
          <p:cNvSpPr txBox="1"/>
          <p:nvPr/>
        </p:nvSpPr>
        <p:spPr>
          <a:xfrm>
            <a:off x="863600" y="2082800"/>
            <a:ext cx="16256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300" b="1">
                <a:solidFill>
                  <a:srgbClr val="1E4D3B"/>
                </a:solidFill>
                <a:latin typeface="MiSans"/>
                <a:ea typeface="MiSans"/>
              </a:rPr>
              <a:t>① 目标</a:t>
            </a:r>
            <a:endParaRPr lang="en-US" sz="1300"/>
          </a:p>
        </p:txBody>
      </p:sp>
      <p:sp>
        <p:nvSpPr>
          <p:cNvPr id="7" name="step-1-d"/>
          <p:cNvSpPr txBox="1"/>
          <p:nvPr/>
        </p:nvSpPr>
        <p:spPr>
          <a:xfrm>
            <a:off x="863600" y="2387600"/>
            <a:ext cx="16256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5000"/>
              </a:lnSpc>
            </a:pPr>
            <a:r>
              <a:rPr lang="en-US" sz="1100">
                <a:solidFill>
                  <a:srgbClr val="22211E"/>
                </a:solidFill>
                <a:latin typeface="MiSans"/>
                <a:ea typeface="MiSans"/>
              </a:rPr>
              <a:t>每周一 8:00,自动生成全域墒情周报</a:t>
            </a:r>
            <a:endParaRPr lang="en-US" sz="1100"/>
          </a:p>
        </p:txBody>
      </p:sp>
      <p:sp>
        <p:nvSpPr>
          <p:cNvPr id="8" name="chev-1"/>
          <p:cNvSpPr/>
          <p:nvPr/>
        </p:nvSpPr>
        <p:spPr>
          <a:xfrm>
            <a:off x="2692400" y="2514600"/>
            <a:ext cx="279400" cy="330200"/>
          </a:xfrm>
          <a:prstGeom prst="chevron">
            <a:avLst/>
          </a:prstGeom>
          <a:solidFill>
            <a:srgbClr val="1E4D3B"/>
          </a:solidFill>
          <a:ln>
            <a:noFill/>
          </a:ln>
        </p:spPr>
      </p:sp>
      <p:sp>
        <p:nvSpPr>
          <p:cNvPr id="9" name="step-2-tag"/>
          <p:cNvSpPr txBox="1"/>
          <p:nvPr/>
        </p:nvSpPr>
        <p:spPr>
          <a:xfrm>
            <a:off x="3022600" y="1676400"/>
            <a:ext cx="1930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ctr">
              <a:lnSpc>
                <a:spcPct val="120000"/>
              </a:lnSpc>
            </a:pPr>
            <a:r>
              <a:rPr lang="en-US" sz="1000" b="1">
                <a:solidFill>
                  <a:srgbClr val="C26A2E"/>
                </a:solidFill>
                <a:latin typeface="MiSans"/>
                <a:ea typeface="MiSans"/>
              </a:rPr>
              <a:t>LOOP · 行动</a:t>
            </a:r>
            <a:endParaRPr lang="en-US" sz="1000"/>
          </a:p>
        </p:txBody>
      </p:sp>
      <p:sp>
        <p:nvSpPr>
          <p:cNvPr id="10" name="step-2"/>
          <p:cNvSpPr/>
          <p:nvPr/>
        </p:nvSpPr>
        <p:spPr>
          <a:xfrm>
            <a:off x="3022600" y="1930400"/>
            <a:ext cx="1930400" cy="149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4D3B"/>
            </a:solidFill>
          </a:ln>
        </p:spPr>
      </p:sp>
      <p:sp>
        <p:nvSpPr>
          <p:cNvPr id="11" name="step-2-t"/>
          <p:cNvSpPr txBox="1"/>
          <p:nvPr/>
        </p:nvSpPr>
        <p:spPr>
          <a:xfrm>
            <a:off x="3175000" y="2082800"/>
            <a:ext cx="16256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300" b="1">
                <a:solidFill>
                  <a:srgbClr val="1E4D3B"/>
                </a:solidFill>
                <a:latin typeface="MiSans"/>
                <a:ea typeface="MiSans"/>
              </a:rPr>
              <a:t>② 行动</a:t>
            </a:r>
            <a:endParaRPr lang="en-US" sz="1300"/>
          </a:p>
        </p:txBody>
      </p:sp>
      <p:sp>
        <p:nvSpPr>
          <p:cNvPr id="12" name="step-2-d"/>
          <p:cNvSpPr txBox="1"/>
          <p:nvPr/>
        </p:nvSpPr>
        <p:spPr>
          <a:xfrm>
            <a:off x="3175000" y="2387600"/>
            <a:ext cx="16256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5000"/>
              </a:lnSpc>
            </a:pPr>
            <a:r>
              <a:rPr lang="en-US" sz="1100">
                <a:solidFill>
                  <a:srgbClr val="22211E"/>
                </a:solidFill>
                <a:latin typeface="MiSans"/>
                <a:ea typeface="MiSans"/>
              </a:rPr>
              <a:t>调平台接口,取站点状态与墒情时序数据</a:t>
            </a:r>
            <a:endParaRPr lang="en-US" sz="1100"/>
          </a:p>
        </p:txBody>
      </p:sp>
      <p:sp>
        <p:nvSpPr>
          <p:cNvPr id="13" name="chev-2"/>
          <p:cNvSpPr/>
          <p:nvPr/>
        </p:nvSpPr>
        <p:spPr>
          <a:xfrm>
            <a:off x="5003800" y="2514600"/>
            <a:ext cx="279400" cy="330200"/>
          </a:xfrm>
          <a:prstGeom prst="chevron">
            <a:avLst/>
          </a:prstGeom>
          <a:solidFill>
            <a:srgbClr val="1E4D3B"/>
          </a:solidFill>
          <a:ln>
            <a:noFill/>
          </a:ln>
        </p:spPr>
      </p:sp>
      <p:sp>
        <p:nvSpPr>
          <p:cNvPr id="14" name="step-3-tag"/>
          <p:cNvSpPr txBox="1"/>
          <p:nvPr/>
        </p:nvSpPr>
        <p:spPr>
          <a:xfrm>
            <a:off x="5334000" y="1676400"/>
            <a:ext cx="1930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ctr">
              <a:lnSpc>
                <a:spcPct val="120000"/>
              </a:lnSpc>
            </a:pPr>
            <a:r>
              <a:rPr lang="en-US" sz="1000" b="1">
                <a:solidFill>
                  <a:srgbClr val="C26A2E"/>
                </a:solidFill>
                <a:latin typeface="MiSans"/>
                <a:ea typeface="MiSans"/>
              </a:rPr>
              <a:t>LOOP · 反馈</a:t>
            </a:r>
            <a:endParaRPr lang="en-US" sz="1000"/>
          </a:p>
        </p:txBody>
      </p:sp>
      <p:sp>
        <p:nvSpPr>
          <p:cNvPr id="15" name="step-3"/>
          <p:cNvSpPr/>
          <p:nvPr/>
        </p:nvSpPr>
        <p:spPr>
          <a:xfrm>
            <a:off x="5334000" y="1930400"/>
            <a:ext cx="1930400" cy="149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4D3B"/>
            </a:solidFill>
          </a:ln>
        </p:spPr>
      </p:sp>
      <p:sp>
        <p:nvSpPr>
          <p:cNvPr id="16" name="step-3-t"/>
          <p:cNvSpPr txBox="1"/>
          <p:nvPr/>
        </p:nvSpPr>
        <p:spPr>
          <a:xfrm>
            <a:off x="5486400" y="2082800"/>
            <a:ext cx="16256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300" b="1">
                <a:solidFill>
                  <a:srgbClr val="1E4D3B"/>
                </a:solidFill>
                <a:latin typeface="MiSans"/>
                <a:ea typeface="MiSans"/>
              </a:rPr>
              <a:t>③ 反馈</a:t>
            </a:r>
            <a:endParaRPr lang="en-US" sz="1300"/>
          </a:p>
        </p:txBody>
      </p:sp>
      <p:sp>
        <p:nvSpPr>
          <p:cNvPr id="17" name="step-3-d"/>
          <p:cNvSpPr txBox="1"/>
          <p:nvPr/>
        </p:nvSpPr>
        <p:spPr>
          <a:xfrm>
            <a:off x="5486400" y="2387600"/>
            <a:ext cx="16256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5000"/>
              </a:lnSpc>
            </a:pPr>
            <a:r>
              <a:rPr lang="en-US" sz="1100">
                <a:solidFill>
                  <a:srgbClr val="22211E"/>
                </a:solidFill>
                <a:latin typeface="MiSans"/>
                <a:ea typeface="MiSans"/>
              </a:rPr>
              <a:t>拿到结构化校验:缺数站点 2 个、阈值超限 1 处</a:t>
            </a:r>
            <a:endParaRPr lang="en-US" sz="1100"/>
          </a:p>
        </p:txBody>
      </p:sp>
      <p:sp>
        <p:nvSpPr>
          <p:cNvPr id="18" name="chev-3"/>
          <p:cNvSpPr/>
          <p:nvPr/>
        </p:nvSpPr>
        <p:spPr>
          <a:xfrm>
            <a:off x="7315200" y="2514600"/>
            <a:ext cx="279400" cy="330200"/>
          </a:xfrm>
          <a:prstGeom prst="chevron">
            <a:avLst/>
          </a:prstGeom>
          <a:solidFill>
            <a:srgbClr val="1E4D3B"/>
          </a:solidFill>
          <a:ln>
            <a:noFill/>
          </a:ln>
        </p:spPr>
      </p:sp>
      <p:sp>
        <p:nvSpPr>
          <p:cNvPr id="19" name="step-4-tag"/>
          <p:cNvSpPr txBox="1"/>
          <p:nvPr/>
        </p:nvSpPr>
        <p:spPr>
          <a:xfrm>
            <a:off x="7645400" y="1676400"/>
            <a:ext cx="1930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ctr">
              <a:lnSpc>
                <a:spcPct val="120000"/>
              </a:lnSpc>
            </a:pPr>
            <a:r>
              <a:rPr lang="en-US" sz="1000" b="1">
                <a:solidFill>
                  <a:srgbClr val="C26A2E"/>
                </a:solidFill>
                <a:latin typeface="MiSans"/>
                <a:ea typeface="MiSans"/>
              </a:rPr>
              <a:t>LOOP · 验证</a:t>
            </a:r>
            <a:endParaRPr lang="en-US" sz="1000"/>
          </a:p>
        </p:txBody>
      </p:sp>
      <p:sp>
        <p:nvSpPr>
          <p:cNvPr id="20" name="step-4"/>
          <p:cNvSpPr/>
          <p:nvPr/>
        </p:nvSpPr>
        <p:spPr>
          <a:xfrm>
            <a:off x="7645400" y="1930400"/>
            <a:ext cx="1930400" cy="149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4D3B"/>
            </a:solidFill>
          </a:ln>
        </p:spPr>
      </p:sp>
      <p:sp>
        <p:nvSpPr>
          <p:cNvPr id="21" name="step-4-t"/>
          <p:cNvSpPr txBox="1"/>
          <p:nvPr/>
        </p:nvSpPr>
        <p:spPr>
          <a:xfrm>
            <a:off x="7797800" y="2082800"/>
            <a:ext cx="16256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300" b="1">
                <a:solidFill>
                  <a:srgbClr val="1E4D3B"/>
                </a:solidFill>
                <a:latin typeface="MiSans"/>
                <a:ea typeface="MiSans"/>
              </a:rPr>
              <a:t>④ 验证</a:t>
            </a:r>
            <a:endParaRPr lang="en-US" sz="1300"/>
          </a:p>
        </p:txBody>
      </p:sp>
      <p:sp>
        <p:nvSpPr>
          <p:cNvPr id="22" name="step-4-d"/>
          <p:cNvSpPr txBox="1"/>
          <p:nvPr/>
        </p:nvSpPr>
        <p:spPr>
          <a:xfrm>
            <a:off x="7797800" y="2387600"/>
            <a:ext cx="16256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5000"/>
              </a:lnSpc>
            </a:pPr>
            <a:r>
              <a:rPr lang="en-US" sz="1100">
                <a:solidFill>
                  <a:srgbClr val="22211E"/>
                </a:solidFill>
                <a:latin typeface="MiSans"/>
                <a:ea typeface="MiSans"/>
              </a:rPr>
              <a:t>程序校验 + 农艺规则复核;不通过回到第②步</a:t>
            </a:r>
            <a:endParaRPr lang="en-US" sz="1100"/>
          </a:p>
        </p:txBody>
      </p:sp>
      <p:sp>
        <p:nvSpPr>
          <p:cNvPr id="23" name="chev-4"/>
          <p:cNvSpPr/>
          <p:nvPr/>
        </p:nvSpPr>
        <p:spPr>
          <a:xfrm>
            <a:off x="9626600" y="2514600"/>
            <a:ext cx="279400" cy="330200"/>
          </a:xfrm>
          <a:prstGeom prst="chevron">
            <a:avLst/>
          </a:prstGeom>
          <a:solidFill>
            <a:srgbClr val="1E4D3B"/>
          </a:solidFill>
          <a:ln>
            <a:noFill/>
          </a:ln>
        </p:spPr>
      </p:sp>
      <p:sp>
        <p:nvSpPr>
          <p:cNvPr id="24" name="step-5-tag"/>
          <p:cNvSpPr txBox="1"/>
          <p:nvPr/>
        </p:nvSpPr>
        <p:spPr>
          <a:xfrm>
            <a:off x="9956800" y="1676400"/>
            <a:ext cx="152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ctr">
              <a:lnSpc>
                <a:spcPct val="120000"/>
              </a:lnSpc>
            </a:pPr>
            <a:r>
              <a:rPr lang="en-US" sz="1000" b="1">
                <a:solidFill>
                  <a:srgbClr val="C26A2E"/>
                </a:solidFill>
                <a:latin typeface="MiSans"/>
                <a:ea typeface="MiSans"/>
              </a:rPr>
              <a:t>人在回路 · 交付</a:t>
            </a:r>
            <a:endParaRPr lang="en-US" sz="1000"/>
          </a:p>
        </p:txBody>
      </p:sp>
      <p:sp>
        <p:nvSpPr>
          <p:cNvPr id="25" name="step-5"/>
          <p:cNvSpPr/>
          <p:nvPr/>
        </p:nvSpPr>
        <p:spPr>
          <a:xfrm>
            <a:off x="9956800" y="1930400"/>
            <a:ext cx="1524000" cy="1498600"/>
          </a:xfrm>
          <a:prstGeom prst="rect">
            <a:avLst/>
          </a:prstGeom>
          <a:solidFill>
            <a:srgbClr val="F7EBDC"/>
          </a:solidFill>
          <a:ln w="12700">
            <a:solidFill>
              <a:srgbClr val="C26A2E"/>
            </a:solidFill>
          </a:ln>
        </p:spPr>
      </p:sp>
      <p:sp>
        <p:nvSpPr>
          <p:cNvPr id="26" name="step-5-t"/>
          <p:cNvSpPr txBox="1"/>
          <p:nvPr/>
        </p:nvSpPr>
        <p:spPr>
          <a:xfrm>
            <a:off x="10109200" y="2082800"/>
            <a:ext cx="1219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300" b="1">
                <a:solidFill>
                  <a:srgbClr val="C26A2E"/>
                </a:solidFill>
                <a:latin typeface="MiSans"/>
                <a:ea typeface="MiSans"/>
              </a:rPr>
              <a:t>⑤ 交付</a:t>
            </a:r>
            <a:endParaRPr lang="en-US" sz="1300"/>
          </a:p>
        </p:txBody>
      </p:sp>
      <p:sp>
        <p:nvSpPr>
          <p:cNvPr id="27" name="step-5-d"/>
          <p:cNvSpPr txBox="1"/>
          <p:nvPr/>
        </p:nvSpPr>
        <p:spPr>
          <a:xfrm>
            <a:off x="10109200" y="2387600"/>
            <a:ext cx="12192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5000"/>
              </a:lnSpc>
            </a:pPr>
            <a:r>
              <a:rPr lang="en-US" sz="1100">
                <a:solidFill>
                  <a:srgbClr val="22211E"/>
                </a:solidFill>
                <a:latin typeface="MiSans"/>
                <a:ea typeface="MiSans"/>
              </a:rPr>
              <a:t>报告草稿 + 异常清单;人确认后发出</a:t>
            </a:r>
            <a:endParaRPr lang="en-US" sz="1100"/>
          </a:p>
        </p:txBody>
      </p:sp>
      <p:sp>
        <p:nvSpPr>
          <p:cNvPr id="28" name="loop-back"/>
          <p:cNvSpPr/>
          <p:nvPr>
            <p:extLst>
              <p:ext uri="{F5677B7D-0D2A-4D9B-9A5C-6D8D7D0E5A5D}">
                <pptd:line encoding="base64url">eyJjdXJ2ZSI6InNoYXJwIiwicG9pbnRzIjoiMzY0LDAgMzY0LDI0IDAsMjQgMCw0Iiwidmlld0JveCI6WzM2NCwyOF19</pptd:line>
              </p:ext>
            </p:extLst>
          </p:nvPr>
        </p:nvSpPr>
        <p:spPr>
          <a:xfrm>
            <a:off x="3987800" y="3479800"/>
            <a:ext cx="4622800" cy="355600"/>
          </a:xfrm>
          <a:custGeom>
            <a:avLst/>
            <a:gdLst/>
            <a:ahLst/>
            <a:cxnLst/>
            <a:rect l="l" t="t" r="r" b="b"/>
            <a:pathLst>
              <a:path w="364" h="28">
                <a:moveTo>
                  <a:pt x="364" y="0"/>
                </a:moveTo>
                <a:lnTo>
                  <a:pt x="364" y="24"/>
                </a:lnTo>
                <a:lnTo>
                  <a:pt x="0" y="24"/>
                </a:lnTo>
                <a:lnTo>
                  <a:pt x="0" y="4"/>
                </a:lnTo>
              </a:path>
            </a:pathLst>
          </a:custGeom>
          <a:noFill/>
          <a:ln w="19050">
            <a:solidFill>
              <a:srgbClr val="C26A2E"/>
            </a:solidFill>
            <a:prstDash val="dash"/>
            <a:tailEnd type="arrow"/>
          </a:ln>
        </p:spPr>
      </p:sp>
      <p:sp>
        <p:nvSpPr>
          <p:cNvPr id="29" name="loop-back-t"/>
          <p:cNvSpPr txBox="1"/>
          <p:nvPr/>
        </p:nvSpPr>
        <p:spPr>
          <a:xfrm>
            <a:off x="4902200" y="3860800"/>
            <a:ext cx="279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ctr">
              <a:lnSpc>
                <a:spcPct val="120000"/>
              </a:lnSpc>
            </a:pPr>
            <a:r>
              <a:rPr lang="en-US" sz="1000">
                <a:solidFill>
                  <a:srgbClr val="6B675F"/>
                </a:solidFill>
                <a:latin typeface="MiSans"/>
                <a:ea typeface="MiSans"/>
              </a:rPr>
              <a:t>验证不通过:回到行动,重新取数或补数</a:t>
            </a:r>
            <a:endParaRPr lang="en-US" sz="1000"/>
          </a:p>
        </p:txBody>
      </p:sp>
      <p:sp>
        <p:nvSpPr>
          <p:cNvPr id="30" name="eff-box"/>
          <p:cNvSpPr/>
          <p:nvPr/>
        </p:nvSpPr>
        <p:spPr>
          <a:xfrm>
            <a:off x="711200" y="4241800"/>
            <a:ext cx="10769600" cy="584200"/>
          </a:xfrm>
          <a:prstGeom prst="rect">
            <a:avLst/>
          </a:prstGeom>
          <a:solidFill>
            <a:srgbClr val="EAF1EC"/>
          </a:solidFill>
          <a:ln>
            <a:noFill/>
          </a:ln>
        </p:spPr>
      </p:sp>
      <p:sp>
        <p:nvSpPr>
          <p:cNvPr id="31" name="eff-icon"/>
          <p:cNvSpPr/>
          <p:nvPr>
            <p:extLst>
              <p:ext uri="{F5677B7D-0D2A-4D9B-9A5C-6D8D7D0E5A5D}">
                <pptd:icon encoding="base64url">eyJpY29uTmFtZSI6ImZhczpjbG9jayJ9</pptd:icon>
              </p:ext>
            </p:extLst>
          </p:nvPr>
        </p:nvSpPr>
        <p:spPr>
          <a:xfrm>
            <a:off x="914400" y="44196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lose/>
                <a:moveTo>
                  <a:pt x="232" y="120"/>
                </a:moveTo>
                <a:lnTo>
                  <a:pt x="232" y="256"/>
                </a:lnTo>
                <a:cubicBezTo>
                  <a:pt x="232" y="264"/>
                  <a:pt x="236" y="272"/>
                  <a:pt x="243" y="276"/>
                </a:cubicBezTo>
                <a:lnTo>
                  <a:pt x="339" y="340"/>
                </a:lnTo>
                <a:cubicBezTo>
                  <a:pt x="350" y="347"/>
                  <a:pt x="365" y="344"/>
                  <a:pt x="372" y="333"/>
                </a:cubicBezTo>
                <a:cubicBezTo>
                  <a:pt x="379" y="322"/>
                  <a:pt x="376" y="307"/>
                  <a:pt x="365" y="300"/>
                </a:cubicBezTo>
                <a:lnTo>
                  <a:pt x="280" y="243"/>
                </a:lnTo>
                <a:lnTo>
                  <a:pt x="280" y="120"/>
                </a:lnTo>
                <a:cubicBezTo>
                  <a:pt x="280" y="107"/>
                  <a:pt x="269" y="96"/>
                  <a:pt x="256" y="96"/>
                </a:cubicBezTo>
                <a:cubicBezTo>
                  <a:pt x="243" y="96"/>
                  <a:pt x="232" y="107"/>
                  <a:pt x="232" y="120"/>
                </a:cubicBezTo>
                <a:close/>
              </a:path>
            </a:pathLst>
          </a:custGeom>
          <a:solidFill>
            <a:srgbClr val="1E4D3B"/>
          </a:solidFill>
          <a:ln>
            <a:noFill/>
          </a:ln>
        </p:spPr>
      </p:sp>
      <p:sp>
        <p:nvSpPr>
          <p:cNvPr id="32" name="eff-body"/>
          <p:cNvSpPr txBox="1"/>
          <p:nvPr/>
        </p:nvSpPr>
        <p:spPr>
          <a:xfrm>
            <a:off x="1270000" y="4368800"/>
            <a:ext cx="100076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200" b="1">
                <a:solidFill>
                  <a:srgbClr val="22211E"/>
                </a:solidFill>
                <a:latin typeface="MiSans"/>
                <a:ea typeface="MiSans"/>
              </a:rPr>
              <a:t>效果对比(教学演示数据):</a:t>
            </a:r>
            <a:r>
              <a:rPr lang="en-US" sz="1200">
                <a:solidFill>
                  <a:srgbClr val="22211E"/>
                </a:solidFill>
                <a:latin typeface="MiSans"/>
                <a:ea typeface="MiSans"/>
              </a:rPr>
              <a:t>人工做这份周报约 90 分钟 → 智能体跑一圈约 4 分钟,人只在第⑤步花 2 分钟确认。</a:t>
            </a:r>
            <a:endParaRPr lang="en-US" sz="1200"/>
          </a:p>
        </p:txBody>
      </p:sp>
      <p:sp>
        <p:nvSpPr>
          <p:cNvPr id="33" name="chk-box"/>
          <p:cNvSpPr/>
          <p:nvPr/>
        </p:nvSpPr>
        <p:spPr>
          <a:xfrm>
            <a:off x="711200" y="5029200"/>
            <a:ext cx="10769600" cy="863600"/>
          </a:xfrm>
          <a:prstGeom prst="rect">
            <a:avLst/>
          </a:prstGeom>
          <a:solidFill>
            <a:srgbClr val="F7EBDC"/>
          </a:solidFill>
          <a:ln>
            <a:noFill/>
          </a:ln>
        </p:spPr>
      </p:sp>
      <p:sp>
        <p:nvSpPr>
          <p:cNvPr id="34" name="chk-h"/>
          <p:cNvSpPr txBox="1"/>
          <p:nvPr/>
        </p:nvSpPr>
        <p:spPr>
          <a:xfrm>
            <a:off x="914400" y="51562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300" b="1">
                <a:solidFill>
                  <a:srgbClr val="C26A2E"/>
                </a:solidFill>
                <a:latin typeface="MiSans"/>
                <a:ea typeface="MiSans"/>
              </a:rPr>
              <a:t>检查提问</a:t>
            </a:r>
            <a:endParaRPr lang="en-US" sz="1300"/>
          </a:p>
        </p:txBody>
      </p:sp>
      <p:sp>
        <p:nvSpPr>
          <p:cNvPr id="35" name="chk-body"/>
          <p:cNvSpPr txBox="1"/>
          <p:nvPr/>
        </p:nvSpPr>
        <p:spPr>
          <a:xfrm>
            <a:off x="914400" y="5435600"/>
            <a:ext cx="103632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5000"/>
              </a:lnSpc>
            </a:pPr>
            <a:r>
              <a:rPr lang="en-US" sz="1200">
                <a:solidFill>
                  <a:srgbClr val="22211E"/>
                </a:solidFill>
                <a:latin typeface="MiSans"/>
                <a:ea typeface="MiSans"/>
              </a:rPr>
              <a:t>哪个环节最容易被省掉?——第③④步的反馈与验证。省掉它们,报告里的错误数字会原样流到收件人手里。</a:t>
            </a:r>
            <a:endParaRPr lang="en-US" sz="1200"/>
          </a:p>
        </p:txBody>
      </p:sp>
      <p:sp>
        <p:nvSpPr>
          <p:cNvPr id="36" name="footer-line"/>
          <p:cNvSpPr/>
          <p:nvPr/>
        </p:nvSpPr>
        <p:spPr>
          <a:xfrm>
            <a:off x="711200" y="6375400"/>
            <a:ext cx="10769600" cy="12700"/>
          </a:xfrm>
          <a:prstGeom prst="rect">
            <a:avLst/>
          </a:prstGeom>
          <a:solidFill>
            <a:srgbClr val="D8D3C8"/>
          </a:solidFill>
          <a:ln>
            <a:noFill/>
          </a:ln>
        </p:spPr>
      </p:sp>
      <p:sp>
        <p:nvSpPr>
          <p:cNvPr id="37" name="footer-src"/>
          <p:cNvSpPr txBox="1"/>
          <p:nvPr/>
        </p:nvSpPr>
        <p:spPr>
          <a:xfrm>
            <a:off x="711200" y="6477000"/>
            <a:ext cx="812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40000"/>
              </a:lnSpc>
            </a:pPr>
            <a:r>
              <a:rPr lang="en-US" sz="1000">
                <a:solidFill>
                  <a:srgbClr val="6B675F"/>
                </a:solidFill>
                <a:latin typeface="Liter"/>
                <a:ea typeface="Liter"/>
              </a:rPr>
              <a:t>教学演示:基于智墒 / 天圻公开产品能力的示例场景,数据为示例</a:t>
            </a:r>
            <a:endParaRPr lang="en-US" sz="1000"/>
          </a:p>
        </p:txBody>
      </p:sp>
      <p:sp>
        <p:nvSpPr>
          <p:cNvPr id="38" name="footer-page"/>
          <p:cNvSpPr txBox="1"/>
          <p:nvPr/>
        </p:nvSpPr>
        <p:spPr>
          <a:xfrm>
            <a:off x="10464800" y="64770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r">
              <a:lnSpc>
                <a:spcPct val="140000"/>
              </a:lnSpc>
            </a:pPr>
            <a:r>
              <a:rPr lang="en-US" sz="1000">
                <a:solidFill>
                  <a:srgbClr val="6B675F"/>
                </a:solidFill>
                <a:latin typeface="Liter"/>
                <a:ea typeface="Liter"/>
              </a:rPr>
              <a:t>19 / 35</a:t>
            </a:r>
            <a:endParaRPr lang="en-US" sz="1000"/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1E4D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1016000" y="1219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100" b="1" spc="200" kern="0">
                <a:solidFill>
                  <a:srgbClr val="C26A2E"/>
                </a:solidFill>
                <a:latin typeface="Liter"/>
                <a:ea typeface="Liter"/>
              </a:rPr>
              <a:t>智能体与 AI 最新发展 · AI 内训第三期</a:t>
            </a:r>
            <a:endParaRPr lang="en-US" sz="1100"/>
          </a:p>
        </p:txBody>
      </p:sp>
      <p:sp>
        <p:nvSpPr>
          <p:cNvPr id="3" name="ch-num"/>
          <p:cNvSpPr txBox="1"/>
          <p:nvPr/>
        </p:nvSpPr>
        <p:spPr>
          <a:xfrm>
            <a:off x="1016000" y="1625600"/>
            <a:ext cx="30480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6400" b="1">
                <a:solidFill>
                  <a:srgbClr val="C26A2E"/>
                </a:solidFill>
                <a:latin typeface="Liter"/>
                <a:ea typeface="Liter"/>
              </a:rPr>
              <a:t>04</a:t>
            </a:r>
            <a:endParaRPr lang="en-US" sz="6400"/>
          </a:p>
        </p:txBody>
      </p:sp>
      <p:sp>
        <p:nvSpPr>
          <p:cNvPr id="4" name="ch-title"/>
          <p:cNvSpPr txBox="1"/>
          <p:nvPr/>
        </p:nvSpPr>
        <p:spPr>
          <a:xfrm>
            <a:off x="1016000" y="2870200"/>
            <a:ext cx="9144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3400" b="1">
                <a:solidFill>
                  <a:srgbClr val="F7F5F0"/>
                </a:solidFill>
                <a:latin typeface="Liter"/>
                <a:ea typeface="Liter"/>
              </a:rPr>
              <a:t>把智能体装进每个岗位</a:t>
            </a:r>
            <a:endParaRPr lang="en-US" sz="3400"/>
          </a:p>
        </p:txBody>
      </p:sp>
      <p:sp>
        <p:nvSpPr>
          <p:cNvPr id="5" name="ch-rule"/>
          <p:cNvSpPr/>
          <p:nvPr/>
        </p:nvSpPr>
        <p:spPr>
          <a:xfrm>
            <a:off x="1016000" y="3708400"/>
            <a:ext cx="812800" cy="38100"/>
          </a:xfrm>
          <a:prstGeom prst="rect">
            <a:avLst/>
          </a:prstGeom>
          <a:solidFill>
            <a:srgbClr val="C26A2E"/>
          </a:solidFill>
          <a:ln>
            <a:noFill/>
          </a:ln>
        </p:spPr>
      </p:sp>
      <p:sp>
        <p:nvSpPr>
          <p:cNvPr id="6" name="ch-q"/>
          <p:cNvSpPr txBox="1"/>
          <p:nvPr/>
        </p:nvSpPr>
        <p:spPr>
          <a:xfrm>
            <a:off x="1016000" y="4013200"/>
            <a:ext cx="9144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500">
                <a:solidFill>
                  <a:srgbClr val="F7F5F0"/>
                </a:solidFill>
                <a:latin typeface="MiSans"/>
                <a:ea typeface="MiSans"/>
              </a:rPr>
              <a:t>章节学习问题:你的岗位里,哪 20% 的重复工作可以派出去?</a:t>
            </a:r>
            <a:endParaRPr lang="en-US" sz="1500"/>
          </a:p>
        </p:txBody>
      </p:sp>
      <p:sp>
        <p:nvSpPr>
          <p:cNvPr id="7" name="kw-1"/>
          <p:cNvSpPr/>
          <p:nvPr/>
        </p:nvSpPr>
        <p:spPr>
          <a:xfrm>
            <a:off x="1016000" y="4876800"/>
            <a:ext cx="1676400" cy="431800"/>
          </a:xfrm>
          <a:prstGeom prst="rect">
            <a:avLst/>
          </a:prstGeom>
          <a:noFill/>
          <a:ln w="12700">
            <a:solidFill>
              <a:srgbClr val="F7F5F0">
                <a:alpha val="40000"/>
              </a:srgbClr>
            </a:solidFill>
          </a:ln>
        </p:spPr>
      </p:sp>
      <p:sp>
        <p:nvSpPr>
          <p:cNvPr id="8" name="kw-1-t"/>
          <p:cNvSpPr txBox="1"/>
          <p:nvPr/>
        </p:nvSpPr>
        <p:spPr>
          <a:xfrm>
            <a:off x="1016000" y="4876800"/>
            <a:ext cx="16764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200">
                <a:solidFill>
                  <a:srgbClr val="F7F5F0"/>
                </a:solidFill>
                <a:latin typeface="MiSans"/>
                <a:ea typeface="MiSans"/>
              </a:rPr>
              <a:t>岗位拆解</a:t>
            </a:r>
            <a:endParaRPr lang="en-US" sz="1200"/>
          </a:p>
        </p:txBody>
      </p:sp>
      <p:sp>
        <p:nvSpPr>
          <p:cNvPr id="9" name="kw-2"/>
          <p:cNvSpPr/>
          <p:nvPr/>
        </p:nvSpPr>
        <p:spPr>
          <a:xfrm>
            <a:off x="2895600" y="4876800"/>
            <a:ext cx="1676400" cy="431800"/>
          </a:xfrm>
          <a:prstGeom prst="rect">
            <a:avLst/>
          </a:prstGeom>
          <a:noFill/>
          <a:ln w="12700">
            <a:solidFill>
              <a:srgbClr val="F7F5F0">
                <a:alpha val="40000"/>
              </a:srgbClr>
            </a:solidFill>
          </a:ln>
        </p:spPr>
      </p:sp>
      <p:sp>
        <p:nvSpPr>
          <p:cNvPr id="10" name="kw-2-t"/>
          <p:cNvSpPr txBox="1"/>
          <p:nvPr/>
        </p:nvSpPr>
        <p:spPr>
          <a:xfrm>
            <a:off x="2895600" y="4876800"/>
            <a:ext cx="16764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200">
                <a:solidFill>
                  <a:srgbClr val="F7F5F0"/>
                </a:solidFill>
                <a:latin typeface="MiSans"/>
                <a:ea typeface="MiSans"/>
              </a:rPr>
              <a:t>上手动作</a:t>
            </a:r>
            <a:endParaRPr lang="en-US" sz="1200"/>
          </a:p>
        </p:txBody>
      </p:sp>
      <p:sp>
        <p:nvSpPr>
          <p:cNvPr id="11" name="kw-3"/>
          <p:cNvSpPr/>
          <p:nvPr/>
        </p:nvSpPr>
        <p:spPr>
          <a:xfrm>
            <a:off x="4775200" y="4876800"/>
            <a:ext cx="1676400" cy="431800"/>
          </a:xfrm>
          <a:prstGeom prst="rect">
            <a:avLst/>
          </a:prstGeom>
          <a:noFill/>
          <a:ln w="12700">
            <a:solidFill>
              <a:srgbClr val="F7F5F0">
                <a:alpha val="40000"/>
              </a:srgbClr>
            </a:solidFill>
          </a:ln>
        </p:spPr>
      </p:sp>
      <p:sp>
        <p:nvSpPr>
          <p:cNvPr id="12" name="kw-3-t"/>
          <p:cNvSpPr txBox="1"/>
          <p:nvPr/>
        </p:nvSpPr>
        <p:spPr>
          <a:xfrm>
            <a:off x="4775200" y="4876800"/>
            <a:ext cx="16764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200">
                <a:solidFill>
                  <a:srgbClr val="F7F5F0"/>
                </a:solidFill>
                <a:latin typeface="MiSans"/>
                <a:ea typeface="MiSans"/>
              </a:rPr>
              <a:t>本周就试</a:t>
            </a:r>
            <a:endParaRPr lang="en-US" sz="1200"/>
          </a:p>
        </p:txBody>
      </p:sp>
      <p:sp>
        <p:nvSpPr>
          <p:cNvPr id="13" name="footer-page"/>
          <p:cNvSpPr txBox="1"/>
          <p:nvPr/>
        </p:nvSpPr>
        <p:spPr>
          <a:xfrm>
            <a:off x="10464800" y="64262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r">
              <a:lnSpc>
                <a:spcPct val="140000"/>
              </a:lnSpc>
            </a:pPr>
            <a:r>
              <a:rPr lang="en-US" sz="1000">
                <a:solidFill>
                  <a:srgbClr val="F7F5F0">
                    <a:alpha val="60000"/>
                  </a:srgbClr>
                </a:solidFill>
                <a:latin typeface="Liter"/>
                <a:ea typeface="Liter"/>
              </a:rPr>
              <a:t>20 / 35</a:t>
            </a:r>
            <a:endParaRPr lang="en-US" sz="1000"/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826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100" b="1" spc="200" kern="0">
                <a:solidFill>
                  <a:srgbClr val="C26A2E"/>
                </a:solidFill>
                <a:latin typeface="Liter"/>
                <a:ea typeface="Liter"/>
              </a:rPr>
              <a:t>第四章 · 把智能体装进每个岗位</a:t>
            </a:r>
            <a:endParaRPr lang="en-US" sz="1100"/>
          </a:p>
        </p:txBody>
      </p:sp>
      <p:sp>
        <p:nvSpPr>
          <p:cNvPr id="3" name="title"/>
          <p:cNvSpPr txBox="1"/>
          <p:nvPr/>
        </p:nvSpPr>
        <p:spPr>
          <a:xfrm>
            <a:off x="711200" y="7874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22211E"/>
                </a:solidFill>
                <a:latin typeface="Liter"/>
                <a:ea typeface="Liter"/>
              </a:rPr>
              <a:t>研发岗:Coding Agent 是你的新同事</a:t>
            </a:r>
            <a:endParaRPr lang="en-US" sz="2600"/>
          </a:p>
        </p:txBody>
      </p:sp>
      <p:sp>
        <p:nvSpPr>
          <p:cNvPr id="4" name="flow-h"/>
          <p:cNvSpPr txBox="1"/>
          <p:nvPr/>
        </p:nvSpPr>
        <p:spPr>
          <a:xfrm>
            <a:off x="711200" y="1600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E4D3B"/>
                </a:solidFill>
                <a:latin typeface="Liter"/>
                <a:ea typeface="Liter"/>
              </a:rPr>
              <a:t>新同事的工作流:你派活,它动手,你评审</a:t>
            </a:r>
            <a:endParaRPr lang="en-US" sz="1500"/>
          </a:p>
        </p:txBody>
      </p:sp>
      <p:sp>
        <p:nvSpPr>
          <p:cNvPr id="5" name="flow-1"/>
          <p:cNvSpPr/>
          <p:nvPr/>
        </p:nvSpPr>
        <p:spPr>
          <a:xfrm>
            <a:off x="711200" y="1930400"/>
            <a:ext cx="2387600" cy="78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4D3B"/>
            </a:solidFill>
          </a:ln>
        </p:spPr>
      </p:sp>
      <p:sp>
        <p:nvSpPr>
          <p:cNvPr id="6" name="flow-1-t"/>
          <p:cNvSpPr txBox="1"/>
          <p:nvPr/>
        </p:nvSpPr>
        <p:spPr>
          <a:xfrm>
            <a:off x="863600" y="2032000"/>
            <a:ext cx="2082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200" b="1">
                <a:solidFill>
                  <a:srgbClr val="1E4D3B"/>
                </a:solidFill>
                <a:latin typeface="MiSans"/>
                <a:ea typeface="MiSans"/>
              </a:rPr>
              <a:t>① 需求拆解</a:t>
            </a:r>
            <a:endParaRPr lang="en-US" sz="1200"/>
          </a:p>
        </p:txBody>
      </p:sp>
      <p:sp>
        <p:nvSpPr>
          <p:cNvPr id="7" name="flow-1-d"/>
          <p:cNvSpPr txBox="1"/>
          <p:nvPr/>
        </p:nvSpPr>
        <p:spPr>
          <a:xfrm>
            <a:off x="863600" y="2286000"/>
            <a:ext cx="20828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0000"/>
              </a:lnSpc>
            </a:pPr>
            <a:r>
              <a:rPr lang="en-US" sz="1000">
                <a:solidFill>
                  <a:srgbClr val="6B675F"/>
                </a:solidFill>
                <a:latin typeface="MiSans"/>
                <a:ea typeface="MiSans"/>
              </a:rPr>
              <a:t>把要做什么说清楚</a:t>
            </a:r>
            <a:endParaRPr lang="en-US" sz="1000"/>
          </a:p>
        </p:txBody>
      </p:sp>
      <p:sp>
        <p:nvSpPr>
          <p:cNvPr id="8" name="flow-arr-1"/>
          <p:cNvSpPr/>
          <p:nvPr>
            <p:extLst>
              <p:ext uri="{F5677B7D-0D2A-4D9B-9A5C-6D8D7D0E5A5D}">
                <pptd:line encoding="base64url">eyJjdXJ2ZSI6InNoYXJwIiwicG9pbnRzIjoiMCwxIDI0LDEiLCJ2aWV3Qm94IjpbMjQsMl19</pptd:line>
              </p:ext>
            </p:extLst>
          </p:nvPr>
        </p:nvSpPr>
        <p:spPr>
          <a:xfrm>
            <a:off x="3149600" y="2311400"/>
            <a:ext cx="304800" cy="25400"/>
          </a:xfrm>
          <a:custGeom>
            <a:avLst/>
            <a:gdLst/>
            <a:ahLst/>
            <a:cxnLst/>
            <a:rect l="l" t="t" r="r" b="b"/>
            <a:pathLst>
              <a:path w="24" h="2">
                <a:moveTo>
                  <a:pt x="0" y="1"/>
                </a:moveTo>
                <a:lnTo>
                  <a:pt x="24" y="1"/>
                </a:lnTo>
              </a:path>
            </a:pathLst>
          </a:custGeom>
          <a:noFill/>
          <a:ln w="25400">
            <a:solidFill>
              <a:srgbClr val="1E4D3B"/>
            </a:solidFill>
            <a:tailEnd type="arrow"/>
          </a:ln>
        </p:spPr>
      </p:sp>
      <p:sp>
        <p:nvSpPr>
          <p:cNvPr id="9" name="flow-2"/>
          <p:cNvSpPr/>
          <p:nvPr/>
        </p:nvSpPr>
        <p:spPr>
          <a:xfrm>
            <a:off x="3505200" y="1930400"/>
            <a:ext cx="2387600" cy="78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4D3B"/>
            </a:solidFill>
          </a:ln>
        </p:spPr>
      </p:sp>
      <p:sp>
        <p:nvSpPr>
          <p:cNvPr id="10" name="flow-2-t"/>
          <p:cNvSpPr txBox="1"/>
          <p:nvPr/>
        </p:nvSpPr>
        <p:spPr>
          <a:xfrm>
            <a:off x="3657600" y="2032000"/>
            <a:ext cx="2082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200" b="1">
                <a:solidFill>
                  <a:srgbClr val="1E4D3B"/>
                </a:solidFill>
                <a:latin typeface="MiSans"/>
                <a:ea typeface="MiSans"/>
              </a:rPr>
              <a:t>② 代码生成</a:t>
            </a:r>
            <a:endParaRPr lang="en-US" sz="1200"/>
          </a:p>
        </p:txBody>
      </p:sp>
      <p:sp>
        <p:nvSpPr>
          <p:cNvPr id="11" name="flow-2-d"/>
          <p:cNvSpPr txBox="1"/>
          <p:nvPr/>
        </p:nvSpPr>
        <p:spPr>
          <a:xfrm>
            <a:off x="3657600" y="2286000"/>
            <a:ext cx="20828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0000"/>
              </a:lnSpc>
            </a:pPr>
            <a:r>
              <a:rPr lang="en-US" sz="1000">
                <a:solidFill>
                  <a:srgbClr val="6B675F"/>
                </a:solidFill>
                <a:latin typeface="MiSans"/>
                <a:ea typeface="MiSans"/>
              </a:rPr>
              <a:t>Agent 写出初稿</a:t>
            </a:r>
            <a:endParaRPr lang="en-US" sz="1000"/>
          </a:p>
        </p:txBody>
      </p:sp>
      <p:sp>
        <p:nvSpPr>
          <p:cNvPr id="12" name="flow-arr-2"/>
          <p:cNvSpPr/>
          <p:nvPr>
            <p:extLst>
              <p:ext uri="{F5677B7D-0D2A-4D9B-9A5C-6D8D7D0E5A5D}">
                <pptd:line encoding="base64url">eyJjdXJ2ZSI6InNoYXJwIiwicG9pbnRzIjoiMCwxIDI0LDEiLCJ2aWV3Qm94IjpbMjQsMl19</pptd:line>
              </p:ext>
            </p:extLst>
          </p:nvPr>
        </p:nvSpPr>
        <p:spPr>
          <a:xfrm>
            <a:off x="5943600" y="2311400"/>
            <a:ext cx="304800" cy="25400"/>
          </a:xfrm>
          <a:custGeom>
            <a:avLst/>
            <a:gdLst/>
            <a:ahLst/>
            <a:cxnLst/>
            <a:rect l="l" t="t" r="r" b="b"/>
            <a:pathLst>
              <a:path w="24" h="2">
                <a:moveTo>
                  <a:pt x="0" y="1"/>
                </a:moveTo>
                <a:lnTo>
                  <a:pt x="24" y="1"/>
                </a:lnTo>
              </a:path>
            </a:pathLst>
          </a:custGeom>
          <a:noFill/>
          <a:ln w="25400">
            <a:solidFill>
              <a:srgbClr val="1E4D3B"/>
            </a:solidFill>
            <a:tailEnd type="arrow"/>
          </a:ln>
        </p:spPr>
      </p:sp>
      <p:sp>
        <p:nvSpPr>
          <p:cNvPr id="13" name="flow-3"/>
          <p:cNvSpPr/>
          <p:nvPr/>
        </p:nvSpPr>
        <p:spPr>
          <a:xfrm>
            <a:off x="6299200" y="1930400"/>
            <a:ext cx="2387600" cy="78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4D3B"/>
            </a:solidFill>
          </a:ln>
        </p:spPr>
      </p:sp>
      <p:sp>
        <p:nvSpPr>
          <p:cNvPr id="14" name="flow-3-t"/>
          <p:cNvSpPr txBox="1"/>
          <p:nvPr/>
        </p:nvSpPr>
        <p:spPr>
          <a:xfrm>
            <a:off x="6451600" y="2032000"/>
            <a:ext cx="2082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200" b="1">
                <a:solidFill>
                  <a:srgbClr val="1E4D3B"/>
                </a:solidFill>
                <a:latin typeface="MiSans"/>
                <a:ea typeface="MiSans"/>
              </a:rPr>
              <a:t>③ 自测</a:t>
            </a:r>
            <a:endParaRPr lang="en-US" sz="1200"/>
          </a:p>
        </p:txBody>
      </p:sp>
      <p:sp>
        <p:nvSpPr>
          <p:cNvPr id="15" name="flow-3-d"/>
          <p:cNvSpPr txBox="1"/>
          <p:nvPr/>
        </p:nvSpPr>
        <p:spPr>
          <a:xfrm>
            <a:off x="6451600" y="2286000"/>
            <a:ext cx="20828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0000"/>
              </a:lnSpc>
            </a:pPr>
            <a:r>
              <a:rPr lang="en-US" sz="1000">
                <a:solidFill>
                  <a:srgbClr val="6B675F"/>
                </a:solidFill>
                <a:latin typeface="MiSans"/>
                <a:ea typeface="MiSans"/>
              </a:rPr>
              <a:t>跑测试,自动验证</a:t>
            </a:r>
            <a:endParaRPr lang="en-US" sz="1000"/>
          </a:p>
        </p:txBody>
      </p:sp>
      <p:sp>
        <p:nvSpPr>
          <p:cNvPr id="16" name="flow-arr-3"/>
          <p:cNvSpPr/>
          <p:nvPr>
            <p:extLst>
              <p:ext uri="{F5677B7D-0D2A-4D9B-9A5C-6D8D7D0E5A5D}">
                <pptd:line encoding="base64url">eyJjdXJ2ZSI6InNoYXJwIiwicG9pbnRzIjoiMCwxIDI0LDEiLCJ2aWV3Qm94IjpbMjQsMl19</pptd:line>
              </p:ext>
            </p:extLst>
          </p:nvPr>
        </p:nvSpPr>
        <p:spPr>
          <a:xfrm>
            <a:off x="8737600" y="2311400"/>
            <a:ext cx="304800" cy="25400"/>
          </a:xfrm>
          <a:custGeom>
            <a:avLst/>
            <a:gdLst/>
            <a:ahLst/>
            <a:cxnLst/>
            <a:rect l="l" t="t" r="r" b="b"/>
            <a:pathLst>
              <a:path w="24" h="2">
                <a:moveTo>
                  <a:pt x="0" y="1"/>
                </a:moveTo>
                <a:lnTo>
                  <a:pt x="24" y="1"/>
                </a:lnTo>
              </a:path>
            </a:pathLst>
          </a:custGeom>
          <a:noFill/>
          <a:ln w="25400">
            <a:solidFill>
              <a:srgbClr val="1E4D3B"/>
            </a:solidFill>
            <a:tailEnd type="arrow"/>
          </a:ln>
        </p:spPr>
      </p:sp>
      <p:sp>
        <p:nvSpPr>
          <p:cNvPr id="17" name="flow-4"/>
          <p:cNvSpPr/>
          <p:nvPr/>
        </p:nvSpPr>
        <p:spPr>
          <a:xfrm>
            <a:off x="9093200" y="1930400"/>
            <a:ext cx="2387600" cy="787400"/>
          </a:xfrm>
          <a:prstGeom prst="rect">
            <a:avLst/>
          </a:prstGeom>
          <a:solidFill>
            <a:srgbClr val="F7EBDC"/>
          </a:solidFill>
          <a:ln w="12700">
            <a:solidFill>
              <a:srgbClr val="C26A2E"/>
            </a:solidFill>
          </a:ln>
        </p:spPr>
      </p:sp>
      <p:sp>
        <p:nvSpPr>
          <p:cNvPr id="18" name="flow-4-t"/>
          <p:cNvSpPr txBox="1"/>
          <p:nvPr/>
        </p:nvSpPr>
        <p:spPr>
          <a:xfrm>
            <a:off x="9245600" y="2032000"/>
            <a:ext cx="2082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200" b="1">
                <a:solidFill>
                  <a:srgbClr val="C26A2E"/>
                </a:solidFill>
                <a:latin typeface="MiSans"/>
                <a:ea typeface="MiSans"/>
              </a:rPr>
              <a:t>④ 评审(人)</a:t>
            </a:r>
            <a:endParaRPr lang="en-US" sz="1200"/>
          </a:p>
        </p:txBody>
      </p:sp>
      <p:sp>
        <p:nvSpPr>
          <p:cNvPr id="19" name="flow-4-d"/>
          <p:cNvSpPr txBox="1"/>
          <p:nvPr/>
        </p:nvSpPr>
        <p:spPr>
          <a:xfrm>
            <a:off x="9245600" y="2286000"/>
            <a:ext cx="20828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0000"/>
              </a:lnSpc>
            </a:pPr>
            <a:r>
              <a:rPr lang="en-US" sz="1000">
                <a:solidFill>
                  <a:srgbClr val="6B675F"/>
                </a:solidFill>
                <a:latin typeface="MiSans"/>
                <a:ea typeface="MiSans"/>
              </a:rPr>
              <a:t>Review 后才合并</a:t>
            </a:r>
            <a:endParaRPr lang="en-US" sz="1000"/>
          </a:p>
        </p:txBody>
      </p:sp>
      <p:sp>
        <p:nvSpPr>
          <p:cNvPr id="20" name="scene-h"/>
          <p:cNvSpPr txBox="1"/>
          <p:nvPr/>
        </p:nvSpPr>
        <p:spPr>
          <a:xfrm>
            <a:off x="711200" y="30226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E4D3B"/>
                </a:solidFill>
                <a:latin typeface="Liter"/>
                <a:ea typeface="Liter"/>
              </a:rPr>
              <a:t>先在这三类场景用它</a:t>
            </a:r>
            <a:endParaRPr lang="en-US" sz="1500"/>
          </a:p>
        </p:txBody>
      </p:sp>
      <p:sp>
        <p:nvSpPr>
          <p:cNvPr id="21" name="scene-1"/>
          <p:cNvSpPr/>
          <p:nvPr/>
        </p:nvSpPr>
        <p:spPr>
          <a:xfrm>
            <a:off x="711200" y="3352800"/>
            <a:ext cx="3454400" cy="787400"/>
          </a:xfrm>
          <a:prstGeom prst="rect">
            <a:avLst/>
          </a:prstGeom>
          <a:solidFill>
            <a:srgbClr val="EAF1EC"/>
          </a:solidFill>
          <a:ln>
            <a:noFill/>
          </a:ln>
        </p:spPr>
      </p:sp>
      <p:sp>
        <p:nvSpPr>
          <p:cNvPr id="22" name="scene-1-icon"/>
          <p:cNvSpPr/>
          <p:nvPr>
            <p:extLst>
              <p:ext uri="{F5677B7D-0D2A-4D9B-9A5C-6D8D7D0E5A5D}">
                <pptd:icon encoding="base64url">eyJpY29uTmFtZSI6ImZhczptaWNyb2NoaXAifQ</pptd:icon>
              </p:ext>
            </p:extLst>
          </p:nvPr>
        </p:nvSpPr>
        <p:spPr>
          <a:xfrm>
            <a:off x="914400" y="36068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76" y="24"/>
                </a:moveTo>
                <a:cubicBezTo>
                  <a:pt x="176" y="11"/>
                  <a:pt x="165" y="0"/>
                  <a:pt x="152" y="0"/>
                </a:cubicBezTo>
                <a:cubicBezTo>
                  <a:pt x="139" y="0"/>
                  <a:pt x="128" y="11"/>
                  <a:pt x="128" y="24"/>
                </a:cubicBezTo>
                <a:lnTo>
                  <a:pt x="128" y="64"/>
                </a:lnTo>
                <a:cubicBezTo>
                  <a:pt x="93" y="64"/>
                  <a:pt x="64" y="93"/>
                  <a:pt x="64" y="128"/>
                </a:cubicBezTo>
                <a:lnTo>
                  <a:pt x="24" y="128"/>
                </a:lnTo>
                <a:cubicBezTo>
                  <a:pt x="11" y="128"/>
                  <a:pt x="0" y="139"/>
                  <a:pt x="0" y="152"/>
                </a:cubicBezTo>
                <a:cubicBezTo>
                  <a:pt x="0" y="165"/>
                  <a:pt x="11" y="176"/>
                  <a:pt x="24" y="176"/>
                </a:cubicBezTo>
                <a:lnTo>
                  <a:pt x="64" y="176"/>
                </a:lnTo>
                <a:lnTo>
                  <a:pt x="64" y="232"/>
                </a:lnTo>
                <a:lnTo>
                  <a:pt x="24" y="232"/>
                </a:lnTo>
                <a:cubicBezTo>
                  <a:pt x="11" y="232"/>
                  <a:pt x="0" y="243"/>
                  <a:pt x="0" y="256"/>
                </a:cubicBezTo>
                <a:cubicBezTo>
                  <a:pt x="0" y="269"/>
                  <a:pt x="11" y="280"/>
                  <a:pt x="24" y="280"/>
                </a:cubicBezTo>
                <a:lnTo>
                  <a:pt x="64" y="280"/>
                </a:lnTo>
                <a:lnTo>
                  <a:pt x="64" y="336"/>
                </a:lnTo>
                <a:lnTo>
                  <a:pt x="24" y="336"/>
                </a:lnTo>
                <a:cubicBezTo>
                  <a:pt x="11" y="336"/>
                  <a:pt x="0" y="347"/>
                  <a:pt x="0" y="360"/>
                </a:cubicBezTo>
                <a:cubicBezTo>
                  <a:pt x="0" y="373"/>
                  <a:pt x="11" y="384"/>
                  <a:pt x="24" y="384"/>
                </a:cubicBezTo>
                <a:lnTo>
                  <a:pt x="64" y="384"/>
                </a:lnTo>
                <a:cubicBezTo>
                  <a:pt x="64" y="419"/>
                  <a:pt x="93" y="448"/>
                  <a:pt x="128" y="448"/>
                </a:cubicBezTo>
                <a:lnTo>
                  <a:pt x="128" y="488"/>
                </a:lnTo>
                <a:cubicBezTo>
                  <a:pt x="128" y="501"/>
                  <a:pt x="139" y="512"/>
                  <a:pt x="152" y="512"/>
                </a:cubicBezTo>
                <a:cubicBezTo>
                  <a:pt x="165" y="512"/>
                  <a:pt x="176" y="501"/>
                  <a:pt x="176" y="488"/>
                </a:cubicBezTo>
                <a:lnTo>
                  <a:pt x="176" y="448"/>
                </a:lnTo>
                <a:lnTo>
                  <a:pt x="232" y="448"/>
                </a:lnTo>
                <a:lnTo>
                  <a:pt x="232" y="488"/>
                </a:lnTo>
                <a:cubicBezTo>
                  <a:pt x="232" y="501"/>
                  <a:pt x="243" y="512"/>
                  <a:pt x="256" y="512"/>
                </a:cubicBezTo>
                <a:cubicBezTo>
                  <a:pt x="269" y="512"/>
                  <a:pt x="280" y="501"/>
                  <a:pt x="280" y="488"/>
                </a:cubicBezTo>
                <a:lnTo>
                  <a:pt x="280" y="448"/>
                </a:lnTo>
                <a:lnTo>
                  <a:pt x="336" y="448"/>
                </a:lnTo>
                <a:lnTo>
                  <a:pt x="336" y="488"/>
                </a:lnTo>
                <a:cubicBezTo>
                  <a:pt x="336" y="501"/>
                  <a:pt x="347" y="512"/>
                  <a:pt x="360" y="512"/>
                </a:cubicBezTo>
                <a:cubicBezTo>
                  <a:pt x="373" y="512"/>
                  <a:pt x="384" y="501"/>
                  <a:pt x="384" y="488"/>
                </a:cubicBezTo>
                <a:lnTo>
                  <a:pt x="384" y="448"/>
                </a:lnTo>
                <a:cubicBezTo>
                  <a:pt x="419" y="448"/>
                  <a:pt x="448" y="419"/>
                  <a:pt x="448" y="384"/>
                </a:cubicBezTo>
                <a:lnTo>
                  <a:pt x="488" y="384"/>
                </a:lnTo>
                <a:cubicBezTo>
                  <a:pt x="501" y="384"/>
                  <a:pt x="512" y="373"/>
                  <a:pt x="512" y="360"/>
                </a:cubicBezTo>
                <a:cubicBezTo>
                  <a:pt x="512" y="347"/>
                  <a:pt x="501" y="336"/>
                  <a:pt x="488" y="336"/>
                </a:cubicBezTo>
                <a:lnTo>
                  <a:pt x="448" y="336"/>
                </a:lnTo>
                <a:lnTo>
                  <a:pt x="448" y="280"/>
                </a:lnTo>
                <a:lnTo>
                  <a:pt x="488" y="280"/>
                </a:lnTo>
                <a:cubicBezTo>
                  <a:pt x="501" y="280"/>
                  <a:pt x="512" y="269"/>
                  <a:pt x="512" y="256"/>
                </a:cubicBezTo>
                <a:cubicBezTo>
                  <a:pt x="512" y="243"/>
                  <a:pt x="501" y="232"/>
                  <a:pt x="488" y="232"/>
                </a:cubicBezTo>
                <a:lnTo>
                  <a:pt x="448" y="232"/>
                </a:lnTo>
                <a:lnTo>
                  <a:pt x="448" y="176"/>
                </a:lnTo>
                <a:lnTo>
                  <a:pt x="488" y="176"/>
                </a:lnTo>
                <a:cubicBezTo>
                  <a:pt x="501" y="176"/>
                  <a:pt x="512" y="165"/>
                  <a:pt x="512" y="152"/>
                </a:cubicBezTo>
                <a:cubicBezTo>
                  <a:pt x="512" y="139"/>
                  <a:pt x="501" y="128"/>
                  <a:pt x="488" y="128"/>
                </a:cubicBezTo>
                <a:lnTo>
                  <a:pt x="448" y="128"/>
                </a:lnTo>
                <a:cubicBezTo>
                  <a:pt x="448" y="93"/>
                  <a:pt x="419" y="64"/>
                  <a:pt x="384" y="64"/>
                </a:cubicBezTo>
                <a:lnTo>
                  <a:pt x="384" y="24"/>
                </a:lnTo>
                <a:cubicBezTo>
                  <a:pt x="384" y="11"/>
                  <a:pt x="373" y="0"/>
                  <a:pt x="360" y="0"/>
                </a:cubicBezTo>
                <a:cubicBezTo>
                  <a:pt x="347" y="0"/>
                  <a:pt x="336" y="11"/>
                  <a:pt x="336" y="24"/>
                </a:cubicBezTo>
                <a:lnTo>
                  <a:pt x="336" y="64"/>
                </a:lnTo>
                <a:lnTo>
                  <a:pt x="280" y="64"/>
                </a:lnTo>
                <a:lnTo>
                  <a:pt x="280" y="24"/>
                </a:lnTo>
                <a:cubicBezTo>
                  <a:pt x="280" y="11"/>
                  <a:pt x="269" y="0"/>
                  <a:pt x="256" y="0"/>
                </a:cubicBezTo>
                <a:cubicBezTo>
                  <a:pt x="243" y="0"/>
                  <a:pt x="232" y="11"/>
                  <a:pt x="232" y="24"/>
                </a:cubicBezTo>
                <a:lnTo>
                  <a:pt x="232" y="64"/>
                </a:lnTo>
                <a:lnTo>
                  <a:pt x="176" y="64"/>
                </a:lnTo>
                <a:lnTo>
                  <a:pt x="176" y="24"/>
                </a:lnTo>
                <a:close/>
                <a:moveTo>
                  <a:pt x="160" y="128"/>
                </a:moveTo>
                <a:lnTo>
                  <a:pt x="352" y="128"/>
                </a:lnTo>
                <a:cubicBezTo>
                  <a:pt x="370" y="128"/>
                  <a:pt x="384" y="142"/>
                  <a:pt x="384" y="160"/>
                </a:cubicBezTo>
                <a:lnTo>
                  <a:pt x="384" y="352"/>
                </a:lnTo>
                <a:cubicBezTo>
                  <a:pt x="384" y="370"/>
                  <a:pt x="370" y="384"/>
                  <a:pt x="352" y="384"/>
                </a:cubicBezTo>
                <a:lnTo>
                  <a:pt x="160" y="384"/>
                </a:lnTo>
                <a:cubicBezTo>
                  <a:pt x="142" y="384"/>
                  <a:pt x="128" y="370"/>
                  <a:pt x="128" y="352"/>
                </a:cubicBezTo>
                <a:lnTo>
                  <a:pt x="128" y="160"/>
                </a:lnTo>
                <a:cubicBezTo>
                  <a:pt x="128" y="142"/>
                  <a:pt x="142" y="128"/>
                  <a:pt x="160" y="128"/>
                </a:cubicBezTo>
                <a:close/>
                <a:moveTo>
                  <a:pt x="176" y="176"/>
                </a:moveTo>
                <a:lnTo>
                  <a:pt x="176" y="336"/>
                </a:lnTo>
                <a:lnTo>
                  <a:pt x="336" y="336"/>
                </a:lnTo>
                <a:lnTo>
                  <a:pt x="336" y="176"/>
                </a:lnTo>
                <a:lnTo>
                  <a:pt x="176" y="176"/>
                </a:lnTo>
                <a:close/>
              </a:path>
            </a:pathLst>
          </a:custGeom>
          <a:solidFill>
            <a:srgbClr val="1E4D3B"/>
          </a:solidFill>
          <a:ln>
            <a:noFill/>
          </a:ln>
        </p:spPr>
      </p:sp>
      <p:sp>
        <p:nvSpPr>
          <p:cNvPr id="23" name="scene-1-t"/>
          <p:cNvSpPr txBox="1"/>
          <p:nvPr/>
        </p:nvSpPr>
        <p:spPr>
          <a:xfrm>
            <a:off x="1295400" y="3454400"/>
            <a:ext cx="2692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300" b="1">
                <a:solidFill>
                  <a:srgbClr val="22211E"/>
                </a:solidFill>
                <a:latin typeface="MiSans"/>
                <a:ea typeface="MiSans"/>
              </a:rPr>
              <a:t>嵌入式固件脚本</a:t>
            </a:r>
            <a:endParaRPr lang="en-US" sz="1300"/>
          </a:p>
        </p:txBody>
      </p:sp>
      <p:sp>
        <p:nvSpPr>
          <p:cNvPr id="24" name="scene-1-d"/>
          <p:cNvSpPr txBox="1"/>
          <p:nvPr/>
        </p:nvSpPr>
        <p:spPr>
          <a:xfrm>
            <a:off x="1295400" y="3733800"/>
            <a:ext cx="26924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000">
                <a:solidFill>
                  <a:srgbClr val="6B675F"/>
                </a:solidFill>
                <a:latin typeface="MiSans"/>
                <a:ea typeface="MiSans"/>
              </a:rPr>
              <a:t>驱动、采集与预处理逻辑</a:t>
            </a:r>
            <a:endParaRPr lang="en-US" sz="1000"/>
          </a:p>
        </p:txBody>
      </p:sp>
      <p:sp>
        <p:nvSpPr>
          <p:cNvPr id="25" name="scene-2"/>
          <p:cNvSpPr/>
          <p:nvPr/>
        </p:nvSpPr>
        <p:spPr>
          <a:xfrm>
            <a:off x="4368800" y="3352800"/>
            <a:ext cx="3454400" cy="787400"/>
          </a:xfrm>
          <a:prstGeom prst="rect">
            <a:avLst/>
          </a:prstGeom>
          <a:solidFill>
            <a:srgbClr val="EAF1EC"/>
          </a:solidFill>
          <a:ln>
            <a:noFill/>
          </a:ln>
        </p:spPr>
      </p:sp>
      <p:sp>
        <p:nvSpPr>
          <p:cNvPr id="26" name="scene-2-icon"/>
          <p:cNvSpPr/>
          <p:nvPr>
            <p:extLst>
              <p:ext uri="{F5677B7D-0D2A-4D9B-9A5C-6D8D7D0E5A5D}">
                <pptd:icon encoding="base64url">eyJpY29uTmFtZSI6ImZhczpzZXJ2ZXIifQ</pptd:icon>
              </p:ext>
            </p:extLst>
          </p:nvPr>
        </p:nvSpPr>
        <p:spPr>
          <a:xfrm>
            <a:off x="4572000" y="36068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160"/>
                </a:lnTo>
                <a:cubicBezTo>
                  <a:pt x="0" y="195"/>
                  <a:pt x="29" y="224"/>
                  <a:pt x="64" y="224"/>
                </a:cubicBezTo>
                <a:lnTo>
                  <a:pt x="384" y="224"/>
                </a:lnTo>
                <a:cubicBezTo>
                  <a:pt x="419" y="224"/>
                  <a:pt x="448" y="195"/>
                  <a:pt x="448" y="160"/>
                </a:cubicBezTo>
                <a:lnTo>
                  <a:pt x="448" y="96"/>
                </a:lnTo>
                <a:cubicBezTo>
                  <a:pt x="448" y="61"/>
                  <a:pt x="419" y="32"/>
                  <a:pt x="384" y="32"/>
                </a:cubicBezTo>
                <a:lnTo>
                  <a:pt x="64" y="32"/>
                </a:lnTo>
                <a:close/>
                <a:moveTo>
                  <a:pt x="280" y="104"/>
                </a:moveTo>
                <a:cubicBezTo>
                  <a:pt x="293" y="104"/>
                  <a:pt x="304" y="115"/>
                  <a:pt x="304" y="128"/>
                </a:cubicBezTo>
                <a:cubicBezTo>
                  <a:pt x="304" y="141"/>
                  <a:pt x="293" y="152"/>
                  <a:pt x="280" y="152"/>
                </a:cubicBezTo>
                <a:cubicBezTo>
                  <a:pt x="267" y="152"/>
                  <a:pt x="256" y="141"/>
                  <a:pt x="256" y="128"/>
                </a:cubicBezTo>
                <a:cubicBezTo>
                  <a:pt x="256" y="115"/>
                  <a:pt x="267" y="104"/>
                  <a:pt x="280" y="104"/>
                </a:cubicBezTo>
                <a:close/>
                <a:moveTo>
                  <a:pt x="336" y="128"/>
                </a:moveTo>
                <a:cubicBezTo>
                  <a:pt x="336" y="115"/>
                  <a:pt x="347" y="104"/>
                  <a:pt x="360" y="104"/>
                </a:cubicBezTo>
                <a:cubicBezTo>
                  <a:pt x="373" y="104"/>
                  <a:pt x="384" y="115"/>
                  <a:pt x="384" y="128"/>
                </a:cubicBezTo>
                <a:cubicBezTo>
                  <a:pt x="384" y="141"/>
                  <a:pt x="373" y="152"/>
                  <a:pt x="360" y="152"/>
                </a:cubicBezTo>
                <a:cubicBezTo>
                  <a:pt x="347" y="152"/>
                  <a:pt x="336" y="141"/>
                  <a:pt x="336" y="128"/>
                </a:cubicBezTo>
                <a:close/>
                <a:moveTo>
                  <a:pt x="64" y="288"/>
                </a:moveTo>
                <a:cubicBezTo>
                  <a:pt x="29" y="288"/>
                  <a:pt x="0" y="317"/>
                  <a:pt x="0" y="352"/>
                </a:cubicBez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384" y="480"/>
                </a:lnTo>
                <a:cubicBezTo>
                  <a:pt x="419" y="480"/>
                  <a:pt x="448" y="451"/>
                  <a:pt x="448" y="416"/>
                </a:cubicBezTo>
                <a:lnTo>
                  <a:pt x="448" y="352"/>
                </a:lnTo>
                <a:cubicBezTo>
                  <a:pt x="448" y="317"/>
                  <a:pt x="419" y="288"/>
                  <a:pt x="384" y="288"/>
                </a:cubicBezTo>
                <a:lnTo>
                  <a:pt x="64" y="288"/>
                </a:lnTo>
                <a:close/>
                <a:moveTo>
                  <a:pt x="280" y="360"/>
                </a:moveTo>
                <a:cubicBezTo>
                  <a:pt x="293" y="360"/>
                  <a:pt x="304" y="371"/>
                  <a:pt x="304" y="384"/>
                </a:cubicBezTo>
                <a:cubicBezTo>
                  <a:pt x="304" y="397"/>
                  <a:pt x="293" y="408"/>
                  <a:pt x="280" y="408"/>
                </a:cubicBezTo>
                <a:cubicBezTo>
                  <a:pt x="267" y="408"/>
                  <a:pt x="256" y="397"/>
                  <a:pt x="256" y="384"/>
                </a:cubicBezTo>
                <a:cubicBezTo>
                  <a:pt x="256" y="371"/>
                  <a:pt x="267" y="360"/>
                  <a:pt x="280" y="360"/>
                </a:cubicBezTo>
                <a:close/>
                <a:moveTo>
                  <a:pt x="336" y="384"/>
                </a:moveTo>
                <a:cubicBezTo>
                  <a:pt x="336" y="371"/>
                  <a:pt x="347" y="360"/>
                  <a:pt x="360" y="360"/>
                </a:cubicBezTo>
                <a:cubicBezTo>
                  <a:pt x="373" y="360"/>
                  <a:pt x="384" y="371"/>
                  <a:pt x="384" y="384"/>
                </a:cubicBezTo>
                <a:cubicBezTo>
                  <a:pt x="384" y="397"/>
                  <a:pt x="373" y="408"/>
                  <a:pt x="360" y="408"/>
                </a:cubicBezTo>
                <a:cubicBezTo>
                  <a:pt x="347" y="408"/>
                  <a:pt x="336" y="397"/>
                  <a:pt x="336" y="384"/>
                </a:cubicBezTo>
                <a:close/>
              </a:path>
            </a:pathLst>
          </a:custGeom>
          <a:solidFill>
            <a:srgbClr val="1E4D3B"/>
          </a:solidFill>
          <a:ln>
            <a:noFill/>
          </a:ln>
        </p:spPr>
      </p:sp>
      <p:sp>
        <p:nvSpPr>
          <p:cNvPr id="27" name="scene-2-t"/>
          <p:cNvSpPr txBox="1"/>
          <p:nvPr/>
        </p:nvSpPr>
        <p:spPr>
          <a:xfrm>
            <a:off x="4953000" y="3454400"/>
            <a:ext cx="2692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300" b="1">
                <a:solidFill>
                  <a:srgbClr val="22211E"/>
                </a:solidFill>
                <a:latin typeface="MiSans"/>
                <a:ea typeface="MiSans"/>
              </a:rPr>
              <a:t>平台后端接口</a:t>
            </a:r>
            <a:endParaRPr lang="en-US" sz="1300"/>
          </a:p>
        </p:txBody>
      </p:sp>
      <p:sp>
        <p:nvSpPr>
          <p:cNvPr id="28" name="scene-2-d"/>
          <p:cNvSpPr txBox="1"/>
          <p:nvPr/>
        </p:nvSpPr>
        <p:spPr>
          <a:xfrm>
            <a:off x="4953000" y="3733800"/>
            <a:ext cx="26924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000">
                <a:solidFill>
                  <a:srgbClr val="6B675F"/>
                </a:solidFill>
                <a:latin typeface="MiSans"/>
                <a:ea typeface="MiSans"/>
              </a:rPr>
              <a:t>API 与数据服务开发</a:t>
            </a:r>
            <a:endParaRPr lang="en-US" sz="1000"/>
          </a:p>
        </p:txBody>
      </p:sp>
      <p:sp>
        <p:nvSpPr>
          <p:cNvPr id="29" name="scene-3"/>
          <p:cNvSpPr/>
          <p:nvPr/>
        </p:nvSpPr>
        <p:spPr>
          <a:xfrm>
            <a:off x="8026400" y="3352800"/>
            <a:ext cx="3454400" cy="787400"/>
          </a:xfrm>
          <a:prstGeom prst="rect">
            <a:avLst/>
          </a:prstGeom>
          <a:solidFill>
            <a:srgbClr val="EAF1EC"/>
          </a:solidFill>
          <a:ln>
            <a:noFill/>
          </a:ln>
        </p:spPr>
      </p:sp>
      <p:sp>
        <p:nvSpPr>
          <p:cNvPr id="30" name="scene-3-icon"/>
          <p:cNvSpPr/>
          <p:nvPr>
            <p:extLst>
              <p:ext uri="{F5677B7D-0D2A-4D9B-9A5C-6D8D7D0E5A5D}">
                <pptd:icon encoding="base64url">eyJpY29uTmFtZSI6ImZhczpnZWFycyJ9</pptd:icon>
              </p:ext>
            </p:extLst>
          </p:nvPr>
        </p:nvSpPr>
        <p:spPr>
          <a:xfrm>
            <a:off x="8229600" y="36068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416" y="211"/>
                </a:moveTo>
                <a:cubicBezTo>
                  <a:pt x="428" y="207"/>
                  <a:pt x="441" y="213"/>
                  <a:pt x="446" y="224"/>
                </a:cubicBezTo>
                <a:lnTo>
                  <a:pt x="465" y="262"/>
                </a:lnTo>
                <a:cubicBezTo>
                  <a:pt x="475" y="263"/>
                  <a:pt x="485" y="266"/>
                  <a:pt x="495" y="270"/>
                </a:cubicBezTo>
                <a:lnTo>
                  <a:pt x="530" y="247"/>
                </a:lnTo>
                <a:cubicBezTo>
                  <a:pt x="540" y="240"/>
                  <a:pt x="554" y="241"/>
                  <a:pt x="563" y="250"/>
                </a:cubicBezTo>
                <a:lnTo>
                  <a:pt x="582" y="269"/>
                </a:lnTo>
                <a:cubicBezTo>
                  <a:pt x="591" y="278"/>
                  <a:pt x="593" y="292"/>
                  <a:pt x="586" y="303"/>
                </a:cubicBezTo>
                <a:lnTo>
                  <a:pt x="562" y="337"/>
                </a:lnTo>
                <a:cubicBezTo>
                  <a:pt x="564" y="342"/>
                  <a:pt x="566" y="347"/>
                  <a:pt x="567" y="352"/>
                </a:cubicBezTo>
                <a:cubicBezTo>
                  <a:pt x="569" y="357"/>
                  <a:pt x="570" y="362"/>
                  <a:pt x="570" y="367"/>
                </a:cubicBezTo>
                <a:lnTo>
                  <a:pt x="608" y="386"/>
                </a:lnTo>
                <a:cubicBezTo>
                  <a:pt x="619" y="392"/>
                  <a:pt x="625" y="404"/>
                  <a:pt x="622" y="416"/>
                </a:cubicBezTo>
                <a:lnTo>
                  <a:pt x="615" y="443"/>
                </a:lnTo>
                <a:cubicBezTo>
                  <a:pt x="612" y="455"/>
                  <a:pt x="600" y="463"/>
                  <a:pt x="588" y="462"/>
                </a:cubicBezTo>
                <a:lnTo>
                  <a:pt x="546" y="459"/>
                </a:lnTo>
                <a:cubicBezTo>
                  <a:pt x="539" y="468"/>
                  <a:pt x="532" y="475"/>
                  <a:pt x="524" y="481"/>
                </a:cubicBezTo>
                <a:lnTo>
                  <a:pt x="527" y="523"/>
                </a:lnTo>
                <a:cubicBezTo>
                  <a:pt x="527" y="536"/>
                  <a:pt x="519" y="547"/>
                  <a:pt x="507" y="551"/>
                </a:cubicBezTo>
                <a:lnTo>
                  <a:pt x="481" y="558"/>
                </a:lnTo>
                <a:cubicBezTo>
                  <a:pt x="469" y="561"/>
                  <a:pt x="456" y="555"/>
                  <a:pt x="450" y="544"/>
                </a:cubicBezTo>
                <a:lnTo>
                  <a:pt x="432" y="506"/>
                </a:lnTo>
                <a:cubicBezTo>
                  <a:pt x="421" y="505"/>
                  <a:pt x="411" y="502"/>
                  <a:pt x="402" y="498"/>
                </a:cubicBezTo>
                <a:lnTo>
                  <a:pt x="367" y="521"/>
                </a:lnTo>
                <a:cubicBezTo>
                  <a:pt x="356" y="528"/>
                  <a:pt x="342" y="527"/>
                  <a:pt x="334" y="518"/>
                </a:cubicBezTo>
                <a:lnTo>
                  <a:pt x="314" y="499"/>
                </a:lnTo>
                <a:cubicBezTo>
                  <a:pt x="305" y="490"/>
                  <a:pt x="304" y="476"/>
                  <a:pt x="311" y="466"/>
                </a:cubicBezTo>
                <a:lnTo>
                  <a:pt x="334" y="431"/>
                </a:lnTo>
                <a:cubicBezTo>
                  <a:pt x="332" y="426"/>
                  <a:pt x="331" y="421"/>
                  <a:pt x="329" y="416"/>
                </a:cubicBezTo>
                <a:cubicBezTo>
                  <a:pt x="328" y="411"/>
                  <a:pt x="327" y="406"/>
                  <a:pt x="326" y="401"/>
                </a:cubicBezTo>
                <a:lnTo>
                  <a:pt x="289" y="382"/>
                </a:lnTo>
                <a:cubicBezTo>
                  <a:pt x="277" y="376"/>
                  <a:pt x="272" y="364"/>
                  <a:pt x="275" y="352"/>
                </a:cubicBezTo>
                <a:lnTo>
                  <a:pt x="282" y="325"/>
                </a:lnTo>
                <a:cubicBezTo>
                  <a:pt x="285" y="313"/>
                  <a:pt x="296" y="305"/>
                  <a:pt x="309" y="306"/>
                </a:cubicBezTo>
                <a:lnTo>
                  <a:pt x="351" y="309"/>
                </a:lnTo>
                <a:cubicBezTo>
                  <a:pt x="357" y="300"/>
                  <a:pt x="365" y="293"/>
                  <a:pt x="373" y="287"/>
                </a:cubicBezTo>
                <a:lnTo>
                  <a:pt x="370" y="245"/>
                </a:lnTo>
                <a:cubicBezTo>
                  <a:pt x="369" y="232"/>
                  <a:pt x="377" y="221"/>
                  <a:pt x="390" y="218"/>
                </a:cubicBezTo>
                <a:lnTo>
                  <a:pt x="416" y="211"/>
                </a:lnTo>
                <a:close/>
                <a:moveTo>
                  <a:pt x="448" y="340"/>
                </a:moveTo>
                <a:cubicBezTo>
                  <a:pt x="424" y="340"/>
                  <a:pt x="404" y="360"/>
                  <a:pt x="404" y="384"/>
                </a:cubicBezTo>
                <a:cubicBezTo>
                  <a:pt x="404" y="408"/>
                  <a:pt x="424" y="428"/>
                  <a:pt x="449" y="428"/>
                </a:cubicBezTo>
                <a:cubicBezTo>
                  <a:pt x="473" y="428"/>
                  <a:pt x="492" y="408"/>
                  <a:pt x="492" y="384"/>
                </a:cubicBezTo>
                <a:cubicBezTo>
                  <a:pt x="492" y="360"/>
                  <a:pt x="473" y="340"/>
                  <a:pt x="448" y="340"/>
                </a:cubicBezTo>
                <a:close/>
                <a:moveTo>
                  <a:pt x="225" y="-45"/>
                </a:moveTo>
                <a:lnTo>
                  <a:pt x="251" y="-38"/>
                </a:lnTo>
                <a:cubicBezTo>
                  <a:pt x="263" y="-35"/>
                  <a:pt x="271" y="-24"/>
                  <a:pt x="271" y="-11"/>
                </a:cubicBezTo>
                <a:lnTo>
                  <a:pt x="268" y="30"/>
                </a:lnTo>
                <a:cubicBezTo>
                  <a:pt x="276" y="37"/>
                  <a:pt x="284" y="44"/>
                  <a:pt x="290" y="53"/>
                </a:cubicBezTo>
                <a:lnTo>
                  <a:pt x="332" y="50"/>
                </a:lnTo>
                <a:cubicBezTo>
                  <a:pt x="344" y="49"/>
                  <a:pt x="356" y="57"/>
                  <a:pt x="359" y="69"/>
                </a:cubicBezTo>
                <a:lnTo>
                  <a:pt x="366" y="96"/>
                </a:lnTo>
                <a:cubicBezTo>
                  <a:pt x="369" y="108"/>
                  <a:pt x="364" y="120"/>
                  <a:pt x="352" y="126"/>
                </a:cubicBezTo>
                <a:lnTo>
                  <a:pt x="315" y="145"/>
                </a:lnTo>
                <a:cubicBezTo>
                  <a:pt x="314" y="150"/>
                  <a:pt x="313" y="155"/>
                  <a:pt x="312" y="160"/>
                </a:cubicBezTo>
                <a:cubicBezTo>
                  <a:pt x="310" y="165"/>
                  <a:pt x="308" y="170"/>
                  <a:pt x="307" y="174"/>
                </a:cubicBezTo>
                <a:lnTo>
                  <a:pt x="330" y="209"/>
                </a:lnTo>
                <a:cubicBezTo>
                  <a:pt x="337" y="220"/>
                  <a:pt x="335" y="234"/>
                  <a:pt x="327" y="243"/>
                </a:cubicBezTo>
                <a:lnTo>
                  <a:pt x="307" y="262"/>
                </a:lnTo>
                <a:cubicBezTo>
                  <a:pt x="298" y="271"/>
                  <a:pt x="285" y="272"/>
                  <a:pt x="274" y="265"/>
                </a:cubicBezTo>
                <a:lnTo>
                  <a:pt x="239" y="242"/>
                </a:lnTo>
                <a:cubicBezTo>
                  <a:pt x="230" y="246"/>
                  <a:pt x="219" y="249"/>
                  <a:pt x="209" y="250"/>
                </a:cubicBezTo>
                <a:lnTo>
                  <a:pt x="191" y="288"/>
                </a:lnTo>
                <a:cubicBezTo>
                  <a:pt x="185" y="299"/>
                  <a:pt x="172" y="305"/>
                  <a:pt x="160" y="302"/>
                </a:cubicBezTo>
                <a:lnTo>
                  <a:pt x="134" y="295"/>
                </a:lnTo>
                <a:cubicBezTo>
                  <a:pt x="122" y="291"/>
                  <a:pt x="114" y="280"/>
                  <a:pt x="114" y="267"/>
                </a:cubicBezTo>
                <a:lnTo>
                  <a:pt x="117" y="225"/>
                </a:lnTo>
                <a:cubicBezTo>
                  <a:pt x="109" y="219"/>
                  <a:pt x="101" y="212"/>
                  <a:pt x="95" y="203"/>
                </a:cubicBezTo>
                <a:lnTo>
                  <a:pt x="53" y="206"/>
                </a:lnTo>
                <a:cubicBezTo>
                  <a:pt x="41" y="207"/>
                  <a:pt x="29" y="199"/>
                  <a:pt x="26" y="187"/>
                </a:cubicBezTo>
                <a:lnTo>
                  <a:pt x="19" y="160"/>
                </a:lnTo>
                <a:cubicBezTo>
                  <a:pt x="16" y="148"/>
                  <a:pt x="21" y="136"/>
                  <a:pt x="33" y="130"/>
                </a:cubicBezTo>
                <a:lnTo>
                  <a:pt x="70" y="111"/>
                </a:lnTo>
                <a:cubicBezTo>
                  <a:pt x="71" y="106"/>
                  <a:pt x="72" y="101"/>
                  <a:pt x="73" y="96"/>
                </a:cubicBezTo>
                <a:cubicBezTo>
                  <a:pt x="75" y="91"/>
                  <a:pt x="76" y="86"/>
                  <a:pt x="78" y="81"/>
                </a:cubicBezTo>
                <a:lnTo>
                  <a:pt x="55" y="47"/>
                </a:lnTo>
                <a:cubicBezTo>
                  <a:pt x="48" y="36"/>
                  <a:pt x="50" y="22"/>
                  <a:pt x="58" y="13"/>
                </a:cubicBezTo>
                <a:lnTo>
                  <a:pt x="78" y="-6"/>
                </a:lnTo>
                <a:cubicBezTo>
                  <a:pt x="87" y="-15"/>
                  <a:pt x="100" y="-16"/>
                  <a:pt x="111" y="-9"/>
                </a:cubicBezTo>
                <a:lnTo>
                  <a:pt x="146" y="14"/>
                </a:lnTo>
                <a:cubicBezTo>
                  <a:pt x="155" y="10"/>
                  <a:pt x="165" y="7"/>
                  <a:pt x="176" y="6"/>
                </a:cubicBezTo>
                <a:lnTo>
                  <a:pt x="194" y="-32"/>
                </a:lnTo>
                <a:cubicBezTo>
                  <a:pt x="200" y="-43"/>
                  <a:pt x="213" y="-49"/>
                  <a:pt x="225" y="-45"/>
                </a:cubicBezTo>
                <a:close/>
                <a:moveTo>
                  <a:pt x="192" y="84"/>
                </a:moveTo>
                <a:cubicBezTo>
                  <a:pt x="168" y="84"/>
                  <a:pt x="148" y="104"/>
                  <a:pt x="148" y="128"/>
                </a:cubicBezTo>
                <a:cubicBezTo>
                  <a:pt x="148" y="152"/>
                  <a:pt x="168" y="172"/>
                  <a:pt x="192" y="172"/>
                </a:cubicBezTo>
                <a:cubicBezTo>
                  <a:pt x="217" y="172"/>
                  <a:pt x="236" y="152"/>
                  <a:pt x="236" y="128"/>
                </a:cubicBezTo>
                <a:cubicBezTo>
                  <a:pt x="236" y="104"/>
                  <a:pt x="217" y="84"/>
                  <a:pt x="192" y="84"/>
                </a:cubicBezTo>
                <a:close/>
              </a:path>
            </a:pathLst>
          </a:custGeom>
          <a:solidFill>
            <a:srgbClr val="1E4D3B"/>
          </a:solidFill>
          <a:ln>
            <a:noFill/>
          </a:ln>
        </p:spPr>
      </p:sp>
      <p:sp>
        <p:nvSpPr>
          <p:cNvPr id="31" name="scene-3-t"/>
          <p:cNvSpPr txBox="1"/>
          <p:nvPr/>
        </p:nvSpPr>
        <p:spPr>
          <a:xfrm>
            <a:off x="8610600" y="3454400"/>
            <a:ext cx="2692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300" b="1">
                <a:solidFill>
                  <a:srgbClr val="22211E"/>
                </a:solidFill>
                <a:latin typeface="MiSans"/>
                <a:ea typeface="MiSans"/>
              </a:rPr>
              <a:t>算法数据管道</a:t>
            </a:r>
            <a:endParaRPr lang="en-US" sz="1300"/>
          </a:p>
        </p:txBody>
      </p:sp>
      <p:sp>
        <p:nvSpPr>
          <p:cNvPr id="32" name="scene-3-d"/>
          <p:cNvSpPr txBox="1"/>
          <p:nvPr/>
        </p:nvSpPr>
        <p:spPr>
          <a:xfrm>
            <a:off x="8610600" y="3733800"/>
            <a:ext cx="26924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000">
                <a:solidFill>
                  <a:srgbClr val="6B675F"/>
                </a:solidFill>
                <a:latin typeface="MiSans"/>
                <a:ea typeface="MiSans"/>
              </a:rPr>
              <a:t>清洗、标定、建模脚本</a:t>
            </a:r>
            <a:endParaRPr lang="en-US" sz="1000"/>
          </a:p>
        </p:txBody>
      </p:sp>
      <p:sp>
        <p:nvSpPr>
          <p:cNvPr id="33" name="todo-h"/>
          <p:cNvSpPr txBox="1"/>
          <p:nvPr/>
        </p:nvSpPr>
        <p:spPr>
          <a:xfrm>
            <a:off x="711200" y="4394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E4D3B"/>
                </a:solidFill>
                <a:latin typeface="Liter"/>
                <a:ea typeface="Liter"/>
              </a:rPr>
              <a:t>三个上手动作</a:t>
            </a:r>
            <a:endParaRPr lang="en-US" sz="1500"/>
          </a:p>
        </p:txBody>
      </p:sp>
      <p:sp>
        <p:nvSpPr>
          <p:cNvPr id="34" name="todo-1"/>
          <p:cNvSpPr txBox="1"/>
          <p:nvPr/>
        </p:nvSpPr>
        <p:spPr>
          <a:xfrm>
            <a:off x="711200" y="4749800"/>
            <a:ext cx="787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300" b="1">
                <a:solidFill>
                  <a:srgbClr val="22211E"/>
                </a:solidFill>
                <a:latin typeface="MiSans"/>
                <a:ea typeface="MiSans"/>
              </a:rPr>
              <a:t>① 给它仓库上下文与编码规范</a:t>
            </a:r>
            <a:r>
              <a:rPr lang="en-US" sz="1300">
                <a:solidFill>
                  <a:srgbClr val="22211E"/>
                </a:solidFill>
                <a:latin typeface="MiSans"/>
                <a:ea typeface="MiSans"/>
              </a:rPr>
              <a:t>——README、目录结构、代码风格一次给齐</a:t>
            </a:r>
            <a:endParaRPr lang="en-US" sz="1300"/>
          </a:p>
        </p:txBody>
      </p:sp>
      <p:sp>
        <p:nvSpPr>
          <p:cNvPr id="35" name="todo-1-tag"/>
          <p:cNvSpPr txBox="1"/>
          <p:nvPr/>
        </p:nvSpPr>
        <p:spPr>
          <a:xfrm>
            <a:off x="8763000" y="4775200"/>
            <a:ext cx="2717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r">
              <a:lnSpc>
                <a:spcPct val="120000"/>
              </a:lnSpc>
            </a:pPr>
            <a:r>
              <a:rPr lang="en-US" sz="1100" b="1">
                <a:solidFill>
                  <a:srgbClr val="C26A2E"/>
                </a:solidFill>
                <a:latin typeface="MiSans"/>
                <a:ea typeface="MiSans"/>
              </a:rPr>
              <a:t>上下文工程</a:t>
            </a:r>
            <a:endParaRPr lang="en-US" sz="1100"/>
          </a:p>
        </p:txBody>
      </p:sp>
      <p:sp>
        <p:nvSpPr>
          <p:cNvPr id="36" name="todo-2"/>
          <p:cNvSpPr txBox="1"/>
          <p:nvPr/>
        </p:nvSpPr>
        <p:spPr>
          <a:xfrm>
            <a:off x="711200" y="5130800"/>
            <a:ext cx="787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300" b="1">
                <a:solidFill>
                  <a:srgbClr val="22211E"/>
                </a:solidFill>
                <a:latin typeface="MiSans"/>
                <a:ea typeface="MiSans"/>
              </a:rPr>
              <a:t>② 小步提交,每步跑测试</a:t>
            </a:r>
            <a:r>
              <a:rPr lang="en-US" sz="1300">
                <a:solidFill>
                  <a:srgbClr val="22211E"/>
                </a:solidFill>
                <a:latin typeface="MiSans"/>
                <a:ea typeface="MiSans"/>
              </a:rPr>
              <a:t>——测试通过才算这一步完成</a:t>
            </a:r>
            <a:endParaRPr lang="en-US" sz="1300"/>
          </a:p>
        </p:txBody>
      </p:sp>
      <p:sp>
        <p:nvSpPr>
          <p:cNvPr id="37" name="todo-2-tag"/>
          <p:cNvSpPr txBox="1"/>
          <p:nvPr/>
        </p:nvSpPr>
        <p:spPr>
          <a:xfrm>
            <a:off x="8763000" y="5156200"/>
            <a:ext cx="2717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r">
              <a:lnSpc>
                <a:spcPct val="120000"/>
              </a:lnSpc>
            </a:pPr>
            <a:r>
              <a:rPr lang="en-US" sz="1100" b="1">
                <a:solidFill>
                  <a:srgbClr val="C26A2E"/>
                </a:solidFill>
                <a:latin typeface="MiSans"/>
                <a:ea typeface="MiSans"/>
              </a:rPr>
              <a:t>Loop:测试即验证</a:t>
            </a:r>
            <a:endParaRPr lang="en-US" sz="1100"/>
          </a:p>
        </p:txBody>
      </p:sp>
      <p:sp>
        <p:nvSpPr>
          <p:cNvPr id="38" name="todo-3"/>
          <p:cNvSpPr txBox="1"/>
          <p:nvPr/>
        </p:nvSpPr>
        <p:spPr>
          <a:xfrm>
            <a:off x="711200" y="5511800"/>
            <a:ext cx="787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300" b="1">
                <a:solidFill>
                  <a:srgbClr val="22211E"/>
                </a:solidFill>
                <a:latin typeface="MiSans"/>
                <a:ea typeface="MiSans"/>
              </a:rPr>
              <a:t>③ 代码评审不缺席</a:t>
            </a:r>
            <a:r>
              <a:rPr lang="en-US" sz="1300">
                <a:solidFill>
                  <a:srgbClr val="22211E"/>
                </a:solidFill>
                <a:latin typeface="MiSans"/>
                <a:ea typeface="MiSans"/>
              </a:rPr>
              <a:t>——Agent 写的代码,也要人 Review</a:t>
            </a:r>
            <a:endParaRPr lang="en-US" sz="1300"/>
          </a:p>
        </p:txBody>
      </p:sp>
      <p:sp>
        <p:nvSpPr>
          <p:cNvPr id="39" name="todo-3-tag"/>
          <p:cNvSpPr txBox="1"/>
          <p:nvPr/>
        </p:nvSpPr>
        <p:spPr>
          <a:xfrm>
            <a:off x="8763000" y="5537200"/>
            <a:ext cx="2717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r">
              <a:lnSpc>
                <a:spcPct val="120000"/>
              </a:lnSpc>
            </a:pPr>
            <a:r>
              <a:rPr lang="en-US" sz="1100" b="1">
                <a:solidFill>
                  <a:srgbClr val="C26A2E"/>
                </a:solidFill>
                <a:latin typeface="MiSans"/>
                <a:ea typeface="MiSans"/>
              </a:rPr>
              <a:t>护栏:人守最后一关</a:t>
            </a:r>
            <a:endParaRPr lang="en-US" sz="1100"/>
          </a:p>
        </p:txBody>
      </p:sp>
      <p:sp>
        <p:nvSpPr>
          <p:cNvPr id="40" name="act-icon"/>
          <p:cNvSpPr/>
          <p:nvPr>
            <p:extLst>
              <p:ext uri="{F5677B7D-0D2A-4D9B-9A5C-6D8D7D0E5A5D}">
                <pptd:icon encoding="base64url">eyJpY29uTmFtZSI6ImZhczpib2x0In0</pptd:icon>
              </p:ext>
            </p:extLst>
          </p:nvPr>
        </p:nvSpPr>
        <p:spPr>
          <a:xfrm>
            <a:off x="711200" y="59182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339" y="-10"/>
                </a:moveTo>
                <a:cubicBezTo>
                  <a:pt x="351" y="-1"/>
                  <a:pt x="355" y="14"/>
                  <a:pt x="350" y="28"/>
                </a:cubicBezTo>
                <a:lnTo>
                  <a:pt x="271" y="224"/>
                </a:lnTo>
                <a:lnTo>
                  <a:pt x="416" y="224"/>
                </a:lnTo>
                <a:cubicBezTo>
                  <a:pt x="430" y="224"/>
                  <a:pt x="442" y="232"/>
                  <a:pt x="446" y="245"/>
                </a:cubicBezTo>
                <a:cubicBezTo>
                  <a:pt x="451" y="258"/>
                  <a:pt x="447" y="272"/>
                  <a:pt x="437" y="281"/>
                </a:cubicBezTo>
                <a:lnTo>
                  <a:pt x="149" y="521"/>
                </a:lnTo>
                <a:cubicBezTo>
                  <a:pt x="137" y="530"/>
                  <a:pt x="121" y="531"/>
                  <a:pt x="109" y="522"/>
                </a:cubicBezTo>
                <a:cubicBezTo>
                  <a:pt x="97" y="513"/>
                  <a:pt x="93" y="498"/>
                  <a:pt x="98" y="484"/>
                </a:cubicBezTo>
                <a:lnTo>
                  <a:pt x="177" y="288"/>
                </a:lnTo>
                <a:lnTo>
                  <a:pt x="32" y="288"/>
                </a:lnTo>
                <a:cubicBezTo>
                  <a:pt x="19" y="288"/>
                  <a:pt x="7" y="280"/>
                  <a:pt x="2" y="267"/>
                </a:cubicBezTo>
                <a:cubicBezTo>
                  <a:pt x="-3" y="254"/>
                  <a:pt x="1" y="240"/>
                  <a:pt x="11" y="231"/>
                </a:cubicBezTo>
                <a:lnTo>
                  <a:pt x="300" y="-9"/>
                </a:lnTo>
                <a:cubicBezTo>
                  <a:pt x="311" y="-18"/>
                  <a:pt x="327" y="-19"/>
                  <a:pt x="339" y="-10"/>
                </a:cubicBezTo>
                <a:close/>
              </a:path>
            </a:pathLst>
          </a:custGeom>
          <a:solidFill>
            <a:srgbClr val="C26A2E"/>
          </a:solidFill>
          <a:ln>
            <a:noFill/>
          </a:ln>
        </p:spPr>
      </p:sp>
      <p:sp>
        <p:nvSpPr>
          <p:cNvPr id="41" name="act-body"/>
          <p:cNvSpPr txBox="1"/>
          <p:nvPr/>
        </p:nvSpPr>
        <p:spPr>
          <a:xfrm>
            <a:off x="1016000" y="5892800"/>
            <a:ext cx="10464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300" b="1">
                <a:solidFill>
                  <a:srgbClr val="22211E"/>
                </a:solidFill>
                <a:latin typeface="MiSans"/>
                <a:ea typeface="MiSans"/>
              </a:rPr>
              <a:t>行动:本周试一次——挑一个真实 bug,让修复从 Agent 开始,你只做评审。</a:t>
            </a:r>
            <a:endParaRPr lang="en-US" sz="1300"/>
          </a:p>
        </p:txBody>
      </p:sp>
      <p:sp>
        <p:nvSpPr>
          <p:cNvPr id="42" name="footer-line"/>
          <p:cNvSpPr/>
          <p:nvPr/>
        </p:nvSpPr>
        <p:spPr>
          <a:xfrm>
            <a:off x="711200" y="6375400"/>
            <a:ext cx="10769600" cy="12700"/>
          </a:xfrm>
          <a:prstGeom prst="rect">
            <a:avLst/>
          </a:prstGeom>
          <a:solidFill>
            <a:srgbClr val="D8D3C8"/>
          </a:solidFill>
          <a:ln>
            <a:noFill/>
          </a:ln>
        </p:spPr>
      </p:sp>
      <p:sp>
        <p:nvSpPr>
          <p:cNvPr id="43" name="footer-src"/>
          <p:cNvSpPr txBox="1"/>
          <p:nvPr/>
        </p:nvSpPr>
        <p:spPr>
          <a:xfrm>
            <a:off x="711200" y="6477000"/>
            <a:ext cx="812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40000"/>
              </a:lnSpc>
            </a:pPr>
            <a:r>
              <a:rPr lang="en-US" sz="1000">
                <a:solidFill>
                  <a:srgbClr val="6B675F"/>
                </a:solidFill>
                <a:latin typeface="Liter"/>
                <a:ea typeface="Liter"/>
              </a:rPr>
              <a:t>适用场景与动作建议为内部教学示例</a:t>
            </a:r>
            <a:endParaRPr lang="en-US" sz="1000"/>
          </a:p>
        </p:txBody>
      </p:sp>
      <p:sp>
        <p:nvSpPr>
          <p:cNvPr id="44" name="footer-page"/>
          <p:cNvSpPr txBox="1"/>
          <p:nvPr/>
        </p:nvSpPr>
        <p:spPr>
          <a:xfrm>
            <a:off x="10464800" y="64770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r">
              <a:lnSpc>
                <a:spcPct val="140000"/>
              </a:lnSpc>
            </a:pPr>
            <a:r>
              <a:rPr lang="en-US" sz="1000">
                <a:solidFill>
                  <a:srgbClr val="6B675F"/>
                </a:solidFill>
                <a:latin typeface="Liter"/>
                <a:ea typeface="Liter"/>
              </a:rPr>
              <a:t>21 / 35</a:t>
            </a:r>
            <a:endParaRPr lang="en-US" sz="1000"/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508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100" b="1" spc="200" kern="0">
                <a:solidFill>
                  <a:srgbClr val="C26A2E"/>
                </a:solidFill>
                <a:latin typeface="Liter"/>
                <a:ea typeface="Liter"/>
              </a:rPr>
              <a:t>04 岗位结合 · 售前与市场</a:t>
            </a:r>
            <a:endParaRPr lang="en-US" sz="1100"/>
          </a:p>
        </p:txBody>
      </p:sp>
      <p:sp>
        <p:nvSpPr>
          <p:cNvPr id="3" name="title"/>
          <p:cNvSpPr txBox="1"/>
          <p:nvPr/>
        </p:nvSpPr>
        <p:spPr>
          <a:xfrm>
            <a:off x="711200" y="787400"/>
            <a:ext cx="107696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22211E"/>
                </a:solidFill>
                <a:latin typeface="Liter"/>
                <a:ea typeface="Liter"/>
              </a:rPr>
              <a:t>从资料到方案:智能体跑流水线,人把好最后一关</a:t>
            </a:r>
            <a:endParaRPr lang="en-US" sz="2600"/>
          </a:p>
        </p:txBody>
      </p:sp>
      <p:sp>
        <p:nvSpPr>
          <p:cNvPr id="4" name="step1-bg"/>
          <p:cNvSpPr/>
          <p:nvPr/>
        </p:nvSpPr>
        <p:spPr>
          <a:xfrm>
            <a:off x="711200" y="1778000"/>
            <a:ext cx="2641600" cy="711200"/>
          </a:xfrm>
          <a:prstGeom prst="homePlate">
            <a:avLst/>
          </a:prstGeom>
          <a:solidFill>
            <a:srgbClr val="1E4D3B"/>
          </a:solidFill>
          <a:ln>
            <a:noFill/>
          </a:ln>
        </p:spPr>
      </p:sp>
      <p:sp>
        <p:nvSpPr>
          <p:cNvPr id="5" name="step1-txt"/>
          <p:cNvSpPr txBox="1"/>
          <p:nvPr/>
        </p:nvSpPr>
        <p:spPr>
          <a:xfrm>
            <a:off x="889000" y="1892300"/>
            <a:ext cx="2032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1000">
                <a:solidFill>
                  <a:srgbClr val="FFFFFF"/>
                </a:solidFill>
                <a:latin typeface="MiSans"/>
                <a:ea typeface="MiSans"/>
              </a:rPr>
              <a:t>第 1 棒</a:t>
            </a:r>
            <a:endParaRPr lang="en-US" sz="1600"/>
          </a:p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FFFFFF"/>
                </a:solidFill>
                <a:latin typeface="MiSans"/>
                <a:ea typeface="MiSans"/>
              </a:rPr>
              <a:t>调研</a:t>
            </a:r>
            <a:endParaRPr lang="en-US" sz="1600"/>
          </a:p>
        </p:txBody>
      </p:sp>
      <p:sp>
        <p:nvSpPr>
          <p:cNvPr id="6" name="step2-bg"/>
          <p:cNvSpPr/>
          <p:nvPr/>
        </p:nvSpPr>
        <p:spPr>
          <a:xfrm>
            <a:off x="3416300" y="1778000"/>
            <a:ext cx="2641600" cy="711200"/>
          </a:xfrm>
          <a:prstGeom prst="chevron">
            <a:avLst/>
          </a:prstGeom>
          <a:solidFill>
            <a:srgbClr val="1E4D3B"/>
          </a:solidFill>
          <a:ln>
            <a:noFill/>
          </a:ln>
        </p:spPr>
      </p:sp>
      <p:sp>
        <p:nvSpPr>
          <p:cNvPr id="7" name="step2-txt"/>
          <p:cNvSpPr txBox="1"/>
          <p:nvPr/>
        </p:nvSpPr>
        <p:spPr>
          <a:xfrm>
            <a:off x="3759200" y="1892300"/>
            <a:ext cx="2032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1000">
                <a:solidFill>
                  <a:srgbClr val="FFFFFF"/>
                </a:solidFill>
                <a:latin typeface="MiSans"/>
                <a:ea typeface="MiSans"/>
              </a:rPr>
              <a:t>第 2 棒</a:t>
            </a:r>
            <a:endParaRPr lang="en-US" sz="1600"/>
          </a:p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FFFFFF"/>
                </a:solidFill>
                <a:latin typeface="MiSans"/>
                <a:ea typeface="MiSans"/>
              </a:rPr>
              <a:t>生成</a:t>
            </a:r>
            <a:endParaRPr lang="en-US" sz="1600"/>
          </a:p>
        </p:txBody>
      </p:sp>
      <p:sp>
        <p:nvSpPr>
          <p:cNvPr id="8" name="step3-bg"/>
          <p:cNvSpPr/>
          <p:nvPr/>
        </p:nvSpPr>
        <p:spPr>
          <a:xfrm>
            <a:off x="6121400" y="1778000"/>
            <a:ext cx="2641600" cy="711200"/>
          </a:xfrm>
          <a:prstGeom prst="chevron">
            <a:avLst/>
          </a:prstGeom>
          <a:solidFill>
            <a:srgbClr val="1E4D3B"/>
          </a:solidFill>
          <a:ln>
            <a:noFill/>
          </a:ln>
        </p:spPr>
      </p:sp>
      <p:sp>
        <p:nvSpPr>
          <p:cNvPr id="9" name="step3-txt"/>
          <p:cNvSpPr txBox="1"/>
          <p:nvPr/>
        </p:nvSpPr>
        <p:spPr>
          <a:xfrm>
            <a:off x="6464300" y="1892300"/>
            <a:ext cx="2032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1000">
                <a:solidFill>
                  <a:srgbClr val="FFFFFF"/>
                </a:solidFill>
                <a:latin typeface="MiSans"/>
                <a:ea typeface="MiSans"/>
              </a:rPr>
              <a:t>第 3 棒</a:t>
            </a:r>
            <a:endParaRPr lang="en-US" sz="1600"/>
          </a:p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FFFFFF"/>
                </a:solidFill>
                <a:latin typeface="MiSans"/>
                <a:ea typeface="MiSans"/>
              </a:rPr>
              <a:t>改写</a:t>
            </a:r>
            <a:endParaRPr lang="en-US" sz="1600"/>
          </a:p>
        </p:txBody>
      </p:sp>
      <p:sp>
        <p:nvSpPr>
          <p:cNvPr id="10" name="step4-bg"/>
          <p:cNvSpPr/>
          <p:nvPr/>
        </p:nvSpPr>
        <p:spPr>
          <a:xfrm>
            <a:off x="8826500" y="1778000"/>
            <a:ext cx="2641600" cy="711200"/>
          </a:xfrm>
          <a:prstGeom prst="chevron">
            <a:avLst/>
          </a:prstGeom>
          <a:solidFill>
            <a:srgbClr val="C26A2E"/>
          </a:solidFill>
          <a:ln>
            <a:noFill/>
          </a:ln>
        </p:spPr>
      </p:sp>
      <p:sp>
        <p:nvSpPr>
          <p:cNvPr id="11" name="step4-txt"/>
          <p:cNvSpPr txBox="1"/>
          <p:nvPr/>
        </p:nvSpPr>
        <p:spPr>
          <a:xfrm>
            <a:off x="9169400" y="1892300"/>
            <a:ext cx="2032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1000">
                <a:solidFill>
                  <a:srgbClr val="FFFFFF"/>
                </a:solidFill>
                <a:latin typeface="MiSans"/>
                <a:ea typeface="MiSans"/>
              </a:rPr>
              <a:t>第 4 棒 · 人</a:t>
            </a:r>
            <a:endParaRPr lang="en-US" sz="1600"/>
          </a:p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FFFFFF"/>
                </a:solidFill>
                <a:latin typeface="MiSans"/>
                <a:ea typeface="MiSans"/>
              </a:rPr>
              <a:t>核查</a:t>
            </a:r>
            <a:endParaRPr lang="en-US" sz="1600"/>
          </a:p>
        </p:txBody>
      </p:sp>
      <p:sp>
        <p:nvSpPr>
          <p:cNvPr id="12" name="step1-desc"/>
          <p:cNvSpPr txBox="1"/>
          <p:nvPr/>
        </p:nvSpPr>
        <p:spPr>
          <a:xfrm>
            <a:off x="711200" y="2641600"/>
            <a:ext cx="2540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50000"/>
              </a:lnSpc>
            </a:pPr>
            <a:r>
              <a:rPr lang="en-US" sz="1100">
                <a:solidFill>
                  <a:srgbClr val="6B675F"/>
                </a:solidFill>
                <a:latin typeface="Liter"/>
                <a:ea typeface="Liter"/>
              </a:rPr>
              <a:t>Deep Research 自动调研:政策、竞品、客户背景,30 分钟出简报</a:t>
            </a:r>
            <a:endParaRPr lang="en-US" sz="1100"/>
          </a:p>
        </p:txBody>
      </p:sp>
      <p:sp>
        <p:nvSpPr>
          <p:cNvPr id="13" name="step2-desc"/>
          <p:cNvSpPr txBox="1"/>
          <p:nvPr/>
        </p:nvSpPr>
        <p:spPr>
          <a:xfrm>
            <a:off x="3416300" y="2641600"/>
            <a:ext cx="2540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50000"/>
              </a:lnSpc>
            </a:pPr>
            <a:r>
              <a:rPr lang="en-US" sz="1100">
                <a:solidFill>
                  <a:srgbClr val="6B675F"/>
                </a:solidFill>
                <a:latin typeface="Liter"/>
                <a:ea typeface="Liter"/>
              </a:rPr>
              <a:t>按模板生成方案初稿与标书框架,先把结构立起来</a:t>
            </a:r>
            <a:endParaRPr lang="en-US" sz="1100"/>
          </a:p>
        </p:txBody>
      </p:sp>
      <p:sp>
        <p:nvSpPr>
          <p:cNvPr id="14" name="step3-desc"/>
          <p:cNvSpPr txBox="1"/>
          <p:nvPr/>
        </p:nvSpPr>
        <p:spPr>
          <a:xfrm>
            <a:off x="6121400" y="2641600"/>
            <a:ext cx="2540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50000"/>
              </a:lnSpc>
            </a:pPr>
            <a:r>
              <a:rPr lang="en-US" sz="1100">
                <a:solidFill>
                  <a:srgbClr val="6B675F"/>
                </a:solidFill>
                <a:latin typeface="Liter"/>
                <a:ea typeface="Liter"/>
              </a:rPr>
              <a:t>改写成面向客户的表达:少术语、多价值、贴场景</a:t>
            </a:r>
            <a:endParaRPr lang="en-US" sz="1100"/>
          </a:p>
        </p:txBody>
      </p:sp>
      <p:sp>
        <p:nvSpPr>
          <p:cNvPr id="15" name="step4-desc"/>
          <p:cNvSpPr txBox="1"/>
          <p:nvPr/>
        </p:nvSpPr>
        <p:spPr>
          <a:xfrm>
            <a:off x="8826500" y="2641600"/>
            <a:ext cx="2540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50000"/>
              </a:lnSpc>
            </a:pPr>
            <a:r>
              <a:rPr lang="en-US" sz="1100">
                <a:solidFill>
                  <a:srgbClr val="6B675F"/>
                </a:solidFill>
                <a:latin typeface="Liter"/>
                <a:ea typeface="Liter"/>
              </a:rPr>
              <a:t>事实与数字人工把关,确认无误才能对外</a:t>
            </a:r>
            <a:endParaRPr lang="en-US" sz="1100"/>
          </a:p>
        </p:txBody>
      </p:sp>
      <p:sp>
        <p:nvSpPr>
          <p:cNvPr id="16" name="mid-divider"/>
          <p:cNvSpPr/>
          <p:nvPr/>
        </p:nvSpPr>
        <p:spPr>
          <a:xfrm>
            <a:off x="711200" y="3657600"/>
            <a:ext cx="10769600" cy="12700"/>
          </a:xfrm>
          <a:prstGeom prst="rect">
            <a:avLst/>
          </a:prstGeom>
          <a:solidFill>
            <a:srgbClr val="D8D3C8"/>
          </a:solidFill>
          <a:ln>
            <a:noFill/>
          </a:ln>
        </p:spPr>
      </p:sp>
      <p:sp>
        <p:nvSpPr>
          <p:cNvPr id="17" name="scene-h"/>
          <p:cNvSpPr txBox="1"/>
          <p:nvPr/>
        </p:nvSpPr>
        <p:spPr>
          <a:xfrm>
            <a:off x="711200" y="3886200"/>
            <a:ext cx="6096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E4D3B"/>
                </a:solidFill>
                <a:latin typeface="Liter"/>
                <a:ea typeface="Liter"/>
              </a:rPr>
              <a:t>这些场景,直接套用这条流水线</a:t>
            </a:r>
            <a:endParaRPr lang="en-US" sz="1500"/>
          </a:p>
        </p:txBody>
      </p:sp>
      <p:sp>
        <p:nvSpPr>
          <p:cNvPr id="18" name="scene1-icon"/>
          <p:cNvSpPr/>
          <p:nvPr>
            <p:extLst>
              <p:ext uri="{F5677B7D-0D2A-4D9B-9A5C-6D8D7D0E5A5D}">
                <pptd:icon encoding="base64url">eyJpY29uTmFtZSI6ImZhczp3YXRlciJ9</pptd:icon>
              </p:ext>
            </p:extLst>
          </p:nvPr>
        </p:nvSpPr>
        <p:spPr>
          <a:xfrm>
            <a:off x="711200" y="4318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411" y="124"/>
                </a:moveTo>
                <a:cubicBezTo>
                  <a:pt x="431" y="140"/>
                  <a:pt x="457" y="155"/>
                  <a:pt x="485" y="159"/>
                </a:cubicBezTo>
                <a:cubicBezTo>
                  <a:pt x="498" y="160"/>
                  <a:pt x="510" y="151"/>
                  <a:pt x="512" y="138"/>
                </a:cubicBezTo>
                <a:cubicBezTo>
                  <a:pt x="514" y="125"/>
                  <a:pt x="504" y="113"/>
                  <a:pt x="491" y="111"/>
                </a:cubicBezTo>
                <a:cubicBezTo>
                  <a:pt x="475" y="109"/>
                  <a:pt x="458" y="100"/>
                  <a:pt x="440" y="86"/>
                </a:cubicBezTo>
                <a:cubicBezTo>
                  <a:pt x="401" y="57"/>
                  <a:pt x="349" y="57"/>
                  <a:pt x="311" y="86"/>
                </a:cubicBezTo>
                <a:cubicBezTo>
                  <a:pt x="287" y="104"/>
                  <a:pt x="270" y="112"/>
                  <a:pt x="256" y="112"/>
                </a:cubicBezTo>
                <a:cubicBezTo>
                  <a:pt x="242" y="112"/>
                  <a:pt x="226" y="104"/>
                  <a:pt x="202" y="86"/>
                </a:cubicBezTo>
                <a:cubicBezTo>
                  <a:pt x="163" y="57"/>
                  <a:pt x="111" y="57"/>
                  <a:pt x="73" y="86"/>
                </a:cubicBezTo>
                <a:cubicBezTo>
                  <a:pt x="54" y="100"/>
                  <a:pt x="37" y="109"/>
                  <a:pt x="21" y="111"/>
                </a:cubicBezTo>
                <a:cubicBezTo>
                  <a:pt x="8" y="113"/>
                  <a:pt x="-2" y="125"/>
                  <a:pt x="0" y="138"/>
                </a:cubicBezTo>
                <a:cubicBezTo>
                  <a:pt x="2" y="151"/>
                  <a:pt x="14" y="160"/>
                  <a:pt x="27" y="159"/>
                </a:cubicBezTo>
                <a:cubicBezTo>
                  <a:pt x="55" y="155"/>
                  <a:pt x="81" y="140"/>
                  <a:pt x="101" y="124"/>
                </a:cubicBezTo>
                <a:cubicBezTo>
                  <a:pt x="123" y="108"/>
                  <a:pt x="151" y="108"/>
                  <a:pt x="173" y="124"/>
                </a:cubicBezTo>
                <a:cubicBezTo>
                  <a:pt x="197" y="142"/>
                  <a:pt x="225" y="160"/>
                  <a:pt x="256" y="160"/>
                </a:cubicBezTo>
                <a:cubicBezTo>
                  <a:pt x="287" y="160"/>
                  <a:pt x="315" y="142"/>
                  <a:pt x="339" y="124"/>
                </a:cubicBezTo>
                <a:cubicBezTo>
                  <a:pt x="361" y="108"/>
                  <a:pt x="389" y="108"/>
                  <a:pt x="411" y="124"/>
                </a:cubicBezTo>
                <a:close/>
                <a:moveTo>
                  <a:pt x="411" y="268"/>
                </a:moveTo>
                <a:cubicBezTo>
                  <a:pt x="431" y="284"/>
                  <a:pt x="457" y="299"/>
                  <a:pt x="485" y="303"/>
                </a:cubicBezTo>
                <a:cubicBezTo>
                  <a:pt x="498" y="304"/>
                  <a:pt x="510" y="295"/>
                  <a:pt x="512" y="282"/>
                </a:cubicBezTo>
                <a:cubicBezTo>
                  <a:pt x="514" y="269"/>
                  <a:pt x="504" y="257"/>
                  <a:pt x="491" y="255"/>
                </a:cubicBezTo>
                <a:cubicBezTo>
                  <a:pt x="475" y="253"/>
                  <a:pt x="458" y="244"/>
                  <a:pt x="440" y="230"/>
                </a:cubicBezTo>
                <a:cubicBezTo>
                  <a:pt x="401" y="201"/>
                  <a:pt x="349" y="201"/>
                  <a:pt x="311" y="230"/>
                </a:cubicBezTo>
                <a:cubicBezTo>
                  <a:pt x="287" y="248"/>
                  <a:pt x="270" y="256"/>
                  <a:pt x="256" y="256"/>
                </a:cubicBezTo>
                <a:cubicBezTo>
                  <a:pt x="242" y="256"/>
                  <a:pt x="226" y="248"/>
                  <a:pt x="202" y="230"/>
                </a:cubicBezTo>
                <a:cubicBezTo>
                  <a:pt x="163" y="201"/>
                  <a:pt x="111" y="201"/>
                  <a:pt x="73" y="230"/>
                </a:cubicBezTo>
                <a:cubicBezTo>
                  <a:pt x="54" y="244"/>
                  <a:pt x="37" y="253"/>
                  <a:pt x="21" y="255"/>
                </a:cubicBezTo>
                <a:cubicBezTo>
                  <a:pt x="8" y="257"/>
                  <a:pt x="-2" y="269"/>
                  <a:pt x="0" y="282"/>
                </a:cubicBezTo>
                <a:cubicBezTo>
                  <a:pt x="2" y="295"/>
                  <a:pt x="14" y="304"/>
                  <a:pt x="27" y="303"/>
                </a:cubicBezTo>
                <a:cubicBezTo>
                  <a:pt x="55" y="299"/>
                  <a:pt x="81" y="284"/>
                  <a:pt x="101" y="268"/>
                </a:cubicBezTo>
                <a:cubicBezTo>
                  <a:pt x="123" y="252"/>
                  <a:pt x="151" y="252"/>
                  <a:pt x="173" y="268"/>
                </a:cubicBezTo>
                <a:cubicBezTo>
                  <a:pt x="197" y="286"/>
                  <a:pt x="225" y="304"/>
                  <a:pt x="256" y="304"/>
                </a:cubicBezTo>
                <a:cubicBezTo>
                  <a:pt x="287" y="304"/>
                  <a:pt x="315" y="286"/>
                  <a:pt x="339" y="268"/>
                </a:cubicBezTo>
                <a:cubicBezTo>
                  <a:pt x="361" y="252"/>
                  <a:pt x="389" y="252"/>
                  <a:pt x="411" y="268"/>
                </a:cubicBezTo>
                <a:close/>
                <a:moveTo>
                  <a:pt x="339" y="412"/>
                </a:moveTo>
                <a:cubicBezTo>
                  <a:pt x="361" y="396"/>
                  <a:pt x="389" y="396"/>
                  <a:pt x="411" y="412"/>
                </a:cubicBezTo>
                <a:cubicBezTo>
                  <a:pt x="431" y="428"/>
                  <a:pt x="457" y="443"/>
                  <a:pt x="485" y="447"/>
                </a:cubicBezTo>
                <a:cubicBezTo>
                  <a:pt x="498" y="448"/>
                  <a:pt x="510" y="439"/>
                  <a:pt x="512" y="426"/>
                </a:cubicBezTo>
                <a:cubicBezTo>
                  <a:pt x="514" y="413"/>
                  <a:pt x="504" y="401"/>
                  <a:pt x="491" y="399"/>
                </a:cubicBezTo>
                <a:cubicBezTo>
                  <a:pt x="475" y="397"/>
                  <a:pt x="458" y="388"/>
                  <a:pt x="440" y="374"/>
                </a:cubicBezTo>
                <a:cubicBezTo>
                  <a:pt x="401" y="345"/>
                  <a:pt x="349" y="345"/>
                  <a:pt x="311" y="374"/>
                </a:cubicBezTo>
                <a:cubicBezTo>
                  <a:pt x="287" y="392"/>
                  <a:pt x="270" y="400"/>
                  <a:pt x="256" y="400"/>
                </a:cubicBezTo>
                <a:cubicBezTo>
                  <a:pt x="242" y="400"/>
                  <a:pt x="226" y="392"/>
                  <a:pt x="202" y="374"/>
                </a:cubicBezTo>
                <a:cubicBezTo>
                  <a:pt x="163" y="345"/>
                  <a:pt x="111" y="345"/>
                  <a:pt x="73" y="374"/>
                </a:cubicBezTo>
                <a:cubicBezTo>
                  <a:pt x="54" y="388"/>
                  <a:pt x="37" y="397"/>
                  <a:pt x="21" y="399"/>
                </a:cubicBezTo>
                <a:cubicBezTo>
                  <a:pt x="8" y="401"/>
                  <a:pt x="-2" y="413"/>
                  <a:pt x="0" y="426"/>
                </a:cubicBezTo>
                <a:cubicBezTo>
                  <a:pt x="2" y="439"/>
                  <a:pt x="14" y="448"/>
                  <a:pt x="27" y="447"/>
                </a:cubicBezTo>
                <a:cubicBezTo>
                  <a:pt x="55" y="443"/>
                  <a:pt x="81" y="428"/>
                  <a:pt x="101" y="412"/>
                </a:cubicBezTo>
                <a:cubicBezTo>
                  <a:pt x="123" y="396"/>
                  <a:pt x="151" y="396"/>
                  <a:pt x="173" y="412"/>
                </a:cubicBezTo>
                <a:cubicBezTo>
                  <a:pt x="197" y="430"/>
                  <a:pt x="225" y="448"/>
                  <a:pt x="256" y="448"/>
                </a:cubicBezTo>
                <a:cubicBezTo>
                  <a:pt x="287" y="448"/>
                  <a:pt x="315" y="430"/>
                  <a:pt x="339" y="412"/>
                </a:cubicBezTo>
                <a:close/>
              </a:path>
            </a:pathLst>
          </a:custGeom>
          <a:solidFill>
            <a:srgbClr val="1E4D3B"/>
          </a:solidFill>
          <a:ln>
            <a:noFill/>
          </a:ln>
        </p:spPr>
      </p:sp>
      <p:sp>
        <p:nvSpPr>
          <p:cNvPr id="19" name="scene1-txt"/>
          <p:cNvSpPr txBox="1"/>
          <p:nvPr/>
        </p:nvSpPr>
        <p:spPr>
          <a:xfrm>
            <a:off x="1092200" y="4267200"/>
            <a:ext cx="57150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20000"/>
              </a:lnSpc>
            </a:pPr>
            <a:r>
              <a:rPr lang="en-US" sz="1300" b="1">
                <a:solidFill>
                  <a:srgbClr val="22211E"/>
                </a:solidFill>
                <a:latin typeface="MiSans"/>
                <a:ea typeface="MiSans"/>
              </a:rPr>
              <a:t>水利监测项目方案</a:t>
            </a:r>
            <a:endParaRPr lang="en-US" sz="1600"/>
          </a:p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6B675F"/>
                </a:solidFill>
                <a:latin typeface="MiSans"/>
                <a:ea typeface="MiSans"/>
              </a:rPr>
              <a:t>先调研灌区政策与竞品,再按评分标准搭初稿框架(教学演示)</a:t>
            </a:r>
            <a:endParaRPr lang="en-US" sz="1600"/>
          </a:p>
        </p:txBody>
      </p:sp>
      <p:sp>
        <p:nvSpPr>
          <p:cNvPr id="20" name="scene2-icon"/>
          <p:cNvSpPr/>
          <p:nvPr>
            <p:extLst>
              <p:ext uri="{F5677B7D-0D2A-4D9B-9A5C-6D8D7D0E5A5D}">
                <pptd:icon encoding="base64url">eyJpY29uTmFtZSI6ImZhczp3aGVhdC1hd24ifQ</pptd:icon>
              </p:ext>
            </p:extLst>
          </p:nvPr>
        </p:nvSpPr>
        <p:spPr>
          <a:xfrm>
            <a:off x="711200" y="4902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80" y="235"/>
                </a:moveTo>
                <a:cubicBezTo>
                  <a:pt x="86" y="231"/>
                  <a:pt x="94" y="231"/>
                  <a:pt x="100" y="237"/>
                </a:cubicBezTo>
                <a:lnTo>
                  <a:pt x="146" y="283"/>
                </a:lnTo>
                <a:lnTo>
                  <a:pt x="152" y="290"/>
                </a:lnTo>
                <a:cubicBezTo>
                  <a:pt x="172" y="313"/>
                  <a:pt x="178" y="345"/>
                  <a:pt x="171" y="373"/>
                </a:cubicBezTo>
                <a:cubicBezTo>
                  <a:pt x="203" y="366"/>
                  <a:pt x="237" y="374"/>
                  <a:pt x="262" y="399"/>
                </a:cubicBezTo>
                <a:lnTo>
                  <a:pt x="308" y="445"/>
                </a:lnTo>
                <a:cubicBezTo>
                  <a:pt x="314" y="451"/>
                  <a:pt x="314" y="461"/>
                  <a:pt x="308" y="467"/>
                </a:cubicBezTo>
                <a:lnTo>
                  <a:pt x="301" y="475"/>
                </a:lnTo>
                <a:cubicBezTo>
                  <a:pt x="263" y="512"/>
                  <a:pt x="202" y="512"/>
                  <a:pt x="165" y="475"/>
                </a:cubicBezTo>
                <a:lnTo>
                  <a:pt x="134" y="444"/>
                </a:lnTo>
                <a:lnTo>
                  <a:pt x="49" y="529"/>
                </a:lnTo>
                <a:cubicBezTo>
                  <a:pt x="40" y="538"/>
                  <a:pt x="25" y="538"/>
                  <a:pt x="16" y="529"/>
                </a:cubicBezTo>
                <a:cubicBezTo>
                  <a:pt x="6" y="520"/>
                  <a:pt x="6" y="504"/>
                  <a:pt x="16" y="495"/>
                </a:cubicBezTo>
                <a:lnTo>
                  <a:pt x="100" y="410"/>
                </a:lnTo>
                <a:lnTo>
                  <a:pt x="70" y="380"/>
                </a:lnTo>
                <a:cubicBezTo>
                  <a:pt x="32" y="342"/>
                  <a:pt x="32" y="282"/>
                  <a:pt x="70" y="244"/>
                </a:cubicBezTo>
                <a:lnTo>
                  <a:pt x="77" y="237"/>
                </a:lnTo>
                <a:lnTo>
                  <a:pt x="80" y="235"/>
                </a:lnTo>
                <a:close/>
                <a:moveTo>
                  <a:pt x="184" y="131"/>
                </a:moveTo>
                <a:cubicBezTo>
                  <a:pt x="190" y="127"/>
                  <a:pt x="198" y="127"/>
                  <a:pt x="204" y="133"/>
                </a:cubicBezTo>
                <a:lnTo>
                  <a:pt x="250" y="179"/>
                </a:lnTo>
                <a:lnTo>
                  <a:pt x="256" y="185"/>
                </a:lnTo>
                <a:cubicBezTo>
                  <a:pt x="276" y="209"/>
                  <a:pt x="282" y="240"/>
                  <a:pt x="275" y="269"/>
                </a:cubicBezTo>
                <a:cubicBezTo>
                  <a:pt x="307" y="262"/>
                  <a:pt x="341" y="270"/>
                  <a:pt x="366" y="295"/>
                </a:cubicBezTo>
                <a:lnTo>
                  <a:pt x="412" y="341"/>
                </a:lnTo>
                <a:cubicBezTo>
                  <a:pt x="418" y="347"/>
                  <a:pt x="418" y="357"/>
                  <a:pt x="412" y="363"/>
                </a:cubicBezTo>
                <a:lnTo>
                  <a:pt x="405" y="371"/>
                </a:lnTo>
                <a:cubicBezTo>
                  <a:pt x="367" y="408"/>
                  <a:pt x="306" y="408"/>
                  <a:pt x="269" y="371"/>
                </a:cubicBezTo>
                <a:lnTo>
                  <a:pt x="174" y="276"/>
                </a:lnTo>
                <a:cubicBezTo>
                  <a:pt x="136" y="238"/>
                  <a:pt x="136" y="178"/>
                  <a:pt x="174" y="140"/>
                </a:cubicBezTo>
                <a:lnTo>
                  <a:pt x="181" y="133"/>
                </a:lnTo>
                <a:lnTo>
                  <a:pt x="184" y="131"/>
                </a:lnTo>
                <a:close/>
                <a:moveTo>
                  <a:pt x="495" y="15"/>
                </a:moveTo>
                <a:cubicBezTo>
                  <a:pt x="505" y="6"/>
                  <a:pt x="520" y="6"/>
                  <a:pt x="529" y="15"/>
                </a:cubicBezTo>
                <a:cubicBezTo>
                  <a:pt x="538" y="24"/>
                  <a:pt x="539" y="38"/>
                  <a:pt x="531" y="47"/>
                </a:cubicBezTo>
                <a:lnTo>
                  <a:pt x="529" y="49"/>
                </a:lnTo>
                <a:lnTo>
                  <a:pt x="415" y="163"/>
                </a:lnTo>
                <a:cubicBezTo>
                  <a:pt x="422" y="164"/>
                  <a:pt x="430" y="166"/>
                  <a:pt x="437" y="169"/>
                </a:cubicBezTo>
                <a:lnTo>
                  <a:pt x="496" y="111"/>
                </a:lnTo>
                <a:cubicBezTo>
                  <a:pt x="505" y="102"/>
                  <a:pt x="520" y="102"/>
                  <a:pt x="530" y="111"/>
                </a:cubicBezTo>
                <a:cubicBezTo>
                  <a:pt x="538" y="120"/>
                  <a:pt x="539" y="134"/>
                  <a:pt x="531" y="143"/>
                </a:cubicBezTo>
                <a:lnTo>
                  <a:pt x="529" y="145"/>
                </a:lnTo>
                <a:lnTo>
                  <a:pt x="477" y="198"/>
                </a:lnTo>
                <a:lnTo>
                  <a:pt x="516" y="237"/>
                </a:lnTo>
                <a:cubicBezTo>
                  <a:pt x="522" y="243"/>
                  <a:pt x="522" y="253"/>
                  <a:pt x="516" y="259"/>
                </a:cubicBezTo>
                <a:lnTo>
                  <a:pt x="508" y="267"/>
                </a:lnTo>
                <a:cubicBezTo>
                  <a:pt x="471" y="304"/>
                  <a:pt x="410" y="304"/>
                  <a:pt x="373" y="267"/>
                </a:cubicBezTo>
                <a:lnTo>
                  <a:pt x="278" y="172"/>
                </a:lnTo>
                <a:cubicBezTo>
                  <a:pt x="240" y="134"/>
                  <a:pt x="240" y="73"/>
                  <a:pt x="278" y="36"/>
                </a:cubicBezTo>
                <a:lnTo>
                  <a:pt x="285" y="29"/>
                </a:lnTo>
                <a:lnTo>
                  <a:pt x="288" y="27"/>
                </a:lnTo>
                <a:cubicBezTo>
                  <a:pt x="294" y="22"/>
                  <a:pt x="302" y="23"/>
                  <a:pt x="308" y="29"/>
                </a:cubicBezTo>
                <a:lnTo>
                  <a:pt x="347" y="68"/>
                </a:lnTo>
                <a:lnTo>
                  <a:pt x="399" y="15"/>
                </a:lnTo>
                <a:cubicBezTo>
                  <a:pt x="409" y="6"/>
                  <a:pt x="424" y="6"/>
                  <a:pt x="433" y="15"/>
                </a:cubicBezTo>
                <a:cubicBezTo>
                  <a:pt x="442" y="24"/>
                  <a:pt x="443" y="38"/>
                  <a:pt x="435" y="47"/>
                </a:cubicBezTo>
                <a:lnTo>
                  <a:pt x="433" y="49"/>
                </a:lnTo>
                <a:lnTo>
                  <a:pt x="375" y="107"/>
                </a:lnTo>
                <a:cubicBezTo>
                  <a:pt x="378" y="114"/>
                  <a:pt x="380" y="122"/>
                  <a:pt x="381" y="129"/>
                </a:cubicBezTo>
                <a:lnTo>
                  <a:pt x="495" y="15"/>
                </a:lnTo>
                <a:close/>
              </a:path>
            </a:pathLst>
          </a:custGeom>
          <a:solidFill>
            <a:srgbClr val="1E4D3B"/>
          </a:solidFill>
          <a:ln>
            <a:noFill/>
          </a:ln>
        </p:spPr>
      </p:sp>
      <p:sp>
        <p:nvSpPr>
          <p:cNvPr id="21" name="scene2-txt"/>
          <p:cNvSpPr txBox="1"/>
          <p:nvPr/>
        </p:nvSpPr>
        <p:spPr>
          <a:xfrm>
            <a:off x="1092200" y="4851400"/>
            <a:ext cx="57150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20000"/>
              </a:lnSpc>
            </a:pPr>
            <a:r>
              <a:rPr lang="en-US" sz="1300" b="1">
                <a:solidFill>
                  <a:srgbClr val="22211E"/>
                </a:solidFill>
                <a:latin typeface="MiSans"/>
                <a:ea typeface="MiSans"/>
              </a:rPr>
              <a:t>智慧农业投标材料</a:t>
            </a:r>
            <a:endParaRPr lang="en-US" sz="1600"/>
          </a:p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6B675F"/>
                </a:solidFill>
                <a:latin typeface="MiSans"/>
                <a:ea typeface="MiSans"/>
              </a:rPr>
              <a:t>作物与园区背景先行调研,技术方案初稿自动生成</a:t>
            </a:r>
            <a:endParaRPr lang="en-US" sz="1600"/>
          </a:p>
        </p:txBody>
      </p:sp>
      <p:sp>
        <p:nvSpPr>
          <p:cNvPr id="22" name="scene3-icon"/>
          <p:cNvSpPr/>
          <p:nvPr>
            <p:extLst>
              <p:ext uri="{F5677B7D-0D2A-4D9B-9A5C-6D8D7D0E5A5D}">
                <pptd:icon encoding="base64url">eyJpY29uTmFtZSI6ImZhczpuZXdzcGFwZXIifQ</pptd:icon>
              </p:ext>
            </p:extLst>
          </p:nvPr>
        </p:nvSpPr>
        <p:spPr>
          <a:xfrm>
            <a:off x="711200" y="5486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0" y="416"/>
                </a:moveTo>
                <a:lnTo>
                  <a:pt x="0" y="120"/>
                </a:lnTo>
                <a:cubicBezTo>
                  <a:pt x="0" y="107"/>
                  <a:pt x="11" y="96"/>
                  <a:pt x="24" y="96"/>
                </a:cubicBezTo>
                <a:cubicBezTo>
                  <a:pt x="37" y="96"/>
                  <a:pt x="48" y="107"/>
                  <a:pt x="48" y="120"/>
                </a:cubicBezTo>
                <a:lnTo>
                  <a:pt x="48" y="408"/>
                </a:lnTo>
                <a:cubicBezTo>
                  <a:pt x="48" y="421"/>
                  <a:pt x="59" y="432"/>
                  <a:pt x="72" y="432"/>
                </a:cubicBezTo>
                <a:cubicBezTo>
                  <a:pt x="85" y="432"/>
                  <a:pt x="96" y="421"/>
                  <a:pt x="96" y="408"/>
                </a:cubicBezTo>
                <a:lnTo>
                  <a:pt x="96" y="96"/>
                </a:lnTo>
                <a:cubicBezTo>
                  <a:pt x="96" y="61"/>
                  <a:pt x="125" y="32"/>
                  <a:pt x="160" y="32"/>
                </a:cubicBezTo>
                <a:lnTo>
                  <a:pt x="448" y="32"/>
                </a:lnTo>
                <a:cubicBezTo>
                  <a:pt x="483" y="32"/>
                  <a:pt x="512" y="61"/>
                  <a:pt x="512" y="96"/>
                </a:cubicBezTo>
                <a:lnTo>
                  <a:pt x="512" y="416"/>
                </a:lnTo>
                <a:cubicBezTo>
                  <a:pt x="512" y="451"/>
                  <a:pt x="483" y="480"/>
                  <a:pt x="448" y="480"/>
                </a:cubicBezTo>
                <a:lnTo>
                  <a:pt x="64" y="480"/>
                </a:lnTo>
                <a:cubicBezTo>
                  <a:pt x="29" y="480"/>
                  <a:pt x="0" y="451"/>
                  <a:pt x="0" y="416"/>
                </a:cubicBezTo>
                <a:close/>
                <a:moveTo>
                  <a:pt x="160" y="128"/>
                </a:moveTo>
                <a:lnTo>
                  <a:pt x="160" y="192"/>
                </a:lnTo>
                <a:cubicBezTo>
                  <a:pt x="160" y="210"/>
                  <a:pt x="174" y="224"/>
                  <a:pt x="192" y="224"/>
                </a:cubicBezTo>
                <a:lnTo>
                  <a:pt x="256" y="224"/>
                </a:lnTo>
                <a:cubicBezTo>
                  <a:pt x="274" y="224"/>
                  <a:pt x="288" y="210"/>
                  <a:pt x="288" y="192"/>
                </a:cubicBezTo>
                <a:lnTo>
                  <a:pt x="288" y="128"/>
                </a:lnTo>
                <a:cubicBezTo>
                  <a:pt x="288" y="110"/>
                  <a:pt x="274" y="96"/>
                  <a:pt x="256" y="96"/>
                </a:cubicBezTo>
                <a:lnTo>
                  <a:pt x="192" y="96"/>
                </a:lnTo>
                <a:cubicBezTo>
                  <a:pt x="174" y="96"/>
                  <a:pt x="160" y="110"/>
                  <a:pt x="160" y="128"/>
                </a:cubicBezTo>
                <a:close/>
                <a:moveTo>
                  <a:pt x="184" y="368"/>
                </a:moveTo>
                <a:cubicBezTo>
                  <a:pt x="171" y="368"/>
                  <a:pt x="160" y="379"/>
                  <a:pt x="160" y="392"/>
                </a:cubicBezTo>
                <a:cubicBezTo>
                  <a:pt x="160" y="405"/>
                  <a:pt x="171" y="416"/>
                  <a:pt x="184" y="416"/>
                </a:cubicBezTo>
                <a:lnTo>
                  <a:pt x="424" y="416"/>
                </a:lnTo>
                <a:cubicBezTo>
                  <a:pt x="437" y="416"/>
                  <a:pt x="448" y="405"/>
                  <a:pt x="448" y="392"/>
                </a:cubicBezTo>
                <a:cubicBezTo>
                  <a:pt x="448" y="379"/>
                  <a:pt x="437" y="368"/>
                  <a:pt x="424" y="368"/>
                </a:cubicBezTo>
                <a:lnTo>
                  <a:pt x="184" y="368"/>
                </a:lnTo>
                <a:close/>
                <a:moveTo>
                  <a:pt x="160" y="296"/>
                </a:moveTo>
                <a:cubicBezTo>
                  <a:pt x="160" y="309"/>
                  <a:pt x="171" y="320"/>
                  <a:pt x="184" y="320"/>
                </a:cubicBezTo>
                <a:lnTo>
                  <a:pt x="424" y="320"/>
                </a:lnTo>
                <a:cubicBezTo>
                  <a:pt x="437" y="320"/>
                  <a:pt x="448" y="309"/>
                  <a:pt x="448" y="296"/>
                </a:cubicBezTo>
                <a:cubicBezTo>
                  <a:pt x="448" y="283"/>
                  <a:pt x="437" y="272"/>
                  <a:pt x="424" y="272"/>
                </a:cubicBezTo>
                <a:lnTo>
                  <a:pt x="184" y="272"/>
                </a:lnTo>
                <a:cubicBezTo>
                  <a:pt x="171" y="272"/>
                  <a:pt x="160" y="283"/>
                  <a:pt x="160" y="296"/>
                </a:cubicBezTo>
                <a:close/>
                <a:moveTo>
                  <a:pt x="360" y="176"/>
                </a:moveTo>
                <a:cubicBezTo>
                  <a:pt x="347" y="176"/>
                  <a:pt x="336" y="187"/>
                  <a:pt x="336" y="200"/>
                </a:cubicBezTo>
                <a:cubicBezTo>
                  <a:pt x="336" y="213"/>
                  <a:pt x="347" y="224"/>
                  <a:pt x="360" y="224"/>
                </a:cubicBezTo>
                <a:lnTo>
                  <a:pt x="424" y="224"/>
                </a:lnTo>
                <a:cubicBezTo>
                  <a:pt x="437" y="224"/>
                  <a:pt x="448" y="213"/>
                  <a:pt x="448" y="200"/>
                </a:cubicBezTo>
                <a:cubicBezTo>
                  <a:pt x="448" y="187"/>
                  <a:pt x="437" y="176"/>
                  <a:pt x="424" y="176"/>
                </a:cubicBezTo>
                <a:lnTo>
                  <a:pt x="360" y="176"/>
                </a:lnTo>
                <a:close/>
              </a:path>
            </a:pathLst>
          </a:custGeom>
          <a:solidFill>
            <a:srgbClr val="1E4D3B"/>
          </a:solidFill>
          <a:ln>
            <a:noFill/>
          </a:ln>
        </p:spPr>
      </p:sp>
      <p:sp>
        <p:nvSpPr>
          <p:cNvPr id="23" name="scene3-txt"/>
          <p:cNvSpPr txBox="1"/>
          <p:nvPr/>
        </p:nvSpPr>
        <p:spPr>
          <a:xfrm>
            <a:off x="1092200" y="5435600"/>
            <a:ext cx="57150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20000"/>
              </a:lnSpc>
            </a:pPr>
            <a:r>
              <a:rPr lang="en-US" sz="1300" b="1">
                <a:solidFill>
                  <a:srgbClr val="22211E"/>
                </a:solidFill>
                <a:latin typeface="MiSans"/>
                <a:ea typeface="MiSans"/>
              </a:rPr>
              <a:t>公众号与展会内容</a:t>
            </a:r>
            <a:endParaRPr lang="en-US" sz="1600"/>
          </a:p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6B675F"/>
                </a:solidFill>
                <a:latin typeface="MiSans"/>
                <a:ea typeface="MiSans"/>
              </a:rPr>
              <a:t>行业热点调研 → 初稿 → 品牌口吻改写 → 事实核查</a:t>
            </a:r>
            <a:endParaRPr lang="en-US" sz="1600"/>
          </a:p>
        </p:txBody>
      </p:sp>
      <p:sp>
        <p:nvSpPr>
          <p:cNvPr id="24" name="warn-bg"/>
          <p:cNvSpPr/>
          <p:nvPr/>
        </p:nvSpPr>
        <p:spPr>
          <a:xfrm>
            <a:off x="7112000" y="3886200"/>
            <a:ext cx="4368800" cy="1066800"/>
          </a:xfrm>
          <a:prstGeom prst="rect">
            <a:avLst/>
          </a:prstGeom>
          <a:solidFill>
            <a:srgbClr val="F7EBDC"/>
          </a:solidFill>
          <a:ln>
            <a:noFill/>
          </a:ln>
        </p:spPr>
      </p:sp>
      <p:sp>
        <p:nvSpPr>
          <p:cNvPr id="25" name="warn-icon"/>
          <p:cNvSpPr/>
          <p:nvPr>
            <p:extLst>
              <p:ext uri="{F5677B7D-0D2A-4D9B-9A5C-6D8D7D0E5A5D}">
                <pptd:icon encoding="base64url">eyJpY29uTmFtZSI6ImZhczp0cmlhbmdsZS1leGNsYW1hdGlvbiJ9</pptd:icon>
              </p:ext>
            </p:extLst>
          </p:nvPr>
        </p:nvSpPr>
        <p:spPr>
          <a:xfrm>
            <a:off x="7315200" y="40894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271" y="0"/>
                  <a:pt x="284" y="8"/>
                  <a:pt x="291" y="21"/>
                </a:cubicBezTo>
                <a:lnTo>
                  <a:pt x="507" y="421"/>
                </a:lnTo>
                <a:cubicBezTo>
                  <a:pt x="514" y="433"/>
                  <a:pt x="514" y="448"/>
                  <a:pt x="506" y="461"/>
                </a:cubicBezTo>
                <a:cubicBezTo>
                  <a:pt x="499" y="473"/>
                  <a:pt x="486" y="480"/>
                  <a:pt x="472" y="480"/>
                </a:cubicBezTo>
                <a:lnTo>
                  <a:pt x="40" y="480"/>
                </a:lnTo>
                <a:cubicBezTo>
                  <a:pt x="26" y="480"/>
                  <a:pt x="13" y="473"/>
                  <a:pt x="6" y="461"/>
                </a:cubicBezTo>
                <a:cubicBezTo>
                  <a:pt x="-2" y="448"/>
                  <a:pt x="-2" y="433"/>
                  <a:pt x="5" y="421"/>
                </a:cubicBezTo>
                <a:lnTo>
                  <a:pt x="221" y="21"/>
                </a:lnTo>
                <a:cubicBezTo>
                  <a:pt x="228" y="8"/>
                  <a:pt x="241" y="0"/>
                  <a:pt x="256" y="0"/>
                </a:cubicBezTo>
                <a:close/>
                <a:moveTo>
                  <a:pt x="256" y="352"/>
                </a:moveTo>
                <a:cubicBezTo>
                  <a:pt x="238" y="352"/>
                  <a:pt x="224" y="366"/>
                  <a:pt x="224" y="384"/>
                </a:cubicBezTo>
                <a:cubicBezTo>
                  <a:pt x="224" y="402"/>
                  <a:pt x="238" y="416"/>
                  <a:pt x="256" y="416"/>
                </a:cubicBezTo>
                <a:cubicBezTo>
                  <a:pt x="274" y="416"/>
                  <a:pt x="288" y="402"/>
                  <a:pt x="288" y="384"/>
                </a:cubicBezTo>
                <a:cubicBezTo>
                  <a:pt x="288" y="366"/>
                  <a:pt x="274" y="352"/>
                  <a:pt x="256" y="352"/>
                </a:cubicBezTo>
                <a:close/>
                <a:moveTo>
                  <a:pt x="256" y="160"/>
                </a:moveTo>
                <a:cubicBezTo>
                  <a:pt x="238" y="160"/>
                  <a:pt x="223" y="176"/>
                  <a:pt x="225" y="194"/>
                </a:cubicBezTo>
                <a:lnTo>
                  <a:pt x="232" y="298"/>
                </a:lnTo>
                <a:cubicBezTo>
                  <a:pt x="233" y="310"/>
                  <a:pt x="243" y="320"/>
                  <a:pt x="256" y="320"/>
                </a:cubicBezTo>
                <a:cubicBezTo>
                  <a:pt x="269" y="320"/>
                  <a:pt x="279" y="310"/>
                  <a:pt x="280" y="298"/>
                </a:cubicBezTo>
                <a:lnTo>
                  <a:pt x="287" y="194"/>
                </a:lnTo>
                <a:cubicBezTo>
                  <a:pt x="289" y="176"/>
                  <a:pt x="274" y="160"/>
                  <a:pt x="256" y="160"/>
                </a:cubicBezTo>
                <a:close/>
              </a:path>
            </a:pathLst>
          </a:custGeom>
          <a:solidFill>
            <a:srgbClr val="C26A2E"/>
          </a:solidFill>
          <a:ln>
            <a:noFill/>
          </a:ln>
        </p:spPr>
      </p:sp>
      <p:sp>
        <p:nvSpPr>
          <p:cNvPr id="26" name="warn-txt"/>
          <p:cNvSpPr txBox="1"/>
          <p:nvPr/>
        </p:nvSpPr>
        <p:spPr>
          <a:xfrm>
            <a:off x="7670800" y="3987800"/>
            <a:ext cx="36576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1300" b="1">
                <a:solidFill>
                  <a:srgbClr val="C26A2E"/>
                </a:solidFill>
                <a:latin typeface="MiSans"/>
                <a:ea typeface="MiSans"/>
              </a:rPr>
              <a:t>红线提醒:对外数字必须人工核验</a:t>
            </a:r>
            <a:endParaRPr lang="en-US" sz="1600"/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lang="en-US" sz="1100">
                <a:solidFill>
                  <a:srgbClr val="22211E"/>
                </a:solidFill>
                <a:latin typeface="MiSans"/>
                <a:ea typeface="MiSans"/>
              </a:rPr>
              <a:t>方案与标书中的每个数字、每条事实,发出前人工复核(护栏见第 18 页)。</a:t>
            </a:r>
            <a:endParaRPr lang="en-US" sz="1600"/>
          </a:p>
        </p:txBody>
      </p:sp>
      <p:sp>
        <p:nvSpPr>
          <p:cNvPr id="27" name="act-bg"/>
          <p:cNvSpPr/>
          <p:nvPr/>
        </p:nvSpPr>
        <p:spPr>
          <a:xfrm>
            <a:off x="7112000" y="5105400"/>
            <a:ext cx="4368800" cy="965200"/>
          </a:xfrm>
          <a:prstGeom prst="rect">
            <a:avLst/>
          </a:prstGeom>
          <a:solidFill>
            <a:srgbClr val="EAF1EC"/>
          </a:solidFill>
          <a:ln>
            <a:noFill/>
          </a:ln>
        </p:spPr>
      </p:sp>
      <p:sp>
        <p:nvSpPr>
          <p:cNvPr id="28" name="act-icon"/>
          <p:cNvSpPr/>
          <p:nvPr>
            <p:extLst>
              <p:ext uri="{F5677B7D-0D2A-4D9B-9A5C-6D8D7D0E5A5D}">
                <pptd:icon encoding="base64url">eyJpY29uTmFtZSI6ImZhczpjaXJjbGUtY2hlY2sifQ</pptd:icon>
              </p:ext>
            </p:extLst>
          </p:nvPr>
        </p:nvSpPr>
        <p:spPr>
          <a:xfrm>
            <a:off x="7315200" y="53086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374" y="146"/>
                </a:moveTo>
                <a:cubicBezTo>
                  <a:pt x="363" y="138"/>
                  <a:pt x="348" y="140"/>
                  <a:pt x="341" y="151"/>
                </a:cubicBezTo>
                <a:lnTo>
                  <a:pt x="221" y="315"/>
                </a:lnTo>
                <a:lnTo>
                  <a:pt x="169" y="263"/>
                </a:lnTo>
                <a:cubicBezTo>
                  <a:pt x="160" y="254"/>
                  <a:pt x="144" y="254"/>
                  <a:pt x="135" y="263"/>
                </a:cubicBezTo>
                <a:cubicBezTo>
                  <a:pt x="126" y="273"/>
                  <a:pt x="126" y="288"/>
                  <a:pt x="135" y="297"/>
                </a:cubicBezTo>
                <a:lnTo>
                  <a:pt x="207" y="369"/>
                </a:lnTo>
                <a:cubicBezTo>
                  <a:pt x="212" y="374"/>
                  <a:pt x="219" y="377"/>
                  <a:pt x="226" y="376"/>
                </a:cubicBezTo>
                <a:cubicBezTo>
                  <a:pt x="233" y="376"/>
                  <a:pt x="239" y="372"/>
                  <a:pt x="243" y="366"/>
                </a:cubicBezTo>
                <a:lnTo>
                  <a:pt x="379" y="179"/>
                </a:lnTo>
                <a:cubicBezTo>
                  <a:pt x="387" y="169"/>
                  <a:pt x="385" y="154"/>
                  <a:pt x="374" y="146"/>
                </a:cubicBezTo>
                <a:close/>
              </a:path>
            </a:pathLst>
          </a:custGeom>
          <a:solidFill>
            <a:srgbClr val="1E4D3B"/>
          </a:solidFill>
          <a:ln>
            <a:noFill/>
          </a:ln>
        </p:spPr>
      </p:sp>
      <p:sp>
        <p:nvSpPr>
          <p:cNvPr id="29" name="act-txt"/>
          <p:cNvSpPr txBox="1"/>
          <p:nvPr/>
        </p:nvSpPr>
        <p:spPr>
          <a:xfrm>
            <a:off x="7670800" y="5207000"/>
            <a:ext cx="36576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1300" b="1">
                <a:solidFill>
                  <a:srgbClr val="1E4D3B"/>
                </a:solidFill>
                <a:latin typeface="MiSans"/>
                <a:ea typeface="MiSans"/>
              </a:rPr>
              <a:t>本周行动</a:t>
            </a:r>
            <a:endParaRPr lang="en-US" sz="1600"/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lang="en-US" sz="1100">
                <a:solidFill>
                  <a:srgbClr val="22211E"/>
                </a:solidFill>
                <a:latin typeface="MiSans"/>
                <a:ea typeface="MiSans"/>
              </a:rPr>
              <a:t>下次写方案,先做 30 分钟 Deep Research 再动笔,调研简报附在方案后。</a:t>
            </a:r>
            <a:endParaRPr lang="en-US" sz="1600"/>
          </a:p>
        </p:txBody>
      </p:sp>
      <p:sp>
        <p:nvSpPr>
          <p:cNvPr id="30" name="footer-line"/>
          <p:cNvSpPr/>
          <p:nvPr/>
        </p:nvSpPr>
        <p:spPr>
          <a:xfrm>
            <a:off x="711200" y="6375400"/>
            <a:ext cx="10769600" cy="12700"/>
          </a:xfrm>
          <a:prstGeom prst="rect">
            <a:avLst/>
          </a:prstGeom>
          <a:solidFill>
            <a:srgbClr val="D8D3C8"/>
          </a:solidFill>
          <a:ln>
            <a:noFill/>
          </a:ln>
        </p:spPr>
      </p:sp>
      <p:sp>
        <p:nvSpPr>
          <p:cNvPr id="31" name="footer-left"/>
          <p:cNvSpPr txBox="1"/>
          <p:nvPr/>
        </p:nvSpPr>
        <p:spPr>
          <a:xfrm>
            <a:off x="711200" y="6477000"/>
            <a:ext cx="812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40000"/>
              </a:lnSpc>
            </a:pPr>
            <a:r>
              <a:rPr lang="en-US" sz="1000">
                <a:solidFill>
                  <a:srgbClr val="6B675F"/>
                </a:solidFill>
                <a:latin typeface="Liter"/>
                <a:ea typeface="Liter"/>
              </a:rPr>
              <a:t>东方智感 · AI 内训第三期 | 场景为教学演示,基于公开产品能力整理</a:t>
            </a:r>
            <a:endParaRPr lang="en-US" sz="1000"/>
          </a:p>
        </p:txBody>
      </p:sp>
      <p:sp>
        <p:nvSpPr>
          <p:cNvPr id="32" name="footer-page"/>
          <p:cNvSpPr txBox="1"/>
          <p:nvPr/>
        </p:nvSpPr>
        <p:spPr>
          <a:xfrm>
            <a:off x="10210800" y="64770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r">
              <a:lnSpc>
                <a:spcPct val="140000"/>
              </a:lnSpc>
            </a:pPr>
            <a:r>
              <a:rPr lang="en-US" sz="1000">
                <a:solidFill>
                  <a:srgbClr val="6B675F"/>
                </a:solidFill>
                <a:latin typeface="Liter"/>
                <a:ea typeface="Liter"/>
              </a:rPr>
              <a:t>22 / 35</a:t>
            </a:r>
            <a:endParaRPr lang="en-US" sz="1000"/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508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100" b="1" spc="200" kern="0">
                <a:solidFill>
                  <a:srgbClr val="C26A2E"/>
                </a:solidFill>
                <a:latin typeface="Liter"/>
                <a:ea typeface="Liter"/>
              </a:rPr>
              <a:t>04 岗位结合 · 交付与运维</a:t>
            </a:r>
            <a:endParaRPr lang="en-US" sz="1100"/>
          </a:p>
        </p:txBody>
      </p:sp>
      <p:sp>
        <p:nvSpPr>
          <p:cNvPr id="3" name="title"/>
          <p:cNvSpPr txBox="1"/>
          <p:nvPr/>
        </p:nvSpPr>
        <p:spPr>
          <a:xfrm>
            <a:off x="711200" y="787400"/>
            <a:ext cx="107696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22211E"/>
                </a:solidFill>
                <a:latin typeface="Liter"/>
                <a:ea typeface="Liter"/>
              </a:rPr>
              <a:t>让智能体先查一遍:人从「盯屏幕」变成「处理异常」</a:t>
            </a:r>
            <a:endParaRPr lang="en-US" sz="2600"/>
          </a:p>
        </p:txBody>
      </p:sp>
      <p:sp>
        <p:nvSpPr>
          <p:cNvPr id="4" name="flow1-circle"/>
          <p:cNvSpPr/>
          <p:nvPr/>
        </p:nvSpPr>
        <p:spPr>
          <a:xfrm>
            <a:off x="711200" y="1955800"/>
            <a:ext cx="355600" cy="355600"/>
          </a:xfrm>
          <a:prstGeom prst="ellipse">
            <a:avLst/>
          </a:prstGeom>
          <a:solidFill>
            <a:srgbClr val="1E4D3B"/>
          </a:solidFill>
          <a:ln>
            <a:noFill/>
          </a:ln>
        </p:spPr>
      </p:sp>
      <p:sp>
        <p:nvSpPr>
          <p:cNvPr id="5" name="flow1-num"/>
          <p:cNvSpPr txBox="1"/>
          <p:nvPr/>
        </p:nvSpPr>
        <p:spPr>
          <a:xfrm>
            <a:off x="711200" y="1955800"/>
            <a:ext cx="3556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300" b="1">
                <a:solidFill>
                  <a:srgbClr val="FFFFFF"/>
                </a:solidFill>
                <a:latin typeface="MiSans"/>
                <a:ea typeface="MiSans"/>
              </a:rPr>
              <a:t>1</a:t>
            </a:r>
            <a:endParaRPr lang="en-US" sz="1300"/>
          </a:p>
        </p:txBody>
      </p:sp>
      <p:sp>
        <p:nvSpPr>
          <p:cNvPr id="6" name="flow1-txt"/>
          <p:cNvSpPr txBox="1"/>
          <p:nvPr/>
        </p:nvSpPr>
        <p:spPr>
          <a:xfrm>
            <a:off x="1270000" y="1879600"/>
            <a:ext cx="4318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20000"/>
              </a:lnSpc>
            </a:pPr>
            <a:r>
              <a:rPr lang="en-US" sz="1300" b="1">
                <a:solidFill>
                  <a:srgbClr val="22211E"/>
                </a:solidFill>
                <a:latin typeface="MiSans"/>
                <a:ea typeface="MiSans"/>
              </a:rPr>
              <a:t>监测数据接入</a:t>
            </a:r>
            <a:endParaRPr lang="en-US" sz="1600"/>
          </a:p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6B675F"/>
                </a:solidFill>
                <a:latin typeface="MiSans"/>
                <a:ea typeface="MiSans"/>
              </a:rPr>
              <a:t>墒情 · 水位 · 雨量:智墒、天圻、山境站点数据(教学演示)</a:t>
            </a:r>
            <a:endParaRPr lang="en-US" sz="1600"/>
          </a:p>
        </p:txBody>
      </p:sp>
      <p:sp>
        <p:nvSpPr>
          <p:cNvPr id="7" name="flow-conn1"/>
          <p:cNvSpPr/>
          <p:nvPr/>
        </p:nvSpPr>
        <p:spPr>
          <a:xfrm>
            <a:off x="876300" y="2311400"/>
            <a:ext cx="25400" cy="457200"/>
          </a:xfrm>
          <a:prstGeom prst="rect">
            <a:avLst/>
          </a:prstGeom>
          <a:solidFill>
            <a:srgbClr val="1E4D3B"/>
          </a:solidFill>
          <a:ln>
            <a:noFill/>
          </a:ln>
        </p:spPr>
      </p:sp>
      <p:sp>
        <p:nvSpPr>
          <p:cNvPr id="8" name="flow2-circle"/>
          <p:cNvSpPr/>
          <p:nvPr/>
        </p:nvSpPr>
        <p:spPr>
          <a:xfrm>
            <a:off x="711200" y="2768600"/>
            <a:ext cx="355600" cy="355600"/>
          </a:xfrm>
          <a:prstGeom prst="ellipse">
            <a:avLst/>
          </a:prstGeom>
          <a:solidFill>
            <a:srgbClr val="1E4D3B"/>
          </a:solidFill>
          <a:ln>
            <a:noFill/>
          </a:ln>
        </p:spPr>
      </p:sp>
      <p:sp>
        <p:nvSpPr>
          <p:cNvPr id="9" name="flow2-num"/>
          <p:cNvSpPr txBox="1"/>
          <p:nvPr/>
        </p:nvSpPr>
        <p:spPr>
          <a:xfrm>
            <a:off x="711200" y="2768600"/>
            <a:ext cx="3556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300" b="1">
                <a:solidFill>
                  <a:srgbClr val="FFFFFF"/>
                </a:solidFill>
                <a:latin typeface="MiSans"/>
                <a:ea typeface="MiSans"/>
              </a:rPr>
              <a:t>2</a:t>
            </a:r>
            <a:endParaRPr lang="en-US" sz="1300"/>
          </a:p>
        </p:txBody>
      </p:sp>
      <p:sp>
        <p:nvSpPr>
          <p:cNvPr id="10" name="flow2-txt"/>
          <p:cNvSpPr txBox="1"/>
          <p:nvPr/>
        </p:nvSpPr>
        <p:spPr>
          <a:xfrm>
            <a:off x="1270000" y="2692400"/>
            <a:ext cx="4318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20000"/>
              </a:lnSpc>
            </a:pPr>
            <a:r>
              <a:rPr lang="en-US" sz="1300" b="1">
                <a:solidFill>
                  <a:srgbClr val="22211E"/>
                </a:solidFill>
                <a:latin typeface="MiSans"/>
                <a:ea typeface="MiSans"/>
              </a:rPr>
              <a:t>自动巡检</a:t>
            </a:r>
            <a:endParaRPr lang="en-US" sz="1600"/>
          </a:p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6B675F"/>
                </a:solidFill>
                <a:latin typeface="MiSans"/>
                <a:ea typeface="MiSans"/>
              </a:rPr>
              <a:t>缺数、漂移、超限——巡检规则就是循环的验证器</a:t>
            </a:r>
            <a:endParaRPr lang="en-US" sz="1600"/>
          </a:p>
        </p:txBody>
      </p:sp>
      <p:sp>
        <p:nvSpPr>
          <p:cNvPr id="11" name="flow-conn2"/>
          <p:cNvSpPr/>
          <p:nvPr/>
        </p:nvSpPr>
        <p:spPr>
          <a:xfrm>
            <a:off x="876300" y="3124200"/>
            <a:ext cx="25400" cy="457200"/>
          </a:xfrm>
          <a:prstGeom prst="rect">
            <a:avLst/>
          </a:prstGeom>
          <a:solidFill>
            <a:srgbClr val="1E4D3B"/>
          </a:solidFill>
          <a:ln>
            <a:noFill/>
          </a:ln>
        </p:spPr>
      </p:sp>
      <p:sp>
        <p:nvSpPr>
          <p:cNvPr id="12" name="flow3-circle"/>
          <p:cNvSpPr/>
          <p:nvPr/>
        </p:nvSpPr>
        <p:spPr>
          <a:xfrm>
            <a:off x="711200" y="3581400"/>
            <a:ext cx="355600" cy="355600"/>
          </a:xfrm>
          <a:prstGeom prst="ellipse">
            <a:avLst/>
          </a:prstGeom>
          <a:solidFill>
            <a:srgbClr val="1E4D3B"/>
          </a:solidFill>
          <a:ln>
            <a:noFill/>
          </a:ln>
        </p:spPr>
      </p:sp>
      <p:sp>
        <p:nvSpPr>
          <p:cNvPr id="13" name="flow3-num"/>
          <p:cNvSpPr txBox="1"/>
          <p:nvPr/>
        </p:nvSpPr>
        <p:spPr>
          <a:xfrm>
            <a:off x="711200" y="3581400"/>
            <a:ext cx="3556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300" b="1">
                <a:solidFill>
                  <a:srgbClr val="FFFFFF"/>
                </a:solidFill>
                <a:latin typeface="MiSans"/>
                <a:ea typeface="MiSans"/>
              </a:rPr>
              <a:t>3</a:t>
            </a:r>
            <a:endParaRPr lang="en-US" sz="1300"/>
          </a:p>
        </p:txBody>
      </p:sp>
      <p:sp>
        <p:nvSpPr>
          <p:cNvPr id="14" name="flow3-txt"/>
          <p:cNvSpPr txBox="1"/>
          <p:nvPr/>
        </p:nvSpPr>
        <p:spPr>
          <a:xfrm>
            <a:off x="1270000" y="3505200"/>
            <a:ext cx="4318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20000"/>
              </a:lnSpc>
            </a:pPr>
            <a:r>
              <a:rPr lang="en-US" sz="1300" b="1">
                <a:solidFill>
                  <a:srgbClr val="22211E"/>
                </a:solidFill>
                <a:latin typeface="MiSans"/>
                <a:ea typeface="MiSans"/>
              </a:rPr>
              <a:t>异常初判</a:t>
            </a:r>
            <a:endParaRPr lang="en-US" sz="1600"/>
          </a:p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6B675F"/>
                </a:solidFill>
                <a:latin typeface="MiSans"/>
                <a:ea typeface="MiSans"/>
              </a:rPr>
              <a:t>设备?网络?环境?附上判断依据与相关曲线</a:t>
            </a:r>
            <a:endParaRPr lang="en-US" sz="1600"/>
          </a:p>
        </p:txBody>
      </p:sp>
      <p:sp>
        <p:nvSpPr>
          <p:cNvPr id="15" name="flow-conn3"/>
          <p:cNvSpPr/>
          <p:nvPr/>
        </p:nvSpPr>
        <p:spPr>
          <a:xfrm>
            <a:off x="876300" y="3937000"/>
            <a:ext cx="25400" cy="457200"/>
          </a:xfrm>
          <a:prstGeom prst="rect">
            <a:avLst/>
          </a:prstGeom>
          <a:solidFill>
            <a:srgbClr val="1E4D3B"/>
          </a:solidFill>
          <a:ln>
            <a:noFill/>
          </a:ln>
        </p:spPr>
      </p:sp>
      <p:sp>
        <p:nvSpPr>
          <p:cNvPr id="16" name="flow4-circle"/>
          <p:cNvSpPr/>
          <p:nvPr/>
        </p:nvSpPr>
        <p:spPr>
          <a:xfrm>
            <a:off x="711200" y="4394200"/>
            <a:ext cx="355600" cy="355600"/>
          </a:xfrm>
          <a:prstGeom prst="ellipse">
            <a:avLst/>
          </a:prstGeom>
          <a:solidFill>
            <a:srgbClr val="1E4D3B"/>
          </a:solidFill>
          <a:ln>
            <a:noFill/>
          </a:ln>
        </p:spPr>
      </p:sp>
      <p:sp>
        <p:nvSpPr>
          <p:cNvPr id="17" name="flow4-num"/>
          <p:cNvSpPr txBox="1"/>
          <p:nvPr/>
        </p:nvSpPr>
        <p:spPr>
          <a:xfrm>
            <a:off x="711200" y="4394200"/>
            <a:ext cx="3556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300" b="1">
                <a:solidFill>
                  <a:srgbClr val="FFFFFF"/>
                </a:solidFill>
                <a:latin typeface="MiSans"/>
                <a:ea typeface="MiSans"/>
              </a:rPr>
              <a:t>4</a:t>
            </a:r>
            <a:endParaRPr lang="en-US" sz="1300"/>
          </a:p>
        </p:txBody>
      </p:sp>
      <p:sp>
        <p:nvSpPr>
          <p:cNvPr id="18" name="flow4-txt"/>
          <p:cNvSpPr txBox="1"/>
          <p:nvPr/>
        </p:nvSpPr>
        <p:spPr>
          <a:xfrm>
            <a:off x="1270000" y="4318000"/>
            <a:ext cx="4318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20000"/>
              </a:lnSpc>
            </a:pPr>
            <a:r>
              <a:rPr lang="en-US" sz="1300" b="1">
                <a:solidFill>
                  <a:srgbClr val="22211E"/>
                </a:solidFill>
                <a:latin typeface="MiSans"/>
                <a:ea typeface="MiSans"/>
              </a:rPr>
              <a:t>工单草稿</a:t>
            </a:r>
            <a:endParaRPr lang="en-US" sz="1600"/>
          </a:p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6B675F"/>
                </a:solidFill>
                <a:latin typeface="MiSans"/>
                <a:ea typeface="MiSans"/>
              </a:rPr>
              <a:t>异常描述 + 初判结论 + 建议处置动作,自动生成</a:t>
            </a:r>
            <a:endParaRPr lang="en-US" sz="1600"/>
          </a:p>
        </p:txBody>
      </p:sp>
      <p:sp>
        <p:nvSpPr>
          <p:cNvPr id="19" name="flow-conn4"/>
          <p:cNvSpPr/>
          <p:nvPr/>
        </p:nvSpPr>
        <p:spPr>
          <a:xfrm>
            <a:off x="876300" y="4749800"/>
            <a:ext cx="25400" cy="457200"/>
          </a:xfrm>
          <a:prstGeom prst="rect">
            <a:avLst/>
          </a:prstGeom>
          <a:solidFill>
            <a:srgbClr val="1E4D3B"/>
          </a:solidFill>
          <a:ln>
            <a:noFill/>
          </a:ln>
        </p:spPr>
      </p:sp>
      <p:sp>
        <p:nvSpPr>
          <p:cNvPr id="20" name="flow5-circle"/>
          <p:cNvSpPr/>
          <p:nvPr/>
        </p:nvSpPr>
        <p:spPr>
          <a:xfrm>
            <a:off x="711200" y="5207000"/>
            <a:ext cx="355600" cy="355600"/>
          </a:xfrm>
          <a:prstGeom prst="ellipse">
            <a:avLst/>
          </a:prstGeom>
          <a:solidFill>
            <a:srgbClr val="C26A2E"/>
          </a:solidFill>
          <a:ln>
            <a:noFill/>
          </a:ln>
        </p:spPr>
      </p:sp>
      <p:sp>
        <p:nvSpPr>
          <p:cNvPr id="21" name="flow5-num"/>
          <p:cNvSpPr txBox="1"/>
          <p:nvPr/>
        </p:nvSpPr>
        <p:spPr>
          <a:xfrm>
            <a:off x="711200" y="5207000"/>
            <a:ext cx="3556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300" b="1">
                <a:solidFill>
                  <a:srgbClr val="FFFFFF"/>
                </a:solidFill>
                <a:latin typeface="MiSans"/>
                <a:ea typeface="MiSans"/>
              </a:rPr>
              <a:t>5</a:t>
            </a:r>
            <a:endParaRPr lang="en-US" sz="1300"/>
          </a:p>
        </p:txBody>
      </p:sp>
      <p:sp>
        <p:nvSpPr>
          <p:cNvPr id="22" name="flow5-txt"/>
          <p:cNvSpPr txBox="1"/>
          <p:nvPr/>
        </p:nvSpPr>
        <p:spPr>
          <a:xfrm>
            <a:off x="1270000" y="5130800"/>
            <a:ext cx="4318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20000"/>
              </a:lnSpc>
            </a:pPr>
            <a:r>
              <a:rPr lang="en-US" sz="1300" b="1">
                <a:solidFill>
                  <a:srgbClr val="C26A2E"/>
                </a:solidFill>
                <a:latin typeface="MiSans"/>
                <a:ea typeface="MiSans"/>
              </a:rPr>
              <a:t>人确认派单</a:t>
            </a:r>
            <a:endParaRPr lang="en-US" sz="1600"/>
          </a:p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6B675F"/>
                </a:solidFill>
                <a:latin typeface="MiSans"/>
                <a:ea typeface="MiSans"/>
              </a:rPr>
              <a:t>确认后派单;处置结果回流,下轮巡检更准</a:t>
            </a:r>
            <a:endParaRPr lang="en-US" sz="1600"/>
          </a:p>
        </p:txBody>
      </p:sp>
      <p:sp>
        <p:nvSpPr>
          <p:cNvPr id="23" name="flow-loop-icon"/>
          <p:cNvSpPr/>
          <p:nvPr>
            <p:extLst>
              <p:ext uri="{F5677B7D-0D2A-4D9B-9A5C-6D8D7D0E5A5D}">
                <pptd:icon encoding="base64url">eyJpY29uTmFtZSI6ImZhczphcnJvd3Mtcm90YXRlIn0</pptd:icon>
              </p:ext>
            </p:extLst>
          </p:nvPr>
        </p:nvSpPr>
        <p:spPr>
          <a:xfrm>
            <a:off x="1270000" y="58674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66" y="229"/>
                </a:moveTo>
                <a:cubicBezTo>
                  <a:pt x="79" y="136"/>
                  <a:pt x="159" y="64"/>
                  <a:pt x="256" y="64"/>
                </a:cubicBezTo>
                <a:cubicBezTo>
                  <a:pt x="309" y="64"/>
                  <a:pt x="357" y="86"/>
                  <a:pt x="392" y="120"/>
                </a:cubicBezTo>
                <a:cubicBezTo>
                  <a:pt x="392" y="120"/>
                  <a:pt x="392" y="121"/>
                  <a:pt x="392" y="121"/>
                </a:cubicBezTo>
                <a:lnTo>
                  <a:pt x="400" y="128"/>
                </a:lnTo>
                <a:lnTo>
                  <a:pt x="352" y="128"/>
                </a:lnTo>
                <a:cubicBezTo>
                  <a:pt x="334" y="128"/>
                  <a:pt x="320" y="142"/>
                  <a:pt x="320" y="160"/>
                </a:cubicBezTo>
                <a:cubicBezTo>
                  <a:pt x="320" y="178"/>
                  <a:pt x="334" y="192"/>
                  <a:pt x="352" y="192"/>
                </a:cubicBezTo>
                <a:lnTo>
                  <a:pt x="480" y="192"/>
                </a:lnTo>
                <a:cubicBezTo>
                  <a:pt x="498" y="192"/>
                  <a:pt x="512" y="178"/>
                  <a:pt x="512" y="160"/>
                </a:cubicBezTo>
                <a:lnTo>
                  <a:pt x="512" y="32"/>
                </a:lnTo>
                <a:cubicBezTo>
                  <a:pt x="512" y="14"/>
                  <a:pt x="498" y="0"/>
                  <a:pt x="480" y="0"/>
                </a:cubicBezTo>
                <a:cubicBezTo>
                  <a:pt x="462" y="0"/>
                  <a:pt x="448" y="14"/>
                  <a:pt x="448" y="32"/>
                </a:cubicBezTo>
                <a:lnTo>
                  <a:pt x="448" y="85"/>
                </a:lnTo>
                <a:lnTo>
                  <a:pt x="437" y="75"/>
                </a:lnTo>
                <a:cubicBezTo>
                  <a:pt x="391" y="29"/>
                  <a:pt x="327" y="0"/>
                  <a:pt x="256" y="0"/>
                </a:cubicBezTo>
                <a:cubicBezTo>
                  <a:pt x="127" y="0"/>
                  <a:pt x="20" y="95"/>
                  <a:pt x="3" y="220"/>
                </a:cubicBezTo>
                <a:cubicBezTo>
                  <a:pt x="0" y="237"/>
                  <a:pt x="12" y="253"/>
                  <a:pt x="30" y="256"/>
                </a:cubicBezTo>
                <a:cubicBezTo>
                  <a:pt x="47" y="258"/>
                  <a:pt x="63" y="246"/>
                  <a:pt x="66" y="229"/>
                </a:cubicBezTo>
                <a:close/>
                <a:moveTo>
                  <a:pt x="509" y="293"/>
                </a:moveTo>
                <a:cubicBezTo>
                  <a:pt x="512" y="275"/>
                  <a:pt x="500" y="259"/>
                  <a:pt x="482" y="256"/>
                </a:cubicBezTo>
                <a:cubicBezTo>
                  <a:pt x="465" y="254"/>
                  <a:pt x="449" y="266"/>
                  <a:pt x="446" y="283"/>
                </a:cubicBezTo>
                <a:cubicBezTo>
                  <a:pt x="433" y="376"/>
                  <a:pt x="353" y="448"/>
                  <a:pt x="256" y="448"/>
                </a:cubicBezTo>
                <a:cubicBezTo>
                  <a:pt x="203" y="448"/>
                  <a:pt x="155" y="426"/>
                  <a:pt x="120" y="392"/>
                </a:cubicBezTo>
                <a:cubicBezTo>
                  <a:pt x="120" y="392"/>
                  <a:pt x="120" y="391"/>
                  <a:pt x="120" y="391"/>
                </a:cubicBezTo>
                <a:lnTo>
                  <a:pt x="112" y="384"/>
                </a:lnTo>
                <a:lnTo>
                  <a:pt x="160" y="384"/>
                </a:lnTo>
                <a:cubicBezTo>
                  <a:pt x="178" y="384"/>
                  <a:pt x="192" y="370"/>
                  <a:pt x="192" y="352"/>
                </a:cubicBezTo>
                <a:cubicBezTo>
                  <a:pt x="192" y="334"/>
                  <a:pt x="178" y="320"/>
                  <a:pt x="160" y="320"/>
                </a:cubicBezTo>
                <a:lnTo>
                  <a:pt x="32" y="320"/>
                </a:lnTo>
                <a:cubicBezTo>
                  <a:pt x="24" y="320"/>
                  <a:pt x="15" y="323"/>
                  <a:pt x="9" y="330"/>
                </a:cubicBezTo>
                <a:cubicBezTo>
                  <a:pt x="3" y="336"/>
                  <a:pt x="0" y="344"/>
                  <a:pt x="0" y="352"/>
                </a:cubicBezTo>
                <a:lnTo>
                  <a:pt x="1" y="479"/>
                </a:lnTo>
                <a:cubicBezTo>
                  <a:pt x="1" y="497"/>
                  <a:pt x="16" y="511"/>
                  <a:pt x="33" y="511"/>
                </a:cubicBezTo>
                <a:cubicBezTo>
                  <a:pt x="51" y="511"/>
                  <a:pt x="65" y="496"/>
                  <a:pt x="65" y="479"/>
                </a:cubicBezTo>
                <a:lnTo>
                  <a:pt x="65" y="427"/>
                </a:lnTo>
                <a:lnTo>
                  <a:pt x="75" y="437"/>
                </a:lnTo>
                <a:cubicBezTo>
                  <a:pt x="122" y="483"/>
                  <a:pt x="186" y="512"/>
                  <a:pt x="256" y="512"/>
                </a:cubicBezTo>
                <a:cubicBezTo>
                  <a:pt x="385" y="512"/>
                  <a:pt x="492" y="417"/>
                  <a:pt x="509" y="293"/>
                </a:cubicBezTo>
                <a:close/>
              </a:path>
            </a:pathLst>
          </a:custGeom>
          <a:solidFill>
            <a:srgbClr val="1E4D3B"/>
          </a:solidFill>
          <a:ln>
            <a:noFill/>
          </a:ln>
        </p:spPr>
      </p:sp>
      <p:sp>
        <p:nvSpPr>
          <p:cNvPr id="24" name="flow-loop-txt"/>
          <p:cNvSpPr txBox="1"/>
          <p:nvPr/>
        </p:nvSpPr>
        <p:spPr>
          <a:xfrm>
            <a:off x="1574800" y="5842000"/>
            <a:ext cx="4013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50000"/>
              </a:lnSpc>
            </a:pPr>
            <a:r>
              <a:rPr lang="en-US" sz="1100">
                <a:solidFill>
                  <a:srgbClr val="6B675F"/>
                </a:solidFill>
                <a:latin typeface="Liter"/>
                <a:ea typeface="Liter"/>
              </a:rPr>
              <a:t>循环 7×24 持续运转,夜间与周末不间断</a:t>
            </a:r>
            <a:endParaRPr lang="en-US" sz="1100"/>
          </a:p>
        </p:txBody>
      </p:sp>
      <p:sp>
        <p:nvSpPr>
          <p:cNvPr id="25" name="scene-h"/>
          <p:cNvSpPr txBox="1"/>
          <p:nvPr/>
        </p:nvSpPr>
        <p:spPr>
          <a:xfrm>
            <a:off x="5842000" y="17780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E4D3B"/>
                </a:solidFill>
                <a:latin typeface="Liter"/>
                <a:ea typeface="Liter"/>
              </a:rPr>
              <a:t>落地场景(教学演示)</a:t>
            </a:r>
            <a:endParaRPr lang="en-US" sz="1500"/>
          </a:p>
        </p:txBody>
      </p:sp>
      <p:sp>
        <p:nvSpPr>
          <p:cNvPr id="26" name="scene1-icon"/>
          <p:cNvSpPr/>
          <p:nvPr>
            <p:extLst>
              <p:ext uri="{F5677B7D-0D2A-4D9B-9A5C-6D8D7D0E5A5D}">
                <pptd:icon encoding="base64url">eyJpY29uTmFtZSI6ImZhczptb3VudGFpbiJ9</pptd:icon>
              </p:ext>
            </p:extLst>
          </p:nvPr>
        </p:nvSpPr>
        <p:spPr>
          <a:xfrm>
            <a:off x="5842000" y="2184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7" y="0"/>
                </a:moveTo>
                <a:cubicBezTo>
                  <a:pt x="271" y="0"/>
                  <a:pt x="285" y="8"/>
                  <a:pt x="292" y="21"/>
                </a:cubicBezTo>
                <a:lnTo>
                  <a:pt x="508" y="421"/>
                </a:lnTo>
                <a:cubicBezTo>
                  <a:pt x="514" y="433"/>
                  <a:pt x="514" y="448"/>
                  <a:pt x="507" y="461"/>
                </a:cubicBezTo>
                <a:cubicBezTo>
                  <a:pt x="500" y="473"/>
                  <a:pt x="487" y="480"/>
                  <a:pt x="473" y="480"/>
                </a:cubicBezTo>
                <a:lnTo>
                  <a:pt x="41" y="480"/>
                </a:lnTo>
                <a:cubicBezTo>
                  <a:pt x="26" y="480"/>
                  <a:pt x="13" y="473"/>
                  <a:pt x="6" y="461"/>
                </a:cubicBezTo>
                <a:cubicBezTo>
                  <a:pt x="-1" y="448"/>
                  <a:pt x="-1" y="433"/>
                  <a:pt x="5" y="421"/>
                </a:cubicBezTo>
                <a:lnTo>
                  <a:pt x="221" y="21"/>
                </a:lnTo>
                <a:lnTo>
                  <a:pt x="224" y="16"/>
                </a:lnTo>
                <a:cubicBezTo>
                  <a:pt x="232" y="6"/>
                  <a:pt x="244" y="0"/>
                  <a:pt x="257" y="0"/>
                </a:cubicBezTo>
                <a:close/>
                <a:moveTo>
                  <a:pt x="170" y="250"/>
                </a:moveTo>
                <a:lnTo>
                  <a:pt x="197" y="277"/>
                </a:lnTo>
                <a:cubicBezTo>
                  <a:pt x="203" y="283"/>
                  <a:pt x="214" y="283"/>
                  <a:pt x="220" y="277"/>
                </a:cubicBezTo>
                <a:lnTo>
                  <a:pt x="263" y="233"/>
                </a:lnTo>
                <a:cubicBezTo>
                  <a:pt x="269" y="227"/>
                  <a:pt x="277" y="224"/>
                  <a:pt x="286" y="224"/>
                </a:cubicBezTo>
                <a:lnTo>
                  <a:pt x="329" y="224"/>
                </a:lnTo>
                <a:lnTo>
                  <a:pt x="256" y="90"/>
                </a:lnTo>
                <a:lnTo>
                  <a:pt x="170" y="250"/>
                </a:lnTo>
                <a:close/>
              </a:path>
            </a:pathLst>
          </a:custGeom>
          <a:solidFill>
            <a:srgbClr val="1E4D3B"/>
          </a:solidFill>
          <a:ln>
            <a:noFill/>
          </a:ln>
        </p:spPr>
      </p:sp>
      <p:sp>
        <p:nvSpPr>
          <p:cNvPr id="27" name="scene1-txt"/>
          <p:cNvSpPr txBox="1"/>
          <p:nvPr/>
        </p:nvSpPr>
        <p:spPr>
          <a:xfrm>
            <a:off x="6223000" y="2133600"/>
            <a:ext cx="52578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20000"/>
              </a:lnSpc>
            </a:pPr>
            <a:r>
              <a:rPr lang="en-US" sz="1300" b="1">
                <a:solidFill>
                  <a:srgbClr val="22211E"/>
                </a:solidFill>
                <a:latin typeface="MiSans"/>
                <a:ea typeface="MiSans"/>
              </a:rPr>
              <a:t>山境地灾监测</a:t>
            </a:r>
            <a:endParaRPr lang="en-US" sz="1600"/>
          </a:p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6B675F"/>
                </a:solidFill>
                <a:latin typeface="MiSans"/>
                <a:ea typeface="MiSans"/>
              </a:rPr>
              <a:t>雨量与位移数据异常,智能体先初判、再叫醒值守人</a:t>
            </a:r>
            <a:endParaRPr lang="en-US" sz="1600"/>
          </a:p>
        </p:txBody>
      </p:sp>
      <p:sp>
        <p:nvSpPr>
          <p:cNvPr id="28" name="scene2-icon"/>
          <p:cNvSpPr/>
          <p:nvPr>
            <p:extLst>
              <p:ext uri="{F5677B7D-0D2A-4D9B-9A5C-6D8D7D0E5A5D}">
                <pptd:icon encoding="base64url">eyJpY29uTmFtZSI6ImZhczp0b3dlci1icm9hZGNhc3QifQ</pptd:icon>
              </p:ext>
            </p:extLst>
          </p:nvPr>
        </p:nvSpPr>
        <p:spPr>
          <a:xfrm>
            <a:off x="5842000" y="2794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88" y="12"/>
                </a:moveTo>
                <a:cubicBezTo>
                  <a:pt x="77" y="5"/>
                  <a:pt x="62" y="8"/>
                  <a:pt x="55" y="20"/>
                </a:cubicBezTo>
                <a:cubicBezTo>
                  <a:pt x="30" y="61"/>
                  <a:pt x="16" y="109"/>
                  <a:pt x="16" y="160"/>
                </a:cubicBezTo>
                <a:cubicBezTo>
                  <a:pt x="16" y="211"/>
                  <a:pt x="30" y="259"/>
                  <a:pt x="55" y="300"/>
                </a:cubicBezTo>
                <a:cubicBezTo>
                  <a:pt x="62" y="312"/>
                  <a:pt x="77" y="315"/>
                  <a:pt x="88" y="309"/>
                </a:cubicBezTo>
                <a:cubicBezTo>
                  <a:pt x="99" y="302"/>
                  <a:pt x="103" y="287"/>
                  <a:pt x="96" y="276"/>
                </a:cubicBezTo>
                <a:cubicBezTo>
                  <a:pt x="76" y="242"/>
                  <a:pt x="64" y="202"/>
                  <a:pt x="64" y="160"/>
                </a:cubicBezTo>
                <a:cubicBezTo>
                  <a:pt x="64" y="118"/>
                  <a:pt x="76" y="78"/>
                  <a:pt x="96" y="44"/>
                </a:cubicBezTo>
                <a:cubicBezTo>
                  <a:pt x="103" y="33"/>
                  <a:pt x="99" y="18"/>
                  <a:pt x="88" y="11"/>
                </a:cubicBezTo>
                <a:close/>
                <a:moveTo>
                  <a:pt x="488" y="12"/>
                </a:moveTo>
                <a:cubicBezTo>
                  <a:pt x="477" y="18"/>
                  <a:pt x="473" y="33"/>
                  <a:pt x="480" y="45"/>
                </a:cubicBezTo>
                <a:cubicBezTo>
                  <a:pt x="500" y="78"/>
                  <a:pt x="512" y="118"/>
                  <a:pt x="512" y="160"/>
                </a:cubicBezTo>
                <a:cubicBezTo>
                  <a:pt x="512" y="202"/>
                  <a:pt x="500" y="242"/>
                  <a:pt x="480" y="276"/>
                </a:cubicBezTo>
                <a:cubicBezTo>
                  <a:pt x="473" y="287"/>
                  <a:pt x="477" y="302"/>
                  <a:pt x="488" y="309"/>
                </a:cubicBezTo>
                <a:cubicBezTo>
                  <a:pt x="499" y="316"/>
                  <a:pt x="514" y="312"/>
                  <a:pt x="521" y="301"/>
                </a:cubicBezTo>
                <a:cubicBezTo>
                  <a:pt x="546" y="260"/>
                  <a:pt x="560" y="211"/>
                  <a:pt x="560" y="160"/>
                </a:cubicBezTo>
                <a:cubicBezTo>
                  <a:pt x="560" y="109"/>
                  <a:pt x="546" y="61"/>
                  <a:pt x="521" y="20"/>
                </a:cubicBezTo>
                <a:cubicBezTo>
                  <a:pt x="514" y="8"/>
                  <a:pt x="499" y="5"/>
                  <a:pt x="488" y="12"/>
                </a:cubicBezTo>
                <a:close/>
                <a:moveTo>
                  <a:pt x="320" y="215"/>
                </a:moveTo>
                <a:cubicBezTo>
                  <a:pt x="339" y="204"/>
                  <a:pt x="352" y="184"/>
                  <a:pt x="352" y="160"/>
                </a:cubicBezTo>
                <a:cubicBezTo>
                  <a:pt x="352" y="125"/>
                  <a:pt x="323" y="96"/>
                  <a:pt x="288" y="96"/>
                </a:cubicBezTo>
                <a:cubicBezTo>
                  <a:pt x="253" y="96"/>
                  <a:pt x="224" y="125"/>
                  <a:pt x="224" y="160"/>
                </a:cubicBezTo>
                <a:cubicBezTo>
                  <a:pt x="224" y="184"/>
                  <a:pt x="237" y="204"/>
                  <a:pt x="256" y="215"/>
                </a:cubicBezTo>
                <a:lnTo>
                  <a:pt x="256" y="480"/>
                </a:lnTo>
                <a:cubicBezTo>
                  <a:pt x="256" y="498"/>
                  <a:pt x="270" y="512"/>
                  <a:pt x="288" y="512"/>
                </a:cubicBezTo>
                <a:cubicBezTo>
                  <a:pt x="306" y="512"/>
                  <a:pt x="320" y="498"/>
                  <a:pt x="320" y="480"/>
                </a:cubicBezTo>
                <a:lnTo>
                  <a:pt x="320" y="215"/>
                </a:lnTo>
                <a:close/>
                <a:moveTo>
                  <a:pt x="180" y="91"/>
                </a:moveTo>
                <a:cubicBezTo>
                  <a:pt x="187" y="80"/>
                  <a:pt x="184" y="65"/>
                  <a:pt x="173" y="58"/>
                </a:cubicBezTo>
                <a:cubicBezTo>
                  <a:pt x="162" y="51"/>
                  <a:pt x="147" y="54"/>
                  <a:pt x="140" y="65"/>
                </a:cubicBezTo>
                <a:cubicBezTo>
                  <a:pt x="122" y="92"/>
                  <a:pt x="112" y="125"/>
                  <a:pt x="112" y="160"/>
                </a:cubicBezTo>
                <a:cubicBezTo>
                  <a:pt x="112" y="195"/>
                  <a:pt x="122" y="228"/>
                  <a:pt x="140" y="255"/>
                </a:cubicBezTo>
                <a:cubicBezTo>
                  <a:pt x="147" y="266"/>
                  <a:pt x="162" y="269"/>
                  <a:pt x="173" y="262"/>
                </a:cubicBezTo>
                <a:cubicBezTo>
                  <a:pt x="184" y="255"/>
                  <a:pt x="187" y="240"/>
                  <a:pt x="180" y="229"/>
                </a:cubicBezTo>
                <a:cubicBezTo>
                  <a:pt x="167" y="209"/>
                  <a:pt x="160" y="185"/>
                  <a:pt x="160" y="160"/>
                </a:cubicBezTo>
                <a:cubicBezTo>
                  <a:pt x="160" y="135"/>
                  <a:pt x="167" y="111"/>
                  <a:pt x="180" y="91"/>
                </a:cubicBezTo>
                <a:close/>
                <a:moveTo>
                  <a:pt x="436" y="65"/>
                </a:moveTo>
                <a:cubicBezTo>
                  <a:pt x="429" y="54"/>
                  <a:pt x="414" y="51"/>
                  <a:pt x="403" y="58"/>
                </a:cubicBezTo>
                <a:cubicBezTo>
                  <a:pt x="392" y="65"/>
                  <a:pt x="389" y="80"/>
                  <a:pt x="396" y="91"/>
                </a:cubicBezTo>
                <a:cubicBezTo>
                  <a:pt x="409" y="111"/>
                  <a:pt x="416" y="135"/>
                  <a:pt x="416" y="160"/>
                </a:cubicBezTo>
                <a:cubicBezTo>
                  <a:pt x="416" y="185"/>
                  <a:pt x="409" y="209"/>
                  <a:pt x="396" y="229"/>
                </a:cubicBezTo>
                <a:cubicBezTo>
                  <a:pt x="389" y="240"/>
                  <a:pt x="392" y="255"/>
                  <a:pt x="403" y="262"/>
                </a:cubicBezTo>
                <a:cubicBezTo>
                  <a:pt x="414" y="269"/>
                  <a:pt x="429" y="266"/>
                  <a:pt x="436" y="255"/>
                </a:cubicBezTo>
                <a:cubicBezTo>
                  <a:pt x="454" y="228"/>
                  <a:pt x="464" y="195"/>
                  <a:pt x="464" y="160"/>
                </a:cubicBezTo>
                <a:cubicBezTo>
                  <a:pt x="464" y="125"/>
                  <a:pt x="454" y="92"/>
                  <a:pt x="436" y="65"/>
                </a:cubicBezTo>
                <a:close/>
              </a:path>
            </a:pathLst>
          </a:custGeom>
          <a:solidFill>
            <a:srgbClr val="1E4D3B"/>
          </a:solidFill>
          <a:ln>
            <a:noFill/>
          </a:ln>
        </p:spPr>
      </p:sp>
      <p:sp>
        <p:nvSpPr>
          <p:cNvPr id="29" name="scene2-txt"/>
          <p:cNvSpPr txBox="1"/>
          <p:nvPr/>
        </p:nvSpPr>
        <p:spPr>
          <a:xfrm>
            <a:off x="6223000" y="2743200"/>
            <a:ext cx="52578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20000"/>
              </a:lnSpc>
            </a:pPr>
            <a:r>
              <a:rPr lang="en-US" sz="1300" b="1">
                <a:solidFill>
                  <a:srgbClr val="22211E"/>
                </a:solidFill>
                <a:latin typeface="MiSans"/>
                <a:ea typeface="MiSans"/>
              </a:rPr>
              <a:t>天圻生态站运维</a:t>
            </a:r>
            <a:endParaRPr lang="en-US" sz="1600"/>
          </a:p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6B675F"/>
                </a:solidFill>
                <a:latin typeface="MiSans"/>
                <a:ea typeface="MiSans"/>
              </a:rPr>
              <a:t>多要素站数据自动巡检,漂移早发现、少跑现场</a:t>
            </a:r>
            <a:endParaRPr lang="en-US" sz="1600"/>
          </a:p>
        </p:txBody>
      </p:sp>
      <p:sp>
        <p:nvSpPr>
          <p:cNvPr id="30" name="right-divider"/>
          <p:cNvSpPr/>
          <p:nvPr/>
        </p:nvSpPr>
        <p:spPr>
          <a:xfrm>
            <a:off x="5842000" y="3454400"/>
            <a:ext cx="5638800" cy="12700"/>
          </a:xfrm>
          <a:prstGeom prst="rect">
            <a:avLst/>
          </a:prstGeom>
          <a:solidFill>
            <a:srgbClr val="D8D3C8"/>
          </a:solidFill>
          <a:ln>
            <a:noFill/>
          </a:ln>
        </p:spPr>
      </p:sp>
      <p:sp>
        <p:nvSpPr>
          <p:cNvPr id="31" name="value-icon"/>
          <p:cNvSpPr/>
          <p:nvPr>
            <p:extLst>
              <p:ext uri="{F5677B7D-0D2A-4D9B-9A5C-6D8D7D0E5A5D}">
                <pptd:icon encoding="base64url">eyJpY29uTmFtZSI6ImZhczptb29uIn0</pptd:icon>
              </p:ext>
            </p:extLst>
          </p:nvPr>
        </p:nvSpPr>
        <p:spPr>
          <a:xfrm>
            <a:off x="5842000" y="3708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115" y="0"/>
                  <a:pt x="0" y="115"/>
                  <a:pt x="0" y="256"/>
                </a:cubicBezTo>
                <a:cubicBezTo>
                  <a:pt x="0" y="397"/>
                  <a:pt x="115" y="512"/>
                  <a:pt x="256" y="512"/>
                </a:cubicBezTo>
                <a:cubicBezTo>
                  <a:pt x="325" y="512"/>
                  <a:pt x="387" y="485"/>
                  <a:pt x="433" y="441"/>
                </a:cubicBezTo>
                <a:cubicBezTo>
                  <a:pt x="441" y="434"/>
                  <a:pt x="443" y="423"/>
                  <a:pt x="439" y="414"/>
                </a:cubicBezTo>
                <a:cubicBezTo>
                  <a:pt x="435" y="404"/>
                  <a:pt x="425" y="399"/>
                  <a:pt x="415" y="399"/>
                </a:cubicBezTo>
                <a:cubicBezTo>
                  <a:pt x="410" y="400"/>
                  <a:pt x="405" y="400"/>
                  <a:pt x="400" y="400"/>
                </a:cubicBezTo>
                <a:cubicBezTo>
                  <a:pt x="298" y="400"/>
                  <a:pt x="216" y="318"/>
                  <a:pt x="216" y="216"/>
                </a:cubicBezTo>
                <a:cubicBezTo>
                  <a:pt x="216" y="144"/>
                  <a:pt x="258" y="81"/>
                  <a:pt x="318" y="51"/>
                </a:cubicBezTo>
                <a:cubicBezTo>
                  <a:pt x="327" y="47"/>
                  <a:pt x="332" y="37"/>
                  <a:pt x="331" y="27"/>
                </a:cubicBezTo>
                <a:cubicBezTo>
                  <a:pt x="330" y="17"/>
                  <a:pt x="323" y="9"/>
                  <a:pt x="313" y="6"/>
                </a:cubicBezTo>
                <a:cubicBezTo>
                  <a:pt x="294" y="2"/>
                  <a:pt x="275" y="0"/>
                  <a:pt x="256" y="0"/>
                </a:cubicBezTo>
                <a:close/>
              </a:path>
            </a:pathLst>
          </a:custGeom>
          <a:solidFill>
            <a:srgbClr val="C26A2E"/>
          </a:solidFill>
          <a:ln>
            <a:noFill/>
          </a:ln>
        </p:spPr>
      </p:sp>
      <p:sp>
        <p:nvSpPr>
          <p:cNvPr id="32" name="value-txt"/>
          <p:cNvSpPr txBox="1"/>
          <p:nvPr/>
        </p:nvSpPr>
        <p:spPr>
          <a:xfrm>
            <a:off x="6223000" y="3657600"/>
            <a:ext cx="52578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20000"/>
              </a:lnSpc>
            </a:pPr>
            <a:r>
              <a:rPr lang="en-US" sz="1300" b="1">
                <a:solidFill>
                  <a:srgbClr val="1E4D3B"/>
                </a:solidFill>
                <a:latin typeface="MiSans"/>
                <a:ea typeface="MiSans"/>
              </a:rPr>
              <a:t>夜间与周末自动值守</a:t>
            </a:r>
            <a:endParaRPr lang="en-US" sz="1600"/>
          </a:p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6B675F"/>
                </a:solidFill>
                <a:latin typeface="MiSans"/>
                <a:ea typeface="MiSans"/>
              </a:rPr>
              <a:t>智能体先查一遍,人只做确认与处置——异常时刻有人在看,屏幕前不必有人。</a:t>
            </a:r>
            <a:endParaRPr lang="en-US" sz="1600"/>
          </a:p>
        </p:txBody>
      </p:sp>
      <p:sp>
        <p:nvSpPr>
          <p:cNvPr id="33" name="act-bg"/>
          <p:cNvSpPr/>
          <p:nvPr/>
        </p:nvSpPr>
        <p:spPr>
          <a:xfrm>
            <a:off x="5842000" y="4673600"/>
            <a:ext cx="5638800" cy="1219200"/>
          </a:xfrm>
          <a:prstGeom prst="rect">
            <a:avLst/>
          </a:prstGeom>
          <a:solidFill>
            <a:srgbClr val="EAF1EC"/>
          </a:solidFill>
          <a:ln>
            <a:noFill/>
          </a:ln>
        </p:spPr>
      </p:sp>
      <p:sp>
        <p:nvSpPr>
          <p:cNvPr id="34" name="act-icon"/>
          <p:cNvSpPr/>
          <p:nvPr>
            <p:extLst>
              <p:ext uri="{F5677B7D-0D2A-4D9B-9A5C-6D8D7D0E5A5D}">
                <pptd:icon encoding="base64url">eyJpY29uTmFtZSI6ImZhczpjbGlwYm9hcmQtY2hlY2sifQ</pptd:icon>
              </p:ext>
            </p:extLst>
          </p:nvPr>
        </p:nvSpPr>
        <p:spPr>
          <a:xfrm>
            <a:off x="6045200" y="48768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256" y="0"/>
                </a:moveTo>
                <a:cubicBezTo>
                  <a:pt x="280" y="0"/>
                  <a:pt x="300" y="13"/>
                  <a:pt x="311" y="32"/>
                </a:cubicBezTo>
                <a:lnTo>
                  <a:pt x="320" y="32"/>
                </a:lnTo>
                <a:cubicBezTo>
                  <a:pt x="355" y="32"/>
                  <a:pt x="384" y="61"/>
                  <a:pt x="384" y="96"/>
                </a:cubicBezTo>
                <a:lnTo>
                  <a:pt x="384" y="448"/>
                </a:lnTo>
                <a:cubicBezTo>
                  <a:pt x="384" y="483"/>
                  <a:pt x="355" y="512"/>
                  <a:pt x="320" y="512"/>
                </a:cubicBezTo>
                <a:lnTo>
                  <a:pt x="64" y="512"/>
                </a:lnTo>
                <a:cubicBezTo>
                  <a:pt x="29" y="512"/>
                  <a:pt x="0" y="483"/>
                  <a:pt x="0" y="448"/>
                </a:cubicBezTo>
                <a:lnTo>
                  <a:pt x="0" y="96"/>
                </a:lnTo>
                <a:cubicBezTo>
                  <a:pt x="0" y="61"/>
                  <a:pt x="29" y="32"/>
                  <a:pt x="64" y="32"/>
                </a:cubicBezTo>
                <a:lnTo>
                  <a:pt x="73" y="32"/>
                </a:lnTo>
                <a:cubicBezTo>
                  <a:pt x="84" y="13"/>
                  <a:pt x="104" y="0"/>
                  <a:pt x="128" y="0"/>
                </a:cubicBezTo>
                <a:lnTo>
                  <a:pt x="256" y="0"/>
                </a:lnTo>
                <a:close/>
                <a:moveTo>
                  <a:pt x="283" y="213"/>
                </a:moveTo>
                <a:cubicBezTo>
                  <a:pt x="272" y="205"/>
                  <a:pt x="257" y="207"/>
                  <a:pt x="249" y="218"/>
                </a:cubicBezTo>
                <a:lnTo>
                  <a:pt x="164" y="336"/>
                </a:lnTo>
                <a:lnTo>
                  <a:pt x="137" y="308"/>
                </a:lnTo>
                <a:cubicBezTo>
                  <a:pt x="128" y="299"/>
                  <a:pt x="113" y="298"/>
                  <a:pt x="103" y="308"/>
                </a:cubicBezTo>
                <a:cubicBezTo>
                  <a:pt x="94" y="317"/>
                  <a:pt x="94" y="332"/>
                  <a:pt x="103" y="342"/>
                </a:cubicBezTo>
                <a:lnTo>
                  <a:pt x="149" y="390"/>
                </a:lnTo>
                <a:cubicBezTo>
                  <a:pt x="154" y="395"/>
                  <a:pt x="161" y="397"/>
                  <a:pt x="168" y="397"/>
                </a:cubicBezTo>
                <a:cubicBezTo>
                  <a:pt x="175" y="396"/>
                  <a:pt x="182" y="393"/>
                  <a:pt x="186" y="387"/>
                </a:cubicBezTo>
                <a:lnTo>
                  <a:pt x="288" y="246"/>
                </a:lnTo>
                <a:cubicBezTo>
                  <a:pt x="296" y="235"/>
                  <a:pt x="294" y="220"/>
                  <a:pt x="283" y="213"/>
                </a:cubicBezTo>
                <a:close/>
                <a:moveTo>
                  <a:pt x="136" y="64"/>
                </a:moveTo>
                <a:cubicBezTo>
                  <a:pt x="123" y="64"/>
                  <a:pt x="112" y="75"/>
                  <a:pt x="112" y="88"/>
                </a:cubicBezTo>
                <a:cubicBezTo>
                  <a:pt x="112" y="101"/>
                  <a:pt x="123" y="112"/>
                  <a:pt x="136" y="112"/>
                </a:cubicBezTo>
                <a:lnTo>
                  <a:pt x="248" y="112"/>
                </a:lnTo>
                <a:cubicBezTo>
                  <a:pt x="261" y="112"/>
                  <a:pt x="272" y="101"/>
                  <a:pt x="272" y="88"/>
                </a:cubicBezTo>
                <a:cubicBezTo>
                  <a:pt x="272" y="75"/>
                  <a:pt x="261" y="64"/>
                  <a:pt x="248" y="64"/>
                </a:cubicBezTo>
                <a:lnTo>
                  <a:pt x="136" y="64"/>
                </a:lnTo>
                <a:close/>
              </a:path>
            </a:pathLst>
          </a:custGeom>
          <a:solidFill>
            <a:srgbClr val="1E4D3B"/>
          </a:solidFill>
          <a:ln>
            <a:noFill/>
          </a:ln>
        </p:spPr>
      </p:sp>
      <p:sp>
        <p:nvSpPr>
          <p:cNvPr id="35" name="act-txt"/>
          <p:cNvSpPr txBox="1"/>
          <p:nvPr/>
        </p:nvSpPr>
        <p:spPr>
          <a:xfrm>
            <a:off x="6400800" y="4800600"/>
            <a:ext cx="48768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1300" b="1">
                <a:solidFill>
                  <a:srgbClr val="1E4D3B"/>
                </a:solidFill>
                <a:latin typeface="MiSans"/>
                <a:ea typeface="MiSans"/>
              </a:rPr>
              <a:t>本周行动</a:t>
            </a:r>
            <a:endParaRPr lang="en-US" sz="1600"/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lang="en-US" sz="1100">
                <a:solidFill>
                  <a:srgbClr val="22211E"/>
                </a:solidFill>
                <a:latin typeface="MiSans"/>
                <a:ea typeface="MiSans"/>
              </a:rPr>
              <a:t>盘点本月重复出现的 3 类告警,评估哪一类可以交给智能体自动巡检、人只做确认。</a:t>
            </a:r>
            <a:endParaRPr lang="en-US" sz="1600"/>
          </a:p>
        </p:txBody>
      </p:sp>
      <p:sp>
        <p:nvSpPr>
          <p:cNvPr id="36" name="footer-line"/>
          <p:cNvSpPr/>
          <p:nvPr/>
        </p:nvSpPr>
        <p:spPr>
          <a:xfrm>
            <a:off x="711200" y="6375400"/>
            <a:ext cx="10769600" cy="12700"/>
          </a:xfrm>
          <a:prstGeom prst="rect">
            <a:avLst/>
          </a:prstGeom>
          <a:solidFill>
            <a:srgbClr val="D8D3C8"/>
          </a:solidFill>
          <a:ln>
            <a:noFill/>
          </a:ln>
        </p:spPr>
      </p:sp>
      <p:sp>
        <p:nvSpPr>
          <p:cNvPr id="37" name="footer-left"/>
          <p:cNvSpPr txBox="1"/>
          <p:nvPr/>
        </p:nvSpPr>
        <p:spPr>
          <a:xfrm>
            <a:off x="711200" y="6477000"/>
            <a:ext cx="812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40000"/>
              </a:lnSpc>
            </a:pPr>
            <a:r>
              <a:rPr lang="en-US" sz="1000">
                <a:solidFill>
                  <a:srgbClr val="6B675F"/>
                </a:solidFill>
                <a:latin typeface="Liter"/>
                <a:ea typeface="Liter"/>
              </a:rPr>
              <a:t>东方智感 · AI 内训第三期 | 场景为教学演示,基于公开产品能力整理</a:t>
            </a:r>
            <a:endParaRPr lang="en-US" sz="1000"/>
          </a:p>
        </p:txBody>
      </p:sp>
      <p:sp>
        <p:nvSpPr>
          <p:cNvPr id="38" name="footer-page"/>
          <p:cNvSpPr txBox="1"/>
          <p:nvPr/>
        </p:nvSpPr>
        <p:spPr>
          <a:xfrm>
            <a:off x="10210800" y="64770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r">
              <a:lnSpc>
                <a:spcPct val="140000"/>
              </a:lnSpc>
            </a:pPr>
            <a:r>
              <a:rPr lang="en-US" sz="1000">
                <a:solidFill>
                  <a:srgbClr val="6B675F"/>
                </a:solidFill>
                <a:latin typeface="Liter"/>
                <a:ea typeface="Liter"/>
              </a:rPr>
              <a:t>23 / 35</a:t>
            </a:r>
            <a:endParaRPr lang="en-US" sz="1000"/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508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100" b="1" spc="200" kern="0">
                <a:solidFill>
                  <a:srgbClr val="C26A2E"/>
                </a:solidFill>
                <a:latin typeface="Liter"/>
                <a:ea typeface="Liter"/>
              </a:rPr>
              <a:t>04 岗位结合 · 职能与管理</a:t>
            </a:r>
            <a:endParaRPr lang="en-US" sz="1100"/>
          </a:p>
        </p:txBody>
      </p:sp>
      <p:sp>
        <p:nvSpPr>
          <p:cNvPr id="3" name="title"/>
          <p:cNvSpPr txBox="1"/>
          <p:nvPr/>
        </p:nvSpPr>
        <p:spPr>
          <a:xfrm>
            <a:off x="711200" y="787400"/>
            <a:ext cx="107696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22211E"/>
                </a:solidFill>
                <a:latin typeface="Liter"/>
                <a:ea typeface="Liter"/>
              </a:rPr>
              <a:t>不要求编程:人人今天就能派出的三个智能体</a:t>
            </a:r>
            <a:endParaRPr lang="en-US" sz="2600"/>
          </a:p>
        </p:txBody>
      </p:sp>
      <p:sp>
        <p:nvSpPr>
          <p:cNvPr id="4" name="intro"/>
          <p:cNvSpPr txBox="1"/>
          <p:nvPr/>
        </p:nvSpPr>
        <p:spPr>
          <a:xfrm>
            <a:off x="711200" y="1473200"/>
            <a:ext cx="107696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55000"/>
              </a:lnSpc>
            </a:pPr>
            <a:r>
              <a:rPr lang="en-US" sz="1300">
                <a:solidFill>
                  <a:srgbClr val="22211E"/>
                </a:solidFill>
                <a:latin typeface="Liter"/>
                <a:ea typeface="Liter"/>
              </a:rPr>
              <a:t>三个低门槛场景,都用「目标—工具—验收」一句话就能派出去——先服务自己,再服务团队。</a:t>
            </a:r>
            <a:endParaRPr lang="en-US" sz="1300"/>
          </a:p>
        </p:txBody>
      </p:sp>
      <p:graphicFrame>
        <p:nvGraphicFramePr>
          <p:cNvPr id="5" name="delegate-table"/>
          <p:cNvGraphicFramePr>
            <a:graphicFrameLocks noGrp="1"/>
          </p:cNvGraphicFramePr>
          <p:nvPr/>
        </p:nvGraphicFramePr>
        <p:xfrm>
          <a:off x="711200" y="1930400"/>
          <a:ext cx="10769600" cy="3124200"/>
        </p:xfrm>
        <a:graphic>
          <a:graphicData uri="http://schemas.openxmlformats.org/drawingml/2006/table">
            <a:tbl>
              <a:tblPr/>
              <a:tblGrid>
                <a:gridCol w="2584704"/>
                <a:gridCol w="3015488"/>
                <a:gridCol w="2153920"/>
                <a:gridCol w="3015488"/>
              </a:tblGrid>
              <a:tr h="499872"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Liter"/>
                          <a:ea typeface="Liter"/>
                        </a:rPr>
                        <a:t>智能体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3C8"/>
                      </a:solidFill>
                    </a:lnB>
                    <a:solidFill>
                      <a:srgbClr val="1E4D3B"/>
                    </a:solidFill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Liter"/>
                          <a:ea typeface="Liter"/>
                        </a:rPr>
                        <a:t>目标(完成什么)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3C8"/>
                      </a:solidFill>
                    </a:lnB>
                    <a:solidFill>
                      <a:srgbClr val="1E4D3B"/>
                    </a:solidFill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Liter"/>
                          <a:ea typeface="Liter"/>
                        </a:rPr>
                        <a:t>工具(用什么)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3C8"/>
                      </a:solidFill>
                    </a:lnB>
                    <a:solidFill>
                      <a:srgbClr val="1E4D3B"/>
                    </a:solidFill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Liter"/>
                          <a:ea typeface="Liter"/>
                        </a:rPr>
                        <a:t>验收(怎么算完成)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3C8"/>
                      </a:solidFill>
                    </a:lnB>
                    <a:solidFill>
                      <a:srgbClr val="1E4D3B"/>
                    </a:solidFill>
                  </a:tcPr>
                </a:tc>
              </a:tr>
              <a:tr h="874776"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00" b="1">
                          <a:solidFill>
                            <a:srgbClr val="22211E"/>
                          </a:solidFill>
                          <a:latin typeface="Liter"/>
                          <a:ea typeface="Liter"/>
                        </a:rPr>
                        <a:t>① 会议纪要 + 待办跟踪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3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00">
                          <a:solidFill>
                            <a:srgbClr val="22211E"/>
                          </a:solidFill>
                          <a:latin typeface="Liter"/>
                          <a:ea typeface="Liter"/>
                        </a:rPr>
                        <a:t>会后 10 分钟产出纪要与待办清单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3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00">
                          <a:solidFill>
                            <a:srgbClr val="22211E"/>
                          </a:solidFill>
                          <a:latin typeface="Liter"/>
                          <a:ea typeface="Liter"/>
                        </a:rPr>
                        <a:t>录音转写 + 大模型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3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00">
                          <a:solidFill>
                            <a:srgbClr val="22211E"/>
                          </a:solidFill>
                          <a:latin typeface="Liter"/>
                          <a:ea typeface="Liter"/>
                        </a:rPr>
                        <a:t>每条待办有负责人与截止时间,经与会人确认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3C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4776"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00" b="1">
                          <a:solidFill>
                            <a:srgbClr val="22211E"/>
                          </a:solidFill>
                          <a:latin typeface="Liter"/>
                          <a:ea typeface="Liter"/>
                        </a:rPr>
                        <a:t>② 周报 / 月报汇总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3C8"/>
                      </a:solidFill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00">
                          <a:solidFill>
                            <a:srgbClr val="22211E"/>
                          </a:solidFill>
                          <a:latin typeface="Liter"/>
                          <a:ea typeface="Liter"/>
                        </a:rPr>
                        <a:t>部门周报汇总成 1 页摘要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3C8"/>
                      </a:solidFill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00">
                          <a:solidFill>
                            <a:srgbClr val="22211E"/>
                          </a:solidFill>
                          <a:latin typeface="Liter"/>
                          <a:ea typeface="Liter"/>
                        </a:rPr>
                        <a:t>文档 + 大模型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3C8"/>
                      </a:solidFill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00">
                          <a:solidFill>
                            <a:srgbClr val="22211E"/>
                          </a:solidFill>
                          <a:latin typeface="Liter"/>
                          <a:ea typeface="Liter"/>
                        </a:rPr>
                        <a:t>数字与原表一致,异常项单独标出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3C8"/>
                      </a:solidFill>
                    </a:lnB>
                    <a:solidFill>
                      <a:srgbClr val="F7F5F0"/>
                    </a:solidFill>
                  </a:tcPr>
                </a:tc>
              </a:tr>
              <a:tr h="874776"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00" b="1">
                          <a:solidFill>
                            <a:srgbClr val="22211E"/>
                          </a:solidFill>
                          <a:latin typeface="Liter"/>
                          <a:ea typeface="Liter"/>
                        </a:rPr>
                        <a:t>③ 制度知识库问答(RAG)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3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00">
                          <a:solidFill>
                            <a:srgbClr val="22211E"/>
                          </a:solidFill>
                          <a:latin typeface="Liter"/>
                          <a:ea typeface="Liter"/>
                        </a:rPr>
                        <a:t>制度类问题秒答并附出处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3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00">
                          <a:solidFill>
                            <a:srgbClr val="22211E"/>
                          </a:solidFill>
                          <a:latin typeface="Liter"/>
                          <a:ea typeface="Liter"/>
                        </a:rPr>
                        <a:t>知识库检索 + 大模型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3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00">
                          <a:solidFill>
                            <a:srgbClr val="22211E"/>
                          </a:solidFill>
                          <a:latin typeface="Liter"/>
                          <a:ea typeface="Liter"/>
                        </a:rPr>
                        <a:t>每个回答附制度条款原文出处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3C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principle-icon"/>
          <p:cNvSpPr/>
          <p:nvPr>
            <p:extLst>
              <p:ext uri="{F5677B7D-0D2A-4D9B-9A5C-6D8D7D0E5A5D}">
                <pptd:icon encoding="base64url">eyJpY29uTmFtZSI6ImZhczpzZWVkbGluZyJ9</pptd:icon>
              </p:ext>
            </p:extLst>
          </p:nvPr>
        </p:nvSpPr>
        <p:spPr>
          <a:xfrm>
            <a:off x="711200" y="53848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12" y="32"/>
                </a:moveTo>
                <a:cubicBezTo>
                  <a:pt x="512" y="140"/>
                  <a:pt x="435" y="230"/>
                  <a:pt x="334" y="251"/>
                </a:cubicBezTo>
                <a:cubicBezTo>
                  <a:pt x="326" y="193"/>
                  <a:pt x="300" y="141"/>
                  <a:pt x="261" y="101"/>
                </a:cubicBezTo>
                <a:cubicBezTo>
                  <a:pt x="301" y="40"/>
                  <a:pt x="370" y="0"/>
                  <a:pt x="448" y="0"/>
                </a:cubicBezTo>
                <a:lnTo>
                  <a:pt x="480" y="0"/>
                </a:lnTo>
                <a:cubicBezTo>
                  <a:pt x="498" y="0"/>
                  <a:pt x="512" y="14"/>
                  <a:pt x="512" y="32"/>
                </a:cubicBezTo>
                <a:close/>
                <a:moveTo>
                  <a:pt x="0" y="96"/>
                </a:moveTo>
                <a:cubicBezTo>
                  <a:pt x="0" y="78"/>
                  <a:pt x="14" y="64"/>
                  <a:pt x="32" y="64"/>
                </a:cubicBezTo>
                <a:lnTo>
                  <a:pt x="64" y="64"/>
                </a:lnTo>
                <a:cubicBezTo>
                  <a:pt x="188" y="64"/>
                  <a:pt x="288" y="164"/>
                  <a:pt x="288" y="288"/>
                </a:cubicBezTo>
                <a:lnTo>
                  <a:pt x="288" y="480"/>
                </a:lnTo>
                <a:cubicBezTo>
                  <a:pt x="288" y="498"/>
                  <a:pt x="274" y="512"/>
                  <a:pt x="256" y="512"/>
                </a:cubicBezTo>
                <a:cubicBezTo>
                  <a:pt x="238" y="512"/>
                  <a:pt x="224" y="498"/>
                  <a:pt x="224" y="480"/>
                </a:cubicBezTo>
                <a:lnTo>
                  <a:pt x="224" y="320"/>
                </a:lnTo>
                <a:cubicBezTo>
                  <a:pt x="100" y="320"/>
                  <a:pt x="0" y="220"/>
                  <a:pt x="0" y="96"/>
                </a:cubicBezTo>
                <a:close/>
              </a:path>
            </a:pathLst>
          </a:custGeom>
          <a:solidFill>
            <a:srgbClr val="1E4D3B"/>
          </a:solidFill>
          <a:ln>
            <a:noFill/>
          </a:ln>
        </p:spPr>
      </p:sp>
      <p:sp>
        <p:nvSpPr>
          <p:cNvPr id="7" name="principle-txt"/>
          <p:cNvSpPr txBox="1"/>
          <p:nvPr/>
        </p:nvSpPr>
        <p:spPr>
          <a:xfrm>
            <a:off x="1066800" y="5334000"/>
            <a:ext cx="6350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20000"/>
              </a:lnSpc>
            </a:pPr>
            <a:r>
              <a:rPr lang="en-US" sz="1300" b="1">
                <a:solidFill>
                  <a:srgbClr val="1E4D3B"/>
                </a:solidFill>
                <a:latin typeface="MiSans"/>
                <a:ea typeface="MiSans"/>
              </a:rPr>
              <a:t>从个人提效开始</a:t>
            </a:r>
            <a:endParaRPr lang="en-US" sz="1600"/>
          </a:p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6B675F"/>
                </a:solidFill>
                <a:latin typeface="MiSans"/>
                <a:ea typeface="MiSans"/>
              </a:rPr>
              <a:t>不要求编程,先用现成工具跑通一个场景;委派单写法见第 11 页「派活四件套」。</a:t>
            </a:r>
            <a:endParaRPr lang="en-US" sz="1600"/>
          </a:p>
        </p:txBody>
      </p:sp>
      <p:sp>
        <p:nvSpPr>
          <p:cNvPr id="8" name="act-bg"/>
          <p:cNvSpPr/>
          <p:nvPr/>
        </p:nvSpPr>
        <p:spPr>
          <a:xfrm>
            <a:off x="7620000" y="5257800"/>
            <a:ext cx="3860800" cy="787400"/>
          </a:xfrm>
          <a:prstGeom prst="rect">
            <a:avLst/>
          </a:prstGeom>
          <a:solidFill>
            <a:srgbClr val="EAF1EC"/>
          </a:solidFill>
          <a:ln>
            <a:noFill/>
          </a:ln>
        </p:spPr>
      </p:sp>
      <p:sp>
        <p:nvSpPr>
          <p:cNvPr id="9" name="act-icon"/>
          <p:cNvSpPr/>
          <p:nvPr>
            <p:extLst>
              <p:ext uri="{F5677B7D-0D2A-4D9B-9A5C-6D8D7D0E5A5D}">
                <pptd:icon encoding="base64url">eyJpY29uTmFtZSI6ImZhczpwZW4ifQ</pptd:icon>
              </p:ext>
            </p:extLst>
          </p:nvPr>
        </p:nvSpPr>
        <p:spPr>
          <a:xfrm>
            <a:off x="7823200" y="54610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353" y="21"/>
                </a:moveTo>
                <a:lnTo>
                  <a:pt x="308" y="66"/>
                </a:lnTo>
                <a:lnTo>
                  <a:pt x="446" y="204"/>
                </a:lnTo>
                <a:lnTo>
                  <a:pt x="491" y="159"/>
                </a:lnTo>
                <a:cubicBezTo>
                  <a:pt x="504" y="146"/>
                  <a:pt x="512" y="127"/>
                  <a:pt x="512" y="108"/>
                </a:cubicBezTo>
                <a:cubicBezTo>
                  <a:pt x="512" y="89"/>
                  <a:pt x="504" y="70"/>
                  <a:pt x="491" y="57"/>
                </a:cubicBezTo>
                <a:lnTo>
                  <a:pt x="455" y="21"/>
                </a:lnTo>
                <a:cubicBezTo>
                  <a:pt x="442" y="8"/>
                  <a:pt x="423" y="0"/>
                  <a:pt x="404" y="0"/>
                </a:cubicBezTo>
                <a:cubicBezTo>
                  <a:pt x="385" y="0"/>
                  <a:pt x="366" y="8"/>
                  <a:pt x="353" y="21"/>
                </a:cubicBezTo>
                <a:close/>
                <a:moveTo>
                  <a:pt x="274" y="100"/>
                </a:moveTo>
                <a:lnTo>
                  <a:pt x="59" y="315"/>
                </a:lnTo>
                <a:cubicBezTo>
                  <a:pt x="48" y="326"/>
                  <a:pt x="40" y="339"/>
                  <a:pt x="36" y="354"/>
                </a:cubicBezTo>
                <a:lnTo>
                  <a:pt x="1" y="482"/>
                </a:lnTo>
                <a:cubicBezTo>
                  <a:pt x="-1" y="490"/>
                  <a:pt x="1" y="499"/>
                  <a:pt x="7" y="505"/>
                </a:cubicBezTo>
                <a:cubicBezTo>
                  <a:pt x="13" y="511"/>
                  <a:pt x="22" y="514"/>
                  <a:pt x="31" y="511"/>
                </a:cubicBezTo>
                <a:lnTo>
                  <a:pt x="158" y="476"/>
                </a:lnTo>
                <a:cubicBezTo>
                  <a:pt x="173" y="472"/>
                  <a:pt x="186" y="464"/>
                  <a:pt x="197" y="453"/>
                </a:cubicBezTo>
                <a:lnTo>
                  <a:pt x="412" y="238"/>
                </a:lnTo>
                <a:lnTo>
                  <a:pt x="274" y="100"/>
                </a:lnTo>
                <a:close/>
              </a:path>
            </a:pathLst>
          </a:custGeom>
          <a:solidFill>
            <a:srgbClr val="1E4D3B"/>
          </a:solidFill>
          <a:ln>
            <a:noFill/>
          </a:ln>
        </p:spPr>
      </p:sp>
      <p:sp>
        <p:nvSpPr>
          <p:cNvPr id="10" name="act-txt"/>
          <p:cNvSpPr txBox="1"/>
          <p:nvPr/>
        </p:nvSpPr>
        <p:spPr>
          <a:xfrm>
            <a:off x="8178800" y="5359400"/>
            <a:ext cx="31242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1300" b="1">
                <a:solidFill>
                  <a:srgbClr val="1E4D3B"/>
                </a:solidFill>
                <a:latin typeface="MiSans"/>
                <a:ea typeface="MiSans"/>
              </a:rPr>
              <a:t>本周行动</a:t>
            </a:r>
            <a:endParaRPr lang="en-US" sz="1600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1100">
                <a:solidFill>
                  <a:srgbClr val="22211E"/>
                </a:solidFill>
                <a:latin typeface="MiSans"/>
                <a:ea typeface="MiSans"/>
              </a:rPr>
              <a:t>写出你的第一张任务委派单。</a:t>
            </a:r>
            <a:endParaRPr lang="en-US" sz="1600"/>
          </a:p>
        </p:txBody>
      </p:sp>
      <p:sp>
        <p:nvSpPr>
          <p:cNvPr id="11" name="footer-line"/>
          <p:cNvSpPr/>
          <p:nvPr/>
        </p:nvSpPr>
        <p:spPr>
          <a:xfrm>
            <a:off x="711200" y="6375400"/>
            <a:ext cx="10769600" cy="12700"/>
          </a:xfrm>
          <a:prstGeom prst="rect">
            <a:avLst/>
          </a:prstGeom>
          <a:solidFill>
            <a:srgbClr val="D8D3C8"/>
          </a:solidFill>
          <a:ln>
            <a:noFill/>
          </a:ln>
        </p:spPr>
      </p:sp>
      <p:sp>
        <p:nvSpPr>
          <p:cNvPr id="12" name="footer-left"/>
          <p:cNvSpPr txBox="1"/>
          <p:nvPr/>
        </p:nvSpPr>
        <p:spPr>
          <a:xfrm>
            <a:off x="711200" y="6477000"/>
            <a:ext cx="812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40000"/>
              </a:lnSpc>
            </a:pPr>
            <a:r>
              <a:rPr lang="en-US" sz="1000">
                <a:solidFill>
                  <a:srgbClr val="6B675F"/>
                </a:solidFill>
                <a:latin typeface="Liter"/>
                <a:ea typeface="Liter"/>
              </a:rPr>
              <a:t>东方智感 · AI 内训第三期 | 表格为委派单示例(教学演示)</a:t>
            </a:r>
            <a:endParaRPr lang="en-US" sz="1000"/>
          </a:p>
        </p:txBody>
      </p:sp>
      <p:sp>
        <p:nvSpPr>
          <p:cNvPr id="13" name="footer-page"/>
          <p:cNvSpPr txBox="1"/>
          <p:nvPr/>
        </p:nvSpPr>
        <p:spPr>
          <a:xfrm>
            <a:off x="10210800" y="64770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r">
              <a:lnSpc>
                <a:spcPct val="140000"/>
              </a:lnSpc>
            </a:pPr>
            <a:r>
              <a:rPr lang="en-US" sz="1000">
                <a:solidFill>
                  <a:srgbClr val="6B675F"/>
                </a:solidFill>
                <a:latin typeface="Liter"/>
                <a:ea typeface="Liter"/>
              </a:rPr>
              <a:t>24 / 35</a:t>
            </a:r>
            <a:endParaRPr lang="en-US" sz="1000"/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1E4D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-kicker"/>
          <p:cNvSpPr txBox="1"/>
          <p:nvPr/>
        </p:nvSpPr>
        <p:spPr>
          <a:xfrm>
            <a:off x="711200" y="1219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100" b="1" spc="200" kern="0">
                <a:solidFill>
                  <a:srgbClr val="C26A2E"/>
                </a:solidFill>
                <a:latin typeface="Liter"/>
                <a:ea typeface="Liter"/>
              </a:rPr>
              <a:t>CHAPTER 05 · 内部案例</a:t>
            </a:r>
            <a:endParaRPr lang="en-US" sz="1100"/>
          </a:p>
        </p:txBody>
      </p:sp>
      <p:sp>
        <p:nvSpPr>
          <p:cNvPr id="3" name="ch-num"/>
          <p:cNvSpPr txBox="1"/>
          <p:nvPr/>
        </p:nvSpPr>
        <p:spPr>
          <a:xfrm>
            <a:off x="711200" y="1600200"/>
            <a:ext cx="33020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6400" b="1">
                <a:solidFill>
                  <a:srgbClr val="C26A2E"/>
                </a:solidFill>
                <a:latin typeface="Liter"/>
                <a:ea typeface="Liter"/>
              </a:rPr>
              <a:t>05</a:t>
            </a:r>
            <a:endParaRPr lang="en-US" sz="6400"/>
          </a:p>
        </p:txBody>
      </p:sp>
      <p:sp>
        <p:nvSpPr>
          <p:cNvPr id="4" name="ch-title"/>
          <p:cNvSpPr txBox="1"/>
          <p:nvPr/>
        </p:nvSpPr>
        <p:spPr>
          <a:xfrm>
            <a:off x="711200" y="2819400"/>
            <a:ext cx="10160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3400" b="1">
                <a:solidFill>
                  <a:srgbClr val="F7F5F0"/>
                </a:solidFill>
                <a:latin typeface="Liter"/>
                <a:ea typeface="Liter"/>
              </a:rPr>
              <a:t>内部案例:智能体已经在我们的项目里</a:t>
            </a:r>
            <a:endParaRPr lang="en-US" sz="3400"/>
          </a:p>
        </p:txBody>
      </p:sp>
      <p:sp>
        <p:nvSpPr>
          <p:cNvPr id="5" name="ch-bar"/>
          <p:cNvSpPr/>
          <p:nvPr/>
        </p:nvSpPr>
        <p:spPr>
          <a:xfrm>
            <a:off x="711200" y="3759200"/>
            <a:ext cx="1219200" cy="38100"/>
          </a:xfrm>
          <a:prstGeom prst="rect">
            <a:avLst/>
          </a:prstGeom>
          <a:solidFill>
            <a:srgbClr val="C26A2E"/>
          </a:solidFill>
          <a:ln>
            <a:noFill/>
          </a:ln>
        </p:spPr>
      </p:sp>
      <p:sp>
        <p:nvSpPr>
          <p:cNvPr id="6" name="ch-q-label"/>
          <p:cNvSpPr txBox="1"/>
          <p:nvPr/>
        </p:nvSpPr>
        <p:spPr>
          <a:xfrm>
            <a:off x="711200" y="41148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40000"/>
              </a:lnSpc>
            </a:pPr>
            <a:r>
              <a:rPr lang="en-US" sz="1000">
                <a:solidFill>
                  <a:srgbClr val="F7F5F0">
                    <a:alpha val="60000"/>
                  </a:srgbClr>
                </a:solidFill>
                <a:latin typeface="Liter"/>
                <a:ea typeface="Liter"/>
              </a:rPr>
              <a:t>本章学习问题</a:t>
            </a:r>
            <a:endParaRPr lang="en-US" sz="1000"/>
          </a:p>
        </p:txBody>
      </p:sp>
      <p:sp>
        <p:nvSpPr>
          <p:cNvPr id="7" name="ch-q"/>
          <p:cNvSpPr txBox="1"/>
          <p:nvPr/>
        </p:nvSpPr>
        <p:spPr>
          <a:xfrm>
            <a:off x="711200" y="4368800"/>
            <a:ext cx="9652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55000"/>
              </a:lnSpc>
            </a:pPr>
            <a:r>
              <a:rPr lang="en-US" sz="1700" b="1">
                <a:solidFill>
                  <a:srgbClr val="F7F5F0"/>
                </a:solidFill>
                <a:latin typeface="Liter"/>
                <a:ea typeface="Liter"/>
              </a:rPr>
              <a:t>这四个真实项目里,哪些已经是「智能体思维」的产物?</a:t>
            </a:r>
            <a:endParaRPr lang="en-US" sz="1700"/>
          </a:p>
        </p:txBody>
      </p:sp>
      <p:sp>
        <p:nvSpPr>
          <p:cNvPr id="8" name="ch-kw-label"/>
          <p:cNvSpPr txBox="1"/>
          <p:nvPr/>
        </p:nvSpPr>
        <p:spPr>
          <a:xfrm>
            <a:off x="711200" y="50292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40000"/>
              </a:lnSpc>
            </a:pPr>
            <a:r>
              <a:rPr lang="en-US" sz="1000">
                <a:solidFill>
                  <a:srgbClr val="F7F5F0">
                    <a:alpha val="60000"/>
                  </a:srgbClr>
                </a:solidFill>
                <a:latin typeface="Liter"/>
                <a:ea typeface="Liter"/>
              </a:rPr>
              <a:t>关键词</a:t>
            </a:r>
            <a:endParaRPr lang="en-US" sz="1000"/>
          </a:p>
        </p:txBody>
      </p:sp>
      <p:sp>
        <p:nvSpPr>
          <p:cNvPr id="9" name="ch-kw"/>
          <p:cNvSpPr txBox="1"/>
          <p:nvPr/>
        </p:nvSpPr>
        <p:spPr>
          <a:xfrm>
            <a:off x="711200" y="5283200"/>
            <a:ext cx="889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55000"/>
              </a:lnSpc>
            </a:pPr>
            <a:r>
              <a:rPr lang="en-US" sz="1400">
                <a:solidFill>
                  <a:srgbClr val="F7F5F0">
                    <a:alpha val="80000"/>
                  </a:srgbClr>
                </a:solidFill>
                <a:latin typeface="Liter"/>
                <a:ea typeface="Liter"/>
              </a:rPr>
              <a:t>真实项目 · 讲师点评 · 可复用经验</a:t>
            </a:r>
            <a:endParaRPr lang="en-US" sz="1400"/>
          </a:p>
        </p:txBody>
      </p:sp>
      <p:sp>
        <p:nvSpPr>
          <p:cNvPr id="10" name="ch-footer-left"/>
          <p:cNvSpPr txBox="1"/>
          <p:nvPr/>
        </p:nvSpPr>
        <p:spPr>
          <a:xfrm>
            <a:off x="711200" y="64770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40000"/>
              </a:lnSpc>
            </a:pPr>
            <a:r>
              <a:rPr lang="en-US" sz="1000">
                <a:solidFill>
                  <a:srgbClr val="F7F5F0">
                    <a:alpha val="40000"/>
                  </a:srgbClr>
                </a:solidFill>
                <a:latin typeface="Liter"/>
                <a:ea typeface="Liter"/>
              </a:rPr>
              <a:t>东方智感 · AI 内训第三期</a:t>
            </a:r>
            <a:endParaRPr lang="en-US" sz="1000"/>
          </a:p>
        </p:txBody>
      </p:sp>
      <p:sp>
        <p:nvSpPr>
          <p:cNvPr id="11" name="ch-footer-page"/>
          <p:cNvSpPr txBox="1"/>
          <p:nvPr/>
        </p:nvSpPr>
        <p:spPr>
          <a:xfrm>
            <a:off x="10210800" y="64770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r">
              <a:lnSpc>
                <a:spcPct val="140000"/>
              </a:lnSpc>
            </a:pPr>
            <a:r>
              <a:rPr lang="en-US" sz="1000">
                <a:solidFill>
                  <a:srgbClr val="F7F5F0">
                    <a:alpha val="40000"/>
                  </a:srgbClr>
                </a:solidFill>
                <a:latin typeface="Liter"/>
                <a:ea typeface="Liter"/>
              </a:rPr>
              <a:t>25 / 35</a:t>
            </a:r>
            <a:endParaRPr lang="en-US" sz="1000"/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826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100" b="1" spc="200" kern="0">
                <a:solidFill>
                  <a:srgbClr val="C26A2E"/>
                </a:solidFill>
                <a:latin typeface="Liter"/>
                <a:ea typeface="Liter"/>
              </a:rPr>
              <a:t>05 内部案例 · 案例①(上)</a:t>
            </a:r>
            <a:endParaRPr lang="en-US" sz="1100"/>
          </a:p>
        </p:txBody>
      </p:sp>
      <p:sp>
        <p:nvSpPr>
          <p:cNvPr id="3" name="title"/>
          <p:cNvSpPr txBox="1"/>
          <p:nvPr/>
        </p:nvSpPr>
        <p:spPr>
          <a:xfrm>
            <a:off x="711200" y="7874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22211E"/>
                </a:solidFill>
                <a:latin typeface="Liter"/>
                <a:ea typeface="Liter"/>
              </a:rPr>
              <a:t>onsub.pub:策略 Skill + 每日判灌 = 生产环境里的 Loop</a:t>
            </a:r>
            <a:endParaRPr lang="en-US" sz="2600"/>
          </a:p>
        </p:txBody>
      </p:sp>
      <p:sp>
        <p:nvSpPr>
          <p:cNvPr id="4" name="fact-label"/>
          <p:cNvSpPr txBox="1"/>
          <p:nvPr/>
        </p:nvSpPr>
        <p:spPr>
          <a:xfrm>
            <a:off x="711200" y="147320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1E4D3B"/>
                </a:solidFill>
                <a:latin typeface="MiSans"/>
                <a:ea typeface="MiSans"/>
              </a:rPr>
              <a:t>事实速览 · 报告原文</a:t>
            </a:r>
            <a:endParaRPr lang="en-US" sz="1400"/>
          </a:p>
        </p:txBody>
      </p:sp>
      <p:sp>
        <p:nvSpPr>
          <p:cNvPr id="5" name="fact-bar"/>
          <p:cNvSpPr/>
          <p:nvPr/>
        </p:nvSpPr>
        <p:spPr>
          <a:xfrm>
            <a:off x="711200" y="1803400"/>
            <a:ext cx="406400" cy="38100"/>
          </a:xfrm>
          <a:prstGeom prst="rect">
            <a:avLst/>
          </a:prstGeom>
          <a:solidFill>
            <a:srgbClr val="1E4D3B"/>
          </a:solidFill>
          <a:ln>
            <a:noFill/>
          </a:ln>
        </p:spPr>
      </p:sp>
      <p:sp>
        <p:nvSpPr>
          <p:cNvPr id="6" name="fact-body"/>
          <p:cNvSpPr txBox="1"/>
          <p:nvPr/>
        </p:nvSpPr>
        <p:spPr>
          <a:xfrm>
            <a:off x="711200" y="2006600"/>
            <a:ext cx="5080000" cy="309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50000"/>
              </a:lnSpc>
            </a:pPr>
            <a:r>
              <a:rPr lang="en-US" sz="1200" b="1">
                <a:solidFill>
                  <a:srgbClr val="22211E"/>
                </a:solidFill>
                <a:latin typeface="MiSans"/>
                <a:ea typeface="MiSans"/>
              </a:rPr>
              <a:t>产品:</a:t>
            </a:r>
            <a:r>
              <a:rPr lang="en-US" sz="1200">
                <a:solidFill>
                  <a:srgbClr val="22211E"/>
                </a:solidFill>
                <a:latin typeface="MiSans"/>
                <a:ea typeface="MiSans"/>
              </a:rPr>
              <a:t>面向田间管理者与农技运营的智能灌溉产品——管理后台 + 小程序「放心灌」,把墒情监测转成可执行的灌溉建议,并短信触达用户。</a:t>
            </a:r>
            <a:endParaRPr lang="en-US" sz="120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200" b="1">
                <a:solidFill>
                  <a:srgbClr val="22211E"/>
                </a:solidFill>
                <a:latin typeface="MiSans"/>
                <a:ea typeface="MiSans"/>
              </a:rPr>
              <a:t>本期主线:</a:t>
            </a:r>
            <a:r>
              <a:rPr lang="en-US" sz="1200">
                <a:solidFill>
                  <a:srgbClr val="22211E"/>
                </a:solidFill>
                <a:latin typeface="MiSans"/>
                <a:ea typeface="MiSans"/>
              </a:rPr>
              <a:t>灌溉规则从写死在代码里的「灌溉方法」升级为「策略 Skill」——可配置、可对话修订、可发布;服务点绑定 Skill,替代旧主配置路径。</a:t>
            </a:r>
            <a:endParaRPr lang="en-US" sz="120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200" b="1">
                <a:solidFill>
                  <a:srgbClr val="22211E"/>
                </a:solidFill>
                <a:latin typeface="MiSans"/>
                <a:ea typeface="MiSans"/>
              </a:rPr>
              <a:t>已上线:</a:t>
            </a:r>
            <a:r>
              <a:rPr lang="en-US" sz="1200">
                <a:solidFill>
                  <a:srgbClr val="22211E"/>
                </a:solidFill>
                <a:latin typeface="MiSans"/>
                <a:ea typeface="MiSans"/>
              </a:rPr>
              <a:t>每日 8 点自动判灌切换为 Skill 版本;分组 AI 助手上线,对话可引用墒情、判灌等上下文。</a:t>
            </a:r>
            <a:endParaRPr lang="en-US" sz="120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200" b="1">
                <a:solidFill>
                  <a:srgbClr val="22211E"/>
                </a:solidFill>
                <a:latin typeface="MiSans"/>
                <a:ea typeface="MiSans"/>
              </a:rPr>
              <a:t>数据:</a:t>
            </a:r>
            <a:r>
              <a:rPr lang="en-US" sz="1200">
                <a:solidFill>
                  <a:srgbClr val="22211E"/>
                </a:solidFill>
                <a:latin typeface="MiSans"/>
                <a:ea typeface="MiSans"/>
              </a:rPr>
              <a:t>后台本期 18 次有效提交;小程序 7/13 合入「分层墒情」展示。</a:t>
            </a:r>
            <a:endParaRPr lang="en-US" sz="1200"/>
          </a:p>
        </p:txBody>
      </p:sp>
      <p:sp>
        <p:nvSpPr>
          <p:cNvPr id="7" name="mid-divider"/>
          <p:cNvSpPr/>
          <p:nvPr/>
        </p:nvSpPr>
        <p:spPr>
          <a:xfrm>
            <a:off x="6096000" y="1473200"/>
            <a:ext cx="12700" cy="3632200"/>
          </a:xfrm>
          <a:prstGeom prst="rect">
            <a:avLst/>
          </a:prstGeom>
          <a:solidFill>
            <a:srgbClr val="D8D3C8"/>
          </a:solidFill>
          <a:ln>
            <a:noFill/>
          </a:ln>
        </p:spPr>
      </p:sp>
      <p:sp>
        <p:nvSpPr>
          <p:cNvPr id="8" name="cmt-label"/>
          <p:cNvSpPr txBox="1"/>
          <p:nvPr/>
        </p:nvSpPr>
        <p:spPr>
          <a:xfrm>
            <a:off x="6400800" y="14732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C26A2E"/>
                </a:solidFill>
                <a:latin typeface="MiSans"/>
                <a:ea typeface="MiSans"/>
              </a:rPr>
              <a:t>讲师点评 · 用 Loop 四要素拆解(见第 16 页)</a:t>
            </a:r>
            <a:endParaRPr lang="en-US" sz="1400"/>
          </a:p>
        </p:txBody>
      </p:sp>
      <p:sp>
        <p:nvSpPr>
          <p:cNvPr id="9" name="cmt-bar"/>
          <p:cNvSpPr/>
          <p:nvPr/>
        </p:nvSpPr>
        <p:spPr>
          <a:xfrm>
            <a:off x="6400800" y="1803400"/>
            <a:ext cx="406400" cy="38100"/>
          </a:xfrm>
          <a:prstGeom prst="rect">
            <a:avLst/>
          </a:prstGeom>
          <a:solidFill>
            <a:srgbClr val="C26A2E"/>
          </a:solidFill>
          <a:ln>
            <a:noFill/>
          </a:ln>
        </p:spPr>
      </p:sp>
      <p:sp>
        <p:nvSpPr>
          <p:cNvPr id="10" name="cmt-body"/>
          <p:cNvSpPr txBox="1"/>
          <p:nvPr/>
        </p:nvSpPr>
        <p:spPr>
          <a:xfrm>
            <a:off x="6400800" y="2006600"/>
            <a:ext cx="5080000" cy="309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50000"/>
              </a:lnSpc>
            </a:pPr>
            <a:r>
              <a:rPr lang="en-US" sz="1200" b="1">
                <a:solidFill>
                  <a:srgbClr val="1E4D3B"/>
                </a:solidFill>
                <a:latin typeface="MiSans"/>
                <a:ea typeface="MiSans"/>
              </a:rPr>
              <a:t>目标</a:t>
            </a:r>
            <a:r>
              <a:rPr lang="en-US" sz="1200">
                <a:solidFill>
                  <a:srgbClr val="22211E"/>
                </a:solidFill>
                <a:latin typeface="MiSans"/>
                <a:ea typeface="MiSans"/>
              </a:rPr>
              <a:t> =「今日是否该灌」:每日一次、结果可验收,就是一张活的「委派单」(见第 11 页)。</a:t>
            </a:r>
            <a:endParaRPr lang="en-US" sz="120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200" b="1">
                <a:solidFill>
                  <a:srgbClr val="1E4D3B"/>
                </a:solidFill>
                <a:latin typeface="MiSans"/>
                <a:ea typeface="MiSans"/>
              </a:rPr>
              <a:t>行动</a:t>
            </a:r>
            <a:r>
              <a:rPr lang="en-US" sz="1200">
                <a:solidFill>
                  <a:srgbClr val="22211E"/>
                </a:solidFill>
                <a:latin typeface="MiSans"/>
                <a:ea typeface="MiSans"/>
              </a:rPr>
              <a:t> = 判灌引擎读取墒情、天气、生育期阈值,按 Skill 规则自动计算。</a:t>
            </a:r>
            <a:endParaRPr lang="en-US" sz="120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200" b="1">
                <a:solidFill>
                  <a:srgbClr val="1E4D3B"/>
                </a:solidFill>
                <a:latin typeface="MiSans"/>
                <a:ea typeface="MiSans"/>
              </a:rPr>
              <a:t>反馈</a:t>
            </a:r>
            <a:r>
              <a:rPr lang="en-US" sz="1200">
                <a:solidFill>
                  <a:srgbClr val="22211E"/>
                </a:solidFill>
                <a:latin typeface="MiSans"/>
                <a:ea typeface="MiSans"/>
              </a:rPr>
              <a:t> = 结构化判灌结论:是否该灌 + 按微灌/喷灌给出建议水量。</a:t>
            </a:r>
            <a:endParaRPr lang="en-US" sz="120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200" b="1">
                <a:solidFill>
                  <a:srgbClr val="1E4D3B"/>
                </a:solidFill>
                <a:latin typeface="MiSans"/>
                <a:ea typeface="MiSans"/>
              </a:rPr>
              <a:t>验证</a:t>
            </a:r>
            <a:r>
              <a:rPr lang="en-US" sz="1200">
                <a:solidFill>
                  <a:srgbClr val="22211E"/>
                </a:solidFill>
                <a:latin typeface="MiSans"/>
                <a:ea typeface="MiSans"/>
              </a:rPr>
              <a:t> = 判读说明展示研判依据,业务人员核对「为什么这样判」——人在回路(见第 18 页)。</a:t>
            </a:r>
            <a:endParaRPr lang="en-US" sz="120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200">
                <a:solidFill>
                  <a:srgbClr val="6B675F"/>
                </a:solidFill>
                <a:latin typeface="MiSans"/>
                <a:ea typeface="MiSans"/>
              </a:rPr>
              <a:t>四要素齐备、每天自动跑一圈:这就是生产环境里的 Loop。</a:t>
            </a:r>
            <a:endParaRPr lang="en-US" sz="1200"/>
          </a:p>
        </p:txBody>
      </p:sp>
      <p:sp>
        <p:nvSpPr>
          <p:cNvPr id="11" name="hi-box"/>
          <p:cNvSpPr/>
          <p:nvPr/>
        </p:nvSpPr>
        <p:spPr>
          <a:xfrm>
            <a:off x="711200" y="5334000"/>
            <a:ext cx="10769600" cy="736600"/>
          </a:xfrm>
          <a:prstGeom prst="rect">
            <a:avLst/>
          </a:prstGeom>
          <a:solidFill>
            <a:srgbClr val="EAF1EC"/>
          </a:solidFill>
          <a:ln>
            <a:noFill/>
          </a:ln>
        </p:spPr>
      </p:sp>
      <p:sp>
        <p:nvSpPr>
          <p:cNvPr id="12" name="hi-bar"/>
          <p:cNvSpPr/>
          <p:nvPr/>
        </p:nvSpPr>
        <p:spPr>
          <a:xfrm>
            <a:off x="711200" y="5334000"/>
            <a:ext cx="50800" cy="736600"/>
          </a:xfrm>
          <a:prstGeom prst="rect">
            <a:avLst/>
          </a:prstGeom>
          <a:solidFill>
            <a:srgbClr val="1E4D3B"/>
          </a:solidFill>
          <a:ln>
            <a:noFill/>
          </a:ln>
        </p:spPr>
      </p:sp>
      <p:sp>
        <p:nvSpPr>
          <p:cNvPr id="13" name="hi-icon"/>
          <p:cNvSpPr/>
          <p:nvPr>
            <p:extLst>
              <p:ext uri="{F5677B7D-0D2A-4D9B-9A5C-6D8D7D0E5A5D}">
                <pptd:icon encoding="base64url">eyJpY29uTmFtZSI6ImZhczpsaWdodGJ1bGIifQ</pptd:icon>
              </p:ext>
            </p:extLst>
          </p:nvPr>
        </p:nvSpPr>
        <p:spPr>
          <a:xfrm>
            <a:off x="965200" y="5588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293" y="384"/>
                </a:moveTo>
                <a:cubicBezTo>
                  <a:pt x="300" y="362"/>
                  <a:pt x="315" y="342"/>
                  <a:pt x="331" y="324"/>
                </a:cubicBezTo>
                <a:cubicBezTo>
                  <a:pt x="364" y="290"/>
                  <a:pt x="384" y="243"/>
                  <a:pt x="384" y="192"/>
                </a:cubicBezTo>
                <a:cubicBezTo>
                  <a:pt x="384" y="86"/>
                  <a:pt x="298" y="0"/>
                  <a:pt x="192" y="0"/>
                </a:cubicBezTo>
                <a:cubicBezTo>
                  <a:pt x="86" y="0"/>
                  <a:pt x="0" y="86"/>
                  <a:pt x="0" y="192"/>
                </a:cubicBezTo>
                <a:cubicBezTo>
                  <a:pt x="0" y="243"/>
                  <a:pt x="20" y="290"/>
                  <a:pt x="53" y="324"/>
                </a:cubicBezTo>
                <a:cubicBezTo>
                  <a:pt x="69" y="342"/>
                  <a:pt x="84" y="362"/>
                  <a:pt x="91" y="384"/>
                </a:cubicBezTo>
                <a:lnTo>
                  <a:pt x="293" y="384"/>
                </a:lnTo>
                <a:close/>
                <a:moveTo>
                  <a:pt x="184" y="112"/>
                </a:moveTo>
                <a:cubicBezTo>
                  <a:pt x="144" y="112"/>
                  <a:pt x="112" y="144"/>
                  <a:pt x="112" y="184"/>
                </a:cubicBezTo>
                <a:cubicBezTo>
                  <a:pt x="112" y="197"/>
                  <a:pt x="101" y="208"/>
                  <a:pt x="88" y="208"/>
                </a:cubicBezTo>
                <a:cubicBezTo>
                  <a:pt x="75" y="208"/>
                  <a:pt x="64" y="197"/>
                  <a:pt x="64" y="184"/>
                </a:cubicBezTo>
                <a:cubicBezTo>
                  <a:pt x="64" y="118"/>
                  <a:pt x="118" y="64"/>
                  <a:pt x="184" y="64"/>
                </a:cubicBezTo>
                <a:cubicBezTo>
                  <a:pt x="197" y="64"/>
                  <a:pt x="208" y="75"/>
                  <a:pt x="208" y="88"/>
                </a:cubicBezTo>
                <a:cubicBezTo>
                  <a:pt x="208" y="101"/>
                  <a:pt x="197" y="112"/>
                  <a:pt x="184" y="112"/>
                </a:cubicBezTo>
                <a:close/>
                <a:moveTo>
                  <a:pt x="288" y="432"/>
                </a:moveTo>
                <a:lnTo>
                  <a:pt x="96" y="432"/>
                </a:lnTo>
                <a:lnTo>
                  <a:pt x="96" y="448"/>
                </a:lnTo>
                <a:cubicBezTo>
                  <a:pt x="96" y="492"/>
                  <a:pt x="132" y="528"/>
                  <a:pt x="176" y="528"/>
                </a:cubicBezTo>
                <a:lnTo>
                  <a:pt x="208" y="528"/>
                </a:lnTo>
                <a:cubicBezTo>
                  <a:pt x="252" y="528"/>
                  <a:pt x="288" y="492"/>
                  <a:pt x="288" y="448"/>
                </a:cubicBezTo>
                <a:lnTo>
                  <a:pt x="288" y="432"/>
                </a:lnTo>
                <a:close/>
              </a:path>
            </a:pathLst>
          </a:custGeom>
          <a:solidFill>
            <a:srgbClr val="1E4D3B"/>
          </a:solidFill>
          <a:ln>
            <a:noFill/>
          </a:ln>
        </p:spPr>
      </p:sp>
      <p:sp>
        <p:nvSpPr>
          <p:cNvPr id="14" name="hi-body"/>
          <p:cNvSpPr txBox="1"/>
          <p:nvPr/>
        </p:nvSpPr>
        <p:spPr>
          <a:xfrm>
            <a:off x="1346200" y="5549900"/>
            <a:ext cx="99314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50000"/>
              </a:lnSpc>
            </a:pPr>
            <a:r>
              <a:rPr lang="en-US" sz="1200" b="1">
                <a:solidFill>
                  <a:srgbClr val="22211E"/>
                </a:solidFill>
                <a:latin typeface="MiSans"/>
                <a:ea typeface="MiSans"/>
              </a:rPr>
              <a:t>亮点:</a:t>
            </a:r>
            <a:r>
              <a:rPr lang="en-US" sz="1200">
                <a:solidFill>
                  <a:srgbClr val="22211E"/>
                </a:solidFill>
                <a:latin typeface="MiSans"/>
                <a:ea typeface="MiSans"/>
              </a:rPr>
              <a:t>规则从代码变成可对话修订的 Skill 文档,运营自行迭代、少依赖发版——把上下文工程交给了业务(见第 13 页)。</a:t>
            </a:r>
            <a:endParaRPr lang="en-US" sz="1200"/>
          </a:p>
        </p:txBody>
      </p:sp>
      <p:sp>
        <p:nvSpPr>
          <p:cNvPr id="15" name="footer-line"/>
          <p:cNvSpPr/>
          <p:nvPr/>
        </p:nvSpPr>
        <p:spPr>
          <a:xfrm>
            <a:off x="711200" y="6375400"/>
            <a:ext cx="10769600" cy="12700"/>
          </a:xfrm>
          <a:prstGeom prst="rect">
            <a:avLst/>
          </a:prstGeom>
          <a:solidFill>
            <a:srgbClr val="D8D3C8"/>
          </a:solidFill>
          <a:ln>
            <a:noFill/>
          </a:ln>
        </p:spPr>
      </p:sp>
      <p:sp>
        <p:nvSpPr>
          <p:cNvPr id="16" name="footer-src"/>
          <p:cNvSpPr txBox="1"/>
          <p:nvPr/>
        </p:nvSpPr>
        <p:spPr>
          <a:xfrm>
            <a:off x="711200" y="6477000"/>
            <a:ext cx="812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40000"/>
              </a:lnSpc>
            </a:pPr>
            <a:r>
              <a:rPr lang="en-US" sz="1000">
                <a:solidFill>
                  <a:srgbClr val="6B675F"/>
                </a:solidFill>
                <a:latin typeface="Liter"/>
                <a:ea typeface="Liter"/>
              </a:rPr>
              <a:t>来源:onsub.pub 项目进展汇报(2026-07-22)</a:t>
            </a:r>
            <a:endParaRPr lang="en-US" sz="1000"/>
          </a:p>
        </p:txBody>
      </p:sp>
      <p:sp>
        <p:nvSpPr>
          <p:cNvPr id="17" name="footer-page"/>
          <p:cNvSpPr txBox="1"/>
          <p:nvPr/>
        </p:nvSpPr>
        <p:spPr>
          <a:xfrm>
            <a:off x="10464800" y="64770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r">
              <a:lnSpc>
                <a:spcPct val="140000"/>
              </a:lnSpc>
            </a:pPr>
            <a:r>
              <a:rPr lang="en-US" sz="1000">
                <a:solidFill>
                  <a:srgbClr val="6B675F"/>
                </a:solidFill>
                <a:latin typeface="Liter"/>
                <a:ea typeface="Liter"/>
              </a:rPr>
              <a:t>26 / 35</a:t>
            </a:r>
            <a:endParaRPr lang="en-US" sz="1000"/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826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100" b="1" spc="200" kern="0">
                <a:solidFill>
                  <a:srgbClr val="C26A2E"/>
                </a:solidFill>
                <a:latin typeface="Liter"/>
                <a:ea typeface="Liter"/>
              </a:rPr>
              <a:t>05 内部案例 · 案例①(下)</a:t>
            </a:r>
            <a:endParaRPr lang="en-US" sz="1100"/>
          </a:p>
        </p:txBody>
      </p:sp>
      <p:sp>
        <p:nvSpPr>
          <p:cNvPr id="3" name="title"/>
          <p:cNvSpPr txBox="1"/>
          <p:nvPr/>
        </p:nvSpPr>
        <p:spPr>
          <a:xfrm>
            <a:off x="711200" y="7874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22211E"/>
                </a:solidFill>
                <a:latin typeface="Liter"/>
                <a:ea typeface="Liter"/>
              </a:rPr>
              <a:t>控制 Skill Demo = 教科书级的护栏设计</a:t>
            </a:r>
            <a:endParaRPr lang="en-US" sz="2600"/>
          </a:p>
        </p:txBody>
      </p:sp>
      <p:sp>
        <p:nvSpPr>
          <p:cNvPr id="4" name="fact-label"/>
          <p:cNvSpPr txBox="1"/>
          <p:nvPr/>
        </p:nvSpPr>
        <p:spPr>
          <a:xfrm>
            <a:off x="711200" y="147320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1E4D3B"/>
                </a:solidFill>
                <a:latin typeface="MiSans"/>
                <a:ea typeface="MiSans"/>
              </a:rPr>
              <a:t>事实速览 · 报告原文</a:t>
            </a:r>
            <a:endParaRPr lang="en-US" sz="1400"/>
          </a:p>
        </p:txBody>
      </p:sp>
      <p:sp>
        <p:nvSpPr>
          <p:cNvPr id="5" name="fact-bar"/>
          <p:cNvSpPr/>
          <p:nvPr/>
        </p:nvSpPr>
        <p:spPr>
          <a:xfrm>
            <a:off x="711200" y="1803400"/>
            <a:ext cx="406400" cy="38100"/>
          </a:xfrm>
          <a:prstGeom prst="rect">
            <a:avLst/>
          </a:prstGeom>
          <a:solidFill>
            <a:srgbClr val="1E4D3B"/>
          </a:solidFill>
          <a:ln>
            <a:noFill/>
          </a:ln>
        </p:spPr>
      </p:sp>
      <p:sp>
        <p:nvSpPr>
          <p:cNvPr id="6" name="fact-body"/>
          <p:cNvSpPr txBox="1"/>
          <p:nvPr/>
        </p:nvSpPr>
        <p:spPr>
          <a:xfrm>
            <a:off x="711200" y="2006600"/>
            <a:ext cx="5080000" cy="309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50000"/>
              </a:lnSpc>
            </a:pPr>
            <a:r>
              <a:rPr lang="en-US" sz="1200" b="1">
                <a:solidFill>
                  <a:srgbClr val="22211E"/>
                </a:solidFill>
                <a:latin typeface="MiSans"/>
                <a:ea typeface="MiSans"/>
              </a:rPr>
              <a:t>在验证什么:</a:t>
            </a:r>
            <a:r>
              <a:rPr lang="en-US" sz="1200">
                <a:solidFill>
                  <a:srgbClr val="22211E"/>
                </a:solidFill>
                <a:latin typeface="MiSans"/>
                <a:ea typeface="MiSans"/>
              </a:rPr>
              <a:t>自然语言能否稳定转成可确认的业务命令——开哪个阀、灌多久;整体链路可复现:意图 → 确认 → 执行 → 返回结果。</a:t>
            </a:r>
            <a:endParaRPr lang="en-US" sz="120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200" b="1">
                <a:solidFill>
                  <a:srgbClr val="22211E"/>
                </a:solidFill>
                <a:latin typeface="MiSans"/>
                <a:ea typeface="MiSans"/>
              </a:rPr>
              <a:t>分工:</a:t>
            </a:r>
            <a:r>
              <a:rPr lang="en-US" sz="1200">
                <a:solidFill>
                  <a:srgbClr val="22211E"/>
                </a:solidFill>
                <a:latin typeface="MiSans"/>
                <a:ea typeface="MiSans"/>
              </a:rPr>
              <a:t>AI 只负责理解意图;厂商协议(签名、Token、请求体)由确定性适配器代码处理,不由 AI 临场拼装。</a:t>
            </a:r>
            <a:endParaRPr lang="en-US" sz="120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200" b="1">
                <a:solidFill>
                  <a:srgbClr val="22211E"/>
                </a:solidFill>
                <a:latin typeface="MiSans"/>
                <a:ea typeface="MiSans"/>
              </a:rPr>
              <a:t>边界:</a:t>
            </a:r>
            <a:r>
              <a:rPr lang="en-US" sz="1200">
                <a:solidFill>
                  <a:srgbClr val="22211E"/>
                </a:solidFill>
                <a:latin typeface="MiSans"/>
                <a:ea typeface="MiSans"/>
              </a:rPr>
              <a:t>适配器在沙箱中执行(本地子进程 / Docker),用户确认后模拟开/关阀与状态查询;Demo 模式不真实下发,未接真实阀门。</a:t>
            </a:r>
            <a:endParaRPr lang="en-US" sz="120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200" b="1">
                <a:solidFill>
                  <a:srgbClr val="22211E"/>
                </a:solidFill>
                <a:latin typeface="MiSans"/>
                <a:ea typeface="MiSans"/>
              </a:rPr>
              <a:t>定位:</a:t>
            </a:r>
            <a:r>
              <a:rPr lang="en-US" sz="1200">
                <a:solidFill>
                  <a:srgbClr val="22211E"/>
                </a:solidFill>
                <a:latin typeface="MiSans"/>
                <a:ea typeface="MiSans"/>
              </a:rPr>
              <a:t>方案验证阶段,是否纳入产品路线尚未定论;业务口径是优先保证策略 Skill 判灌稳定。</a:t>
            </a:r>
            <a:endParaRPr lang="en-US" sz="1200"/>
          </a:p>
        </p:txBody>
      </p:sp>
      <p:sp>
        <p:nvSpPr>
          <p:cNvPr id="7" name="mid-divider"/>
          <p:cNvSpPr/>
          <p:nvPr/>
        </p:nvSpPr>
        <p:spPr>
          <a:xfrm>
            <a:off x="6096000" y="1473200"/>
            <a:ext cx="12700" cy="3632200"/>
          </a:xfrm>
          <a:prstGeom prst="rect">
            <a:avLst/>
          </a:prstGeom>
          <a:solidFill>
            <a:srgbClr val="D8D3C8"/>
          </a:solidFill>
          <a:ln>
            <a:noFill/>
          </a:ln>
        </p:spPr>
      </p:sp>
      <p:sp>
        <p:nvSpPr>
          <p:cNvPr id="8" name="cmt-label"/>
          <p:cNvSpPr txBox="1"/>
          <p:nvPr/>
        </p:nvSpPr>
        <p:spPr>
          <a:xfrm>
            <a:off x="6400800" y="14732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C26A2E"/>
                </a:solidFill>
                <a:latin typeface="MiSans"/>
                <a:ea typeface="MiSans"/>
              </a:rPr>
              <a:t>讲师点评 · 护栏层层拆解(见第 18 页)</a:t>
            </a:r>
            <a:endParaRPr lang="en-US" sz="1400"/>
          </a:p>
        </p:txBody>
      </p:sp>
      <p:sp>
        <p:nvSpPr>
          <p:cNvPr id="9" name="cmt-bar"/>
          <p:cNvSpPr/>
          <p:nvPr/>
        </p:nvSpPr>
        <p:spPr>
          <a:xfrm>
            <a:off x="6400800" y="1803400"/>
            <a:ext cx="406400" cy="38100"/>
          </a:xfrm>
          <a:prstGeom prst="rect">
            <a:avLst/>
          </a:prstGeom>
          <a:solidFill>
            <a:srgbClr val="C26A2E"/>
          </a:solidFill>
          <a:ln>
            <a:noFill/>
          </a:ln>
        </p:spPr>
      </p:sp>
      <p:sp>
        <p:nvSpPr>
          <p:cNvPr id="10" name="cmt-body"/>
          <p:cNvSpPr txBox="1"/>
          <p:nvPr/>
        </p:nvSpPr>
        <p:spPr>
          <a:xfrm>
            <a:off x="6400800" y="2006600"/>
            <a:ext cx="5080000" cy="309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50000"/>
              </a:lnSpc>
            </a:pPr>
            <a:r>
              <a:rPr lang="en-US" sz="1200" b="1">
                <a:solidFill>
                  <a:srgbClr val="1E4D3B"/>
                </a:solidFill>
                <a:latin typeface="MiSans"/>
                <a:ea typeface="MiSans"/>
              </a:rPr>
              <a:t>AI 做语义、代码做协议</a:t>
            </a:r>
            <a:r>
              <a:rPr lang="en-US" sz="1200">
                <a:solidFill>
                  <a:srgbClr val="22211E"/>
                </a:solidFill>
                <a:latin typeface="MiSans"/>
                <a:ea typeface="MiSans"/>
              </a:rPr>
              <a:t> =「好工具 = 确定性封装」的实践:高风险部分不让模型自由发挥(见第 17 页工具设计)。</a:t>
            </a:r>
            <a:endParaRPr lang="en-US" sz="120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200" b="1">
                <a:solidFill>
                  <a:srgbClr val="1E4D3B"/>
                </a:solidFill>
                <a:latin typeface="MiSans"/>
                <a:ea typeface="MiSans"/>
              </a:rPr>
              <a:t>执行前用户确认</a:t>
            </a:r>
            <a:r>
              <a:rPr lang="en-US" sz="1200">
                <a:solidFill>
                  <a:srgbClr val="22211E"/>
                </a:solidFill>
                <a:latin typeface="MiSans"/>
                <a:ea typeface="MiSans"/>
              </a:rPr>
              <a:t> = 人在回路:意图必须经人点头才进入执行(见第 18 页)。</a:t>
            </a:r>
            <a:endParaRPr lang="en-US" sz="120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200" b="1">
                <a:solidFill>
                  <a:srgbClr val="1E4D3B"/>
                </a:solidFill>
                <a:latin typeface="MiSans"/>
                <a:ea typeface="MiSans"/>
              </a:rPr>
              <a:t>沙箱执行、不真实下发</a:t>
            </a:r>
            <a:r>
              <a:rPr lang="en-US" sz="1200">
                <a:solidFill>
                  <a:srgbClr val="22211E"/>
                </a:solidFill>
                <a:latin typeface="MiSans"/>
                <a:ea typeface="MiSans"/>
              </a:rPr>
              <a:t> = 给智能体的安全护栏:先证明可控,再谈接入。</a:t>
            </a:r>
            <a:endParaRPr lang="en-US" sz="120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200" b="1">
                <a:solidFill>
                  <a:srgbClr val="1E4D3B"/>
                </a:solidFill>
                <a:latin typeface="MiSans"/>
                <a:ea typeface="MiSans"/>
              </a:rPr>
              <a:t>明示「Demo、未接真实阀门」</a:t>
            </a:r>
            <a:r>
              <a:rPr lang="en-US" sz="1200">
                <a:solidFill>
                  <a:srgbClr val="22211E"/>
                </a:solidFill>
                <a:latin typeface="MiSans"/>
                <a:ea typeface="MiSans"/>
              </a:rPr>
              <a:t> = 边界声明,风险分级的正面示范(见第 34 页三条红线)。</a:t>
            </a:r>
            <a:endParaRPr lang="en-US" sz="1200"/>
          </a:p>
        </p:txBody>
      </p:sp>
      <p:sp>
        <p:nvSpPr>
          <p:cNvPr id="11" name="todo-box"/>
          <p:cNvSpPr/>
          <p:nvPr/>
        </p:nvSpPr>
        <p:spPr>
          <a:xfrm>
            <a:off x="711200" y="5334000"/>
            <a:ext cx="10769600" cy="736600"/>
          </a:xfrm>
          <a:prstGeom prst="rect">
            <a:avLst/>
          </a:prstGeom>
          <a:solidFill>
            <a:srgbClr val="F7EBDC"/>
          </a:solidFill>
          <a:ln>
            <a:noFill/>
          </a:ln>
        </p:spPr>
      </p:sp>
      <p:sp>
        <p:nvSpPr>
          <p:cNvPr id="12" name="todo-bar"/>
          <p:cNvSpPr/>
          <p:nvPr/>
        </p:nvSpPr>
        <p:spPr>
          <a:xfrm>
            <a:off x="711200" y="5334000"/>
            <a:ext cx="50800" cy="736600"/>
          </a:xfrm>
          <a:prstGeom prst="rect">
            <a:avLst/>
          </a:prstGeom>
          <a:solidFill>
            <a:srgbClr val="C26A2E"/>
          </a:solidFill>
          <a:ln>
            <a:noFill/>
          </a:ln>
        </p:spPr>
      </p:sp>
      <p:sp>
        <p:nvSpPr>
          <p:cNvPr id="13" name="todo-icon"/>
          <p:cNvSpPr/>
          <p:nvPr>
            <p:extLst>
              <p:ext uri="{F5677B7D-0D2A-4D9B-9A5C-6D8D7D0E5A5D}">
                <pptd:icon encoding="base64url">eyJpY29uTmFtZSI6ImZhczpjbGlwYm9hcmQtY2hlY2sifQ</pptd:icon>
              </p:ext>
            </p:extLst>
          </p:nvPr>
        </p:nvSpPr>
        <p:spPr>
          <a:xfrm>
            <a:off x="965200" y="5588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256" y="0"/>
                </a:moveTo>
                <a:cubicBezTo>
                  <a:pt x="280" y="0"/>
                  <a:pt x="300" y="13"/>
                  <a:pt x="311" y="32"/>
                </a:cubicBezTo>
                <a:lnTo>
                  <a:pt x="320" y="32"/>
                </a:lnTo>
                <a:cubicBezTo>
                  <a:pt x="355" y="32"/>
                  <a:pt x="384" y="61"/>
                  <a:pt x="384" y="96"/>
                </a:cubicBezTo>
                <a:lnTo>
                  <a:pt x="384" y="448"/>
                </a:lnTo>
                <a:cubicBezTo>
                  <a:pt x="384" y="483"/>
                  <a:pt x="355" y="512"/>
                  <a:pt x="320" y="512"/>
                </a:cubicBezTo>
                <a:lnTo>
                  <a:pt x="64" y="512"/>
                </a:lnTo>
                <a:cubicBezTo>
                  <a:pt x="29" y="512"/>
                  <a:pt x="0" y="483"/>
                  <a:pt x="0" y="448"/>
                </a:cubicBezTo>
                <a:lnTo>
                  <a:pt x="0" y="96"/>
                </a:lnTo>
                <a:cubicBezTo>
                  <a:pt x="0" y="61"/>
                  <a:pt x="29" y="32"/>
                  <a:pt x="64" y="32"/>
                </a:cubicBezTo>
                <a:lnTo>
                  <a:pt x="73" y="32"/>
                </a:lnTo>
                <a:cubicBezTo>
                  <a:pt x="84" y="13"/>
                  <a:pt x="104" y="0"/>
                  <a:pt x="128" y="0"/>
                </a:cubicBezTo>
                <a:lnTo>
                  <a:pt x="256" y="0"/>
                </a:lnTo>
                <a:close/>
                <a:moveTo>
                  <a:pt x="283" y="213"/>
                </a:moveTo>
                <a:cubicBezTo>
                  <a:pt x="272" y="205"/>
                  <a:pt x="257" y="207"/>
                  <a:pt x="249" y="218"/>
                </a:cubicBezTo>
                <a:lnTo>
                  <a:pt x="164" y="336"/>
                </a:lnTo>
                <a:lnTo>
                  <a:pt x="137" y="308"/>
                </a:lnTo>
                <a:cubicBezTo>
                  <a:pt x="128" y="299"/>
                  <a:pt x="113" y="298"/>
                  <a:pt x="103" y="308"/>
                </a:cubicBezTo>
                <a:cubicBezTo>
                  <a:pt x="94" y="317"/>
                  <a:pt x="94" y="332"/>
                  <a:pt x="103" y="342"/>
                </a:cubicBezTo>
                <a:lnTo>
                  <a:pt x="149" y="390"/>
                </a:lnTo>
                <a:cubicBezTo>
                  <a:pt x="154" y="395"/>
                  <a:pt x="161" y="397"/>
                  <a:pt x="168" y="397"/>
                </a:cubicBezTo>
                <a:cubicBezTo>
                  <a:pt x="175" y="396"/>
                  <a:pt x="182" y="393"/>
                  <a:pt x="186" y="387"/>
                </a:cubicBezTo>
                <a:lnTo>
                  <a:pt x="288" y="246"/>
                </a:lnTo>
                <a:cubicBezTo>
                  <a:pt x="296" y="235"/>
                  <a:pt x="294" y="220"/>
                  <a:pt x="283" y="213"/>
                </a:cubicBezTo>
                <a:close/>
                <a:moveTo>
                  <a:pt x="136" y="64"/>
                </a:moveTo>
                <a:cubicBezTo>
                  <a:pt x="123" y="64"/>
                  <a:pt x="112" y="75"/>
                  <a:pt x="112" y="88"/>
                </a:cubicBezTo>
                <a:cubicBezTo>
                  <a:pt x="112" y="101"/>
                  <a:pt x="123" y="112"/>
                  <a:pt x="136" y="112"/>
                </a:cubicBezTo>
                <a:lnTo>
                  <a:pt x="248" y="112"/>
                </a:lnTo>
                <a:cubicBezTo>
                  <a:pt x="261" y="112"/>
                  <a:pt x="272" y="101"/>
                  <a:pt x="272" y="88"/>
                </a:cubicBezTo>
                <a:cubicBezTo>
                  <a:pt x="272" y="75"/>
                  <a:pt x="261" y="64"/>
                  <a:pt x="248" y="64"/>
                </a:cubicBezTo>
                <a:lnTo>
                  <a:pt x="136" y="64"/>
                </a:lnTo>
                <a:close/>
              </a:path>
            </a:pathLst>
          </a:custGeom>
          <a:solidFill>
            <a:srgbClr val="C26A2E"/>
          </a:solidFill>
          <a:ln>
            <a:noFill/>
          </a:ln>
        </p:spPr>
      </p:sp>
      <p:sp>
        <p:nvSpPr>
          <p:cNvPr id="14" name="todo-body"/>
          <p:cNvSpPr txBox="1"/>
          <p:nvPr/>
        </p:nvSpPr>
        <p:spPr>
          <a:xfrm>
            <a:off x="1346200" y="5549900"/>
            <a:ext cx="99314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50000"/>
              </a:lnSpc>
            </a:pPr>
            <a:r>
              <a:rPr lang="en-US" sz="1200" b="1">
                <a:solidFill>
                  <a:srgbClr val="22211E"/>
                </a:solidFill>
                <a:latin typeface="MiSans"/>
                <a:ea typeface="MiSans"/>
              </a:rPr>
              <a:t>待补:</a:t>
            </a:r>
            <a:r>
              <a:rPr lang="en-US" sz="1200">
                <a:solidFill>
                  <a:srgbClr val="22211E"/>
                </a:solidFill>
                <a:latin typeface="MiSans"/>
                <a:ea typeface="MiSans"/>
              </a:rPr>
              <a:t>真实凭证绑定后的权限细分与审计——报告自身已列入计划:真实凭证与设备绑定 → 限定场地试点 → 状态同步与生产沙箱加固。</a:t>
            </a:r>
            <a:endParaRPr lang="en-US" sz="1200"/>
          </a:p>
        </p:txBody>
      </p:sp>
      <p:sp>
        <p:nvSpPr>
          <p:cNvPr id="15" name="footer-line"/>
          <p:cNvSpPr/>
          <p:nvPr/>
        </p:nvSpPr>
        <p:spPr>
          <a:xfrm>
            <a:off x="711200" y="6375400"/>
            <a:ext cx="10769600" cy="12700"/>
          </a:xfrm>
          <a:prstGeom prst="rect">
            <a:avLst/>
          </a:prstGeom>
          <a:solidFill>
            <a:srgbClr val="D8D3C8"/>
          </a:solidFill>
          <a:ln>
            <a:noFill/>
          </a:ln>
        </p:spPr>
      </p:sp>
      <p:sp>
        <p:nvSpPr>
          <p:cNvPr id="16" name="footer-src"/>
          <p:cNvSpPr txBox="1"/>
          <p:nvPr/>
        </p:nvSpPr>
        <p:spPr>
          <a:xfrm>
            <a:off x="711200" y="6477000"/>
            <a:ext cx="812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40000"/>
              </a:lnSpc>
            </a:pPr>
            <a:r>
              <a:rPr lang="en-US" sz="1000">
                <a:solidFill>
                  <a:srgbClr val="6B675F"/>
                </a:solidFill>
                <a:latin typeface="Liter"/>
                <a:ea typeface="Liter"/>
              </a:rPr>
              <a:t>来源:onsub.pub 项目进展汇报(2026-07-22)</a:t>
            </a:r>
            <a:endParaRPr lang="en-US" sz="1000"/>
          </a:p>
        </p:txBody>
      </p:sp>
      <p:sp>
        <p:nvSpPr>
          <p:cNvPr id="17" name="footer-page"/>
          <p:cNvSpPr txBox="1"/>
          <p:nvPr/>
        </p:nvSpPr>
        <p:spPr>
          <a:xfrm>
            <a:off x="10464800" y="64770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r">
              <a:lnSpc>
                <a:spcPct val="140000"/>
              </a:lnSpc>
            </a:pPr>
            <a:r>
              <a:rPr lang="en-US" sz="1000">
                <a:solidFill>
                  <a:srgbClr val="6B675F"/>
                </a:solidFill>
                <a:latin typeface="Liter"/>
                <a:ea typeface="Liter"/>
              </a:rPr>
              <a:t>27 / 35</a:t>
            </a:r>
            <a:endParaRPr lang="en-US" sz="1000"/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826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100" b="1" spc="200" kern="0">
                <a:solidFill>
                  <a:srgbClr val="C26A2E"/>
                </a:solidFill>
                <a:latin typeface="Liter"/>
                <a:ea typeface="Liter"/>
              </a:rPr>
              <a:t>05 内部案例 · 案例② e生态平台重构</a:t>
            </a:r>
            <a:endParaRPr lang="en-US" sz="1100"/>
          </a:p>
        </p:txBody>
      </p:sp>
      <p:sp>
        <p:nvSpPr>
          <p:cNvPr id="3" name="title"/>
          <p:cNvSpPr txBox="1"/>
          <p:nvPr/>
        </p:nvSpPr>
        <p:spPr>
          <a:xfrm>
            <a:off x="711200" y="7874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22211E"/>
                </a:solidFill>
                <a:latin typeface="Liter"/>
                <a:ea typeface="Liter"/>
              </a:rPr>
              <a:t>为「人与 AI 协作」而设计的架构</a:t>
            </a:r>
            <a:endParaRPr lang="en-US" sz="2600"/>
          </a:p>
        </p:txBody>
      </p:sp>
      <p:sp>
        <p:nvSpPr>
          <p:cNvPr id="4" name="facts-h"/>
          <p:cNvSpPr txBox="1"/>
          <p:nvPr/>
        </p:nvSpPr>
        <p:spPr>
          <a:xfrm>
            <a:off x="711200" y="1524000"/>
            <a:ext cx="584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E4D3B"/>
                </a:solidFill>
                <a:latin typeface="Liter"/>
                <a:ea typeface="Liter"/>
              </a:rPr>
              <a:t>事实速览 · 报告里的关键数字</a:t>
            </a:r>
            <a:endParaRPr lang="en-US" sz="1500"/>
          </a:p>
        </p:txBody>
      </p:sp>
      <p:sp>
        <p:nvSpPr>
          <p:cNvPr id="5" name="stat-1-num"/>
          <p:cNvSpPr txBox="1"/>
          <p:nvPr/>
        </p:nvSpPr>
        <p:spPr>
          <a:xfrm>
            <a:off x="711200" y="1905000"/>
            <a:ext cx="1397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1E4D3B"/>
                </a:solidFill>
                <a:latin typeface="MiSans"/>
                <a:ea typeface="MiSans"/>
              </a:rPr>
              <a:t>14</a:t>
            </a:r>
            <a:endParaRPr lang="en-US" sz="2600"/>
          </a:p>
        </p:txBody>
      </p:sp>
      <p:sp>
        <p:nvSpPr>
          <p:cNvPr id="6" name="stat-1-desc"/>
          <p:cNvSpPr txBox="1"/>
          <p:nvPr/>
        </p:nvSpPr>
        <p:spPr>
          <a:xfrm>
            <a:off x="2209800" y="1905000"/>
            <a:ext cx="43434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22211E"/>
                </a:solidFill>
                <a:latin typeface="MiSans"/>
                <a:ea typeface="MiSans"/>
              </a:rPr>
              <a:t>个 VEP 提案立项(VEP-0001~0014):7 已交付、1 已批准、3 细化中、3 草稿</a:t>
            </a:r>
            <a:endParaRPr lang="en-US" sz="1200"/>
          </a:p>
        </p:txBody>
      </p:sp>
      <p:sp>
        <p:nvSpPr>
          <p:cNvPr id="7" name="stat-2-num"/>
          <p:cNvSpPr txBox="1"/>
          <p:nvPr/>
        </p:nvSpPr>
        <p:spPr>
          <a:xfrm>
            <a:off x="711200" y="2590800"/>
            <a:ext cx="1397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1E4D3B"/>
                </a:solidFill>
                <a:latin typeface="MiSans"/>
                <a:ea typeface="MiSans"/>
              </a:rPr>
              <a:t>98.6%</a:t>
            </a:r>
            <a:endParaRPr lang="en-US" sz="2600"/>
          </a:p>
        </p:txBody>
      </p:sp>
      <p:sp>
        <p:nvSpPr>
          <p:cNvPr id="8" name="stat-2-desc"/>
          <p:cNvSpPr txBox="1"/>
          <p:nvPr/>
        </p:nvSpPr>
        <p:spPr>
          <a:xfrm>
            <a:off x="2209800" y="2590800"/>
            <a:ext cx="43434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22211E"/>
                </a:solidFill>
                <a:latin typeface="MiSans"/>
                <a:ea typeface="MiSans"/>
              </a:rPr>
              <a:t>前端 v1.0 需求满足率(8 阶段 / 44 计划 / 71 需求,05-22 交付);v1.1 已交付 12 种设备详情页</a:t>
            </a:r>
            <a:endParaRPr lang="en-US" sz="1200"/>
          </a:p>
        </p:txBody>
      </p:sp>
      <p:sp>
        <p:nvSpPr>
          <p:cNvPr id="9" name="stat-3-num"/>
          <p:cNvSpPr txBox="1"/>
          <p:nvPr/>
        </p:nvSpPr>
        <p:spPr>
          <a:xfrm>
            <a:off x="711200" y="3276600"/>
            <a:ext cx="1397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1E4D3B"/>
                </a:solidFill>
                <a:latin typeface="MiSans"/>
                <a:ea typeface="MiSans"/>
              </a:rPr>
              <a:t>9</a:t>
            </a:r>
            <a:endParaRPr lang="en-US" sz="2600"/>
          </a:p>
        </p:txBody>
      </p:sp>
      <p:sp>
        <p:nvSpPr>
          <p:cNvPr id="10" name="stat-3-desc"/>
          <p:cNvSpPr txBox="1"/>
          <p:nvPr/>
        </p:nvSpPr>
        <p:spPr>
          <a:xfrm>
            <a:off x="2209800" y="3276600"/>
            <a:ext cx="43434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22211E"/>
                </a:solidFill>
                <a:latin typeface="MiSans"/>
                <a:ea typeface="MiSans"/>
              </a:rPr>
              <a:t>个 Spring Modulith 后端模块(identity→ticket),模块间仅经 api 包与事件通信</a:t>
            </a:r>
            <a:endParaRPr lang="en-US" sz="1200"/>
          </a:p>
        </p:txBody>
      </p:sp>
      <p:sp>
        <p:nvSpPr>
          <p:cNvPr id="11" name="facts-div"/>
          <p:cNvSpPr/>
          <p:nvPr/>
        </p:nvSpPr>
        <p:spPr>
          <a:xfrm>
            <a:off x="711200" y="3987800"/>
            <a:ext cx="5842000" cy="12700"/>
          </a:xfrm>
          <a:prstGeom prst="rect">
            <a:avLst/>
          </a:prstGeom>
          <a:solidFill>
            <a:srgbClr val="D8D3C8"/>
          </a:solidFill>
          <a:ln>
            <a:noFill/>
          </a:ln>
        </p:spPr>
      </p:sp>
      <p:sp>
        <p:nvSpPr>
          <p:cNvPr id="12" name="facts-more"/>
          <p:cNvSpPr txBox="1"/>
          <p:nvPr/>
        </p:nvSpPr>
        <p:spPr>
          <a:xfrm>
            <a:off x="711200" y="4140200"/>
            <a:ext cx="5842000" cy="190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55000"/>
              </a:lnSpc>
            </a:pPr>
            <a:r>
              <a:rPr lang="en-US" sz="1100">
                <a:solidFill>
                  <a:srgbClr val="22211E"/>
                </a:solidFill>
                <a:latin typeface="MiSans"/>
                <a:ea typeface="MiSans"/>
              </a:rPr>
              <a:t>· VEP-0007 统一目录规范:web / core / satellites / contracts / deploy 顶层结构,明确「支撑多技术栈与 AI 协作」</a:t>
            </a:r>
            <a:endParaRPr lang="en-US" sz="1100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100">
                <a:solidFill>
                  <a:srgbClr val="22211E"/>
                </a:solidFill>
                <a:latin typeface="MiSans"/>
                <a:ea typeface="MiSans"/>
              </a:rPr>
              <a:t>· VEP-0010 / 0011 于 07-22 合入:设备批量创建 + Principal/Passport 身份模型构成 P2 核心</a:t>
            </a:r>
            <a:endParaRPr lang="en-US" sz="1100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100">
                <a:solidFill>
                  <a:srgbClr val="22211E"/>
                </a:solidFill>
                <a:latin typeface="MiSans"/>
                <a:ea typeface="MiSans"/>
              </a:rPr>
              <a:t>· VEP-0014 已批准待实施:07-22 通过两轮评审,三条决策项待评审会定案</a:t>
            </a:r>
            <a:endParaRPr lang="en-US" sz="1100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100">
                <a:solidFill>
                  <a:srgbClr val="22211E"/>
                </a:solidFill>
                <a:latin typeface="MiSans"/>
                <a:ea typeface="MiSans"/>
              </a:rPr>
              <a:t>· VEP-0003 LLM+TTS 数字人讲解实验:草稿、探索性,不阻塞主线</a:t>
            </a:r>
            <a:endParaRPr lang="en-US" sz="1100"/>
          </a:p>
        </p:txBody>
      </p:sp>
      <p:sp>
        <p:nvSpPr>
          <p:cNvPr id="13" name="mid-div"/>
          <p:cNvSpPr/>
          <p:nvPr/>
        </p:nvSpPr>
        <p:spPr>
          <a:xfrm>
            <a:off x="6807200" y="1524000"/>
            <a:ext cx="12700" cy="4546600"/>
          </a:xfrm>
          <a:prstGeom prst="rect">
            <a:avLst/>
          </a:prstGeom>
          <a:solidFill>
            <a:srgbClr val="D8D3C8"/>
          </a:solidFill>
          <a:ln>
            <a:noFill/>
          </a:ln>
        </p:spPr>
      </p:sp>
      <p:sp>
        <p:nvSpPr>
          <p:cNvPr id="14" name="cmt-box"/>
          <p:cNvSpPr/>
          <p:nvPr/>
        </p:nvSpPr>
        <p:spPr>
          <a:xfrm>
            <a:off x="7061200" y="1524000"/>
            <a:ext cx="4419600" cy="4546600"/>
          </a:xfrm>
          <a:prstGeom prst="rect">
            <a:avLst/>
          </a:prstGeom>
          <a:solidFill>
            <a:srgbClr val="F7EBDC"/>
          </a:solidFill>
          <a:ln>
            <a:noFill/>
          </a:ln>
        </p:spPr>
      </p:sp>
      <p:sp>
        <p:nvSpPr>
          <p:cNvPr id="15" name="cmt-icon"/>
          <p:cNvSpPr/>
          <p:nvPr>
            <p:extLst>
              <p:ext uri="{F5677B7D-0D2A-4D9B-9A5C-6D8D7D0E5A5D}">
                <pptd:icon encoding="base64url">eyJpY29uTmFtZSI6ImZhczpjaGFsa2JvYXJkLXVzZXIifQ</pptd:icon>
              </p:ext>
            </p:extLst>
          </p:nvPr>
        </p:nvSpPr>
        <p:spPr>
          <a:xfrm>
            <a:off x="7264400" y="16764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192" y="384"/>
                </a:moveTo>
                <a:cubicBezTo>
                  <a:pt x="245" y="384"/>
                  <a:pt x="288" y="427"/>
                  <a:pt x="288" y="480"/>
                </a:cubicBezTo>
                <a:cubicBezTo>
                  <a:pt x="288" y="498"/>
                  <a:pt x="274" y="512"/>
                  <a:pt x="256" y="512"/>
                </a:cubicBezTo>
                <a:lnTo>
                  <a:pt x="32" y="512"/>
                </a:lnTo>
                <a:cubicBezTo>
                  <a:pt x="14" y="512"/>
                  <a:pt x="0" y="498"/>
                  <a:pt x="0" y="480"/>
                </a:cubicBezTo>
                <a:cubicBezTo>
                  <a:pt x="0" y="427"/>
                  <a:pt x="43" y="384"/>
                  <a:pt x="96" y="384"/>
                </a:cubicBezTo>
                <a:lnTo>
                  <a:pt x="192" y="384"/>
                </a:lnTo>
                <a:close/>
                <a:moveTo>
                  <a:pt x="544" y="32"/>
                </a:moveTo>
                <a:cubicBezTo>
                  <a:pt x="579" y="32"/>
                  <a:pt x="608" y="61"/>
                  <a:pt x="608" y="96"/>
                </a:cubicBezTo>
                <a:lnTo>
                  <a:pt x="608" y="384"/>
                </a:lnTo>
                <a:cubicBezTo>
                  <a:pt x="608" y="417"/>
                  <a:pt x="583" y="444"/>
                  <a:pt x="551" y="448"/>
                </a:cubicBezTo>
                <a:lnTo>
                  <a:pt x="544" y="448"/>
                </a:lnTo>
                <a:lnTo>
                  <a:pt x="333" y="448"/>
                </a:lnTo>
                <a:cubicBezTo>
                  <a:pt x="328" y="424"/>
                  <a:pt x="317" y="402"/>
                  <a:pt x="301" y="384"/>
                </a:cubicBezTo>
                <a:lnTo>
                  <a:pt x="352" y="384"/>
                </a:lnTo>
                <a:lnTo>
                  <a:pt x="352" y="352"/>
                </a:lnTo>
                <a:cubicBezTo>
                  <a:pt x="352" y="334"/>
                  <a:pt x="366" y="320"/>
                  <a:pt x="384" y="320"/>
                </a:cubicBezTo>
                <a:lnTo>
                  <a:pt x="480" y="320"/>
                </a:lnTo>
                <a:cubicBezTo>
                  <a:pt x="498" y="320"/>
                  <a:pt x="512" y="334"/>
                  <a:pt x="512" y="352"/>
                </a:cubicBezTo>
                <a:lnTo>
                  <a:pt x="512" y="384"/>
                </a:lnTo>
                <a:lnTo>
                  <a:pt x="544" y="384"/>
                </a:lnTo>
                <a:lnTo>
                  <a:pt x="544" y="96"/>
                </a:lnTo>
                <a:lnTo>
                  <a:pt x="192" y="96"/>
                </a:lnTo>
                <a:lnTo>
                  <a:pt x="192" y="153"/>
                </a:lnTo>
                <a:cubicBezTo>
                  <a:pt x="177" y="147"/>
                  <a:pt x="161" y="144"/>
                  <a:pt x="144" y="144"/>
                </a:cubicBezTo>
                <a:cubicBezTo>
                  <a:pt x="139" y="144"/>
                  <a:pt x="133" y="144"/>
                  <a:pt x="128" y="145"/>
                </a:cubicBezTo>
                <a:lnTo>
                  <a:pt x="128" y="96"/>
                </a:lnTo>
                <a:cubicBezTo>
                  <a:pt x="128" y="61"/>
                  <a:pt x="157" y="32"/>
                  <a:pt x="192" y="32"/>
                </a:cubicBezTo>
                <a:lnTo>
                  <a:pt x="544" y="32"/>
                </a:lnTo>
                <a:close/>
                <a:moveTo>
                  <a:pt x="144" y="352"/>
                </a:moveTo>
                <a:cubicBezTo>
                  <a:pt x="100" y="352"/>
                  <a:pt x="64" y="316"/>
                  <a:pt x="64" y="272"/>
                </a:cubicBezTo>
                <a:cubicBezTo>
                  <a:pt x="64" y="228"/>
                  <a:pt x="100" y="192"/>
                  <a:pt x="144" y="192"/>
                </a:cubicBezTo>
                <a:cubicBezTo>
                  <a:pt x="188" y="192"/>
                  <a:pt x="224" y="228"/>
                  <a:pt x="224" y="272"/>
                </a:cubicBezTo>
                <a:cubicBezTo>
                  <a:pt x="224" y="316"/>
                  <a:pt x="188" y="352"/>
                  <a:pt x="144" y="352"/>
                </a:cubicBezTo>
                <a:close/>
              </a:path>
            </a:pathLst>
          </a:custGeom>
          <a:solidFill>
            <a:srgbClr val="C26A2E"/>
          </a:solidFill>
          <a:ln>
            <a:noFill/>
          </a:ln>
        </p:spPr>
      </p:sp>
      <p:sp>
        <p:nvSpPr>
          <p:cNvPr id="16" name="cmt-label"/>
          <p:cNvSpPr txBox="1"/>
          <p:nvPr/>
        </p:nvSpPr>
        <p:spPr>
          <a:xfrm>
            <a:off x="7569200" y="1663700"/>
            <a:ext cx="203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C26A2E"/>
                </a:solidFill>
                <a:latin typeface="MiSans"/>
                <a:ea typeface="MiSans"/>
              </a:rPr>
              <a:t>讲师点评</a:t>
            </a:r>
            <a:endParaRPr lang="en-US" sz="1400"/>
          </a:p>
        </p:txBody>
      </p:sp>
      <p:sp>
        <p:nvSpPr>
          <p:cNvPr id="17" name="cmt-sub"/>
          <p:cNvSpPr txBox="1"/>
          <p:nvPr/>
        </p:nvSpPr>
        <p:spPr>
          <a:xfrm>
            <a:off x="7264400" y="1981200"/>
            <a:ext cx="40132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40000"/>
              </a:lnSpc>
            </a:pPr>
            <a:r>
              <a:rPr lang="en-US" sz="1000">
                <a:solidFill>
                  <a:srgbClr val="6B675F"/>
                </a:solidFill>
                <a:latin typeface="Liter"/>
                <a:ea typeface="Liter"/>
              </a:rPr>
              <a:t>用第二、三章的课程概念拆这个项目</a:t>
            </a:r>
            <a:endParaRPr lang="en-US" sz="1000"/>
          </a:p>
        </p:txBody>
      </p:sp>
      <p:sp>
        <p:nvSpPr>
          <p:cNvPr id="18" name="cmt-body"/>
          <p:cNvSpPr txBox="1"/>
          <p:nvPr/>
        </p:nvSpPr>
        <p:spPr>
          <a:xfrm>
            <a:off x="7264400" y="2286000"/>
            <a:ext cx="4013200" cy="309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50000"/>
              </a:lnSpc>
            </a:pPr>
            <a:r>
              <a:rPr lang="en-US" sz="1200" b="1">
                <a:solidFill>
                  <a:srgbClr val="22211E"/>
                </a:solidFill>
                <a:latin typeface="MiSans"/>
                <a:ea typeface="MiSans"/>
              </a:rPr>
              <a:t>目录规范 + 模块边界 = 可导航环境。</a:t>
            </a:r>
            <a:r>
              <a:rPr lang="en-US" sz="1200">
                <a:solidFill>
                  <a:srgbClr val="22211E"/>
                </a:solidFill>
                <a:latin typeface="MiSans"/>
                <a:ea typeface="MiSans"/>
              </a:rPr>
              <a:t>仓库结构本身就是给 Coding Agent 的上下文工程(呼应第 15 页 Harness)</a:t>
            </a:r>
            <a:endParaRPr lang="en-US" sz="120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200" b="1">
                <a:solidFill>
                  <a:srgbClr val="22211E"/>
                </a:solidFill>
                <a:latin typeface="MiSans"/>
                <a:ea typeface="MiSans"/>
              </a:rPr>
              <a:t>VEP 提案 = 委派单。</a:t>
            </a:r>
            <a:r>
              <a:rPr lang="en-US" sz="1200">
                <a:solidFill>
                  <a:srgbClr val="22211E"/>
                </a:solidFill>
                <a:latin typeface="MiSans"/>
                <a:ea typeface="MiSans"/>
              </a:rPr>
              <a:t>目标、边界、验收标准先行,再动工(呼应第 11 页委派单)</a:t>
            </a:r>
            <a:endParaRPr lang="en-US" sz="120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200" b="1">
                <a:solidFill>
                  <a:srgbClr val="22211E"/>
                </a:solidFill>
                <a:latin typeface="MiSans"/>
                <a:ea typeface="MiSans"/>
              </a:rPr>
              <a:t>两轮评审 = 人在回路。</a:t>
            </a:r>
            <a:r>
              <a:rPr lang="en-US" sz="1200">
                <a:solidFill>
                  <a:srgbClr val="22211E"/>
                </a:solidFill>
                <a:latin typeface="MiSans"/>
                <a:ea typeface="MiSans"/>
              </a:rPr>
              <a:t>产出可以加速,定案权留给人(呼应第 18 页验证与护栏)</a:t>
            </a:r>
            <a:endParaRPr lang="en-US" sz="120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200" b="1">
                <a:solidFill>
                  <a:srgbClr val="22211E"/>
                </a:solidFill>
                <a:latin typeface="MiSans"/>
                <a:ea typeface="MiSans"/>
              </a:rPr>
              <a:t>探索性提案单列 = 风险分级。</a:t>
            </a:r>
            <a:r>
              <a:rPr lang="en-US" sz="1200">
                <a:solidFill>
                  <a:srgbClr val="22211E"/>
                </a:solidFill>
                <a:latin typeface="MiSans"/>
                <a:ea typeface="MiSans"/>
              </a:rPr>
              <a:t>数字人实验不阻塞主循环(呼应第 16 页 Loop 四要素)</a:t>
            </a:r>
            <a:endParaRPr lang="en-US" sz="1200"/>
          </a:p>
        </p:txBody>
      </p:sp>
      <p:sp>
        <p:nvSpPr>
          <p:cNvPr id="19" name="cmt-div"/>
          <p:cNvSpPr/>
          <p:nvPr/>
        </p:nvSpPr>
        <p:spPr>
          <a:xfrm>
            <a:off x="7264400" y="5461000"/>
            <a:ext cx="4013200" cy="12700"/>
          </a:xfrm>
          <a:prstGeom prst="rect">
            <a:avLst/>
          </a:prstGeom>
          <a:solidFill>
            <a:srgbClr val="D8D3C8"/>
          </a:solidFill>
          <a:ln>
            <a:noFill/>
          </a:ln>
        </p:spPr>
      </p:sp>
      <p:sp>
        <p:nvSpPr>
          <p:cNvPr id="20" name="cmt-bottom"/>
          <p:cNvSpPr txBox="1"/>
          <p:nvPr/>
        </p:nvSpPr>
        <p:spPr>
          <a:xfrm>
            <a:off x="7264400" y="5562600"/>
            <a:ext cx="40132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C26A2E"/>
                </a:solidFill>
                <a:latin typeface="MiSans"/>
                <a:ea typeface="MiSans"/>
              </a:rPr>
              <a:t>一句话:把 Harness 思维用在工程组织上——环境先于人,边界先于代码。</a:t>
            </a:r>
            <a:endParaRPr lang="en-US" sz="1200"/>
          </a:p>
        </p:txBody>
      </p:sp>
      <p:sp>
        <p:nvSpPr>
          <p:cNvPr id="21" name="footer-line"/>
          <p:cNvSpPr/>
          <p:nvPr/>
        </p:nvSpPr>
        <p:spPr>
          <a:xfrm>
            <a:off x="711200" y="6375400"/>
            <a:ext cx="10769600" cy="12700"/>
          </a:xfrm>
          <a:prstGeom prst="rect">
            <a:avLst/>
          </a:prstGeom>
          <a:solidFill>
            <a:srgbClr val="D8D3C8"/>
          </a:solidFill>
          <a:ln>
            <a:noFill/>
          </a:ln>
        </p:spPr>
      </p:sp>
      <p:sp>
        <p:nvSpPr>
          <p:cNvPr id="22" name="footer-src"/>
          <p:cNvSpPr txBox="1"/>
          <p:nvPr/>
        </p:nvSpPr>
        <p:spPr>
          <a:xfrm>
            <a:off x="711200" y="6477000"/>
            <a:ext cx="812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40000"/>
              </a:lnSpc>
            </a:pPr>
            <a:r>
              <a:rPr lang="en-US" sz="1000">
                <a:solidFill>
                  <a:srgbClr val="6B675F"/>
                </a:solidFill>
                <a:latin typeface="Liter"/>
                <a:ea typeface="Liter"/>
              </a:rPr>
              <a:t>来源:e生态平台重构项目进展报告(2026-07-22)</a:t>
            </a:r>
            <a:endParaRPr lang="en-US" sz="1000"/>
          </a:p>
        </p:txBody>
      </p:sp>
      <p:sp>
        <p:nvSpPr>
          <p:cNvPr id="23" name="footer-page"/>
          <p:cNvSpPr txBox="1"/>
          <p:nvPr/>
        </p:nvSpPr>
        <p:spPr>
          <a:xfrm>
            <a:off x="10464800" y="64770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r">
              <a:lnSpc>
                <a:spcPct val="140000"/>
              </a:lnSpc>
            </a:pPr>
            <a:r>
              <a:rPr lang="en-US" sz="1000">
                <a:solidFill>
                  <a:srgbClr val="6B675F"/>
                </a:solidFill>
                <a:latin typeface="Liter"/>
                <a:ea typeface="Liter"/>
              </a:rPr>
              <a:t>28 / 35</a:t>
            </a:r>
            <a:endParaRPr lang="en-US" sz="1000"/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826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100" b="1" spc="200" kern="0">
                <a:solidFill>
                  <a:srgbClr val="C26A2E"/>
                </a:solidFill>
                <a:latin typeface="Liter"/>
                <a:ea typeface="Liter"/>
              </a:rPr>
              <a:t>05 内部案例 · 案例③ IST-OS 固件</a:t>
            </a:r>
            <a:endParaRPr lang="en-US" sz="1100"/>
          </a:p>
        </p:txBody>
      </p:sp>
      <p:sp>
        <p:nvSpPr>
          <p:cNvPr id="3" name="title"/>
          <p:cNvSpPr txBox="1"/>
          <p:nvPr/>
        </p:nvSpPr>
        <p:spPr>
          <a:xfrm>
            <a:off x="711200" y="7874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22211E"/>
                </a:solidFill>
                <a:latin typeface="Liter"/>
                <a:ea typeface="Liter"/>
              </a:rPr>
              <a:t>测试即护栏,缺环境即断点</a:t>
            </a:r>
            <a:endParaRPr lang="en-US" sz="2600"/>
          </a:p>
        </p:txBody>
      </p:sp>
      <p:sp>
        <p:nvSpPr>
          <p:cNvPr id="4" name="facts-h"/>
          <p:cNvSpPr txBox="1"/>
          <p:nvPr/>
        </p:nvSpPr>
        <p:spPr>
          <a:xfrm>
            <a:off x="711200" y="1524000"/>
            <a:ext cx="584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E4D3B"/>
                </a:solidFill>
                <a:latin typeface="Liter"/>
                <a:ea typeface="Liter"/>
              </a:rPr>
              <a:t>事实速览 · 验证体系全绿,断点在环境</a:t>
            </a:r>
            <a:endParaRPr lang="en-US" sz="1500"/>
          </a:p>
        </p:txBody>
      </p:sp>
      <p:sp>
        <p:nvSpPr>
          <p:cNvPr id="5" name="stat-1-num"/>
          <p:cNvSpPr txBox="1"/>
          <p:nvPr/>
        </p:nvSpPr>
        <p:spPr>
          <a:xfrm>
            <a:off x="711200" y="1905000"/>
            <a:ext cx="14732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rgbClr val="1E4D3B"/>
                </a:solidFill>
                <a:latin typeface="MiSans"/>
                <a:ea typeface="MiSans"/>
              </a:rPr>
              <a:t>503/503</a:t>
            </a:r>
            <a:endParaRPr lang="en-US" sz="2400"/>
          </a:p>
        </p:txBody>
      </p:sp>
      <p:sp>
        <p:nvSpPr>
          <p:cNvPr id="6" name="stat-1-desc"/>
          <p:cNvSpPr txBox="1"/>
          <p:nvPr/>
        </p:nvSpPr>
        <p:spPr>
          <a:xfrm>
            <a:off x="2286000" y="1905000"/>
            <a:ext cx="42672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22211E"/>
                </a:solidFill>
                <a:latin typeface="MiSans"/>
                <a:ea typeface="MiSans"/>
              </a:rPr>
              <a:t>主机端单元测试全部通过(Phase 28 生产硬化完成,Tick 回绕风险清零)</a:t>
            </a:r>
            <a:endParaRPr lang="en-US" sz="1200"/>
          </a:p>
        </p:txBody>
      </p:sp>
      <p:sp>
        <p:nvSpPr>
          <p:cNvPr id="7" name="stat-2-num"/>
          <p:cNvSpPr txBox="1"/>
          <p:nvPr/>
        </p:nvSpPr>
        <p:spPr>
          <a:xfrm>
            <a:off x="711200" y="2590800"/>
            <a:ext cx="14732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rgbClr val="1E4D3B"/>
                </a:solidFill>
                <a:latin typeface="MiSans"/>
                <a:ea typeface="MiSans"/>
              </a:rPr>
              <a:t>62/62</a:t>
            </a:r>
            <a:endParaRPr lang="en-US" sz="2400"/>
          </a:p>
        </p:txBody>
      </p:sp>
      <p:sp>
        <p:nvSpPr>
          <p:cNvPr id="8" name="stat-2-desc"/>
          <p:cNvSpPr txBox="1"/>
          <p:nvPr/>
        </p:nvSpPr>
        <p:spPr>
          <a:xfrm>
            <a:off x="2286000" y="2590800"/>
            <a:ext cx="42672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22211E"/>
                </a:solidFill>
                <a:latin typeface="MiSans"/>
                <a:ea typeface="MiSans"/>
              </a:rPr>
              <a:t>HIL 硬件在环测试全部通过;ARM 双产品构建通过(SOIL + HYDROLOGY)</a:t>
            </a:r>
            <a:endParaRPr lang="en-US" sz="1200"/>
          </a:p>
        </p:txBody>
      </p:sp>
      <p:sp>
        <p:nvSpPr>
          <p:cNvPr id="9" name="stat-3-num"/>
          <p:cNvSpPr txBox="1"/>
          <p:nvPr/>
        </p:nvSpPr>
        <p:spPr>
          <a:xfrm>
            <a:off x="711200" y="3276600"/>
            <a:ext cx="14732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rgbClr val="1E4D3B"/>
                </a:solidFill>
                <a:latin typeface="MiSans"/>
                <a:ea typeface="MiSans"/>
              </a:rPr>
              <a:t>≤17</a:t>
            </a:r>
            <a:endParaRPr lang="en-US" sz="2400"/>
          </a:p>
        </p:txBody>
      </p:sp>
      <p:sp>
        <p:nvSpPr>
          <p:cNvPr id="10" name="stat-3-desc"/>
          <p:cNvSpPr txBox="1"/>
          <p:nvPr/>
        </p:nvSpPr>
        <p:spPr>
          <a:xfrm>
            <a:off x="2286000" y="3276600"/>
            <a:ext cx="42672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22211E"/>
                </a:solidFill>
                <a:latin typeface="MiSans"/>
                <a:ea typeface="MiSans"/>
              </a:rPr>
              <a:t>MISRA C:2012 违规数;PRECOMMIT_FULL 全项通过,覆盖率 ≥75% 维持</a:t>
            </a:r>
            <a:endParaRPr lang="en-US" sz="1200"/>
          </a:p>
        </p:txBody>
      </p:sp>
      <p:sp>
        <p:nvSpPr>
          <p:cNvPr id="11" name="facts-div"/>
          <p:cNvSpPr/>
          <p:nvPr/>
        </p:nvSpPr>
        <p:spPr>
          <a:xfrm>
            <a:off x="711200" y="3987800"/>
            <a:ext cx="5842000" cy="12700"/>
          </a:xfrm>
          <a:prstGeom prst="rect">
            <a:avLst/>
          </a:prstGeom>
          <a:solidFill>
            <a:srgbClr val="D8D3C8"/>
          </a:solidFill>
          <a:ln>
            <a:noFill/>
          </a:ln>
        </p:spPr>
      </p:sp>
      <p:sp>
        <p:nvSpPr>
          <p:cNvPr id="12" name="facts-more"/>
          <p:cNvSpPr txBox="1"/>
          <p:nvPr/>
        </p:nvSpPr>
        <p:spPr>
          <a:xfrm>
            <a:off x="711200" y="4140200"/>
            <a:ext cx="5842000" cy="190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55000"/>
              </a:lnSpc>
            </a:pPr>
            <a:r>
              <a:rPr lang="en-US" sz="1100">
                <a:solidFill>
                  <a:srgbClr val="22211E"/>
                </a:solidFill>
                <a:latin typeface="MiSans"/>
                <a:ea typeface="MiSans"/>
              </a:rPr>
              <a:t>· 里程碑 v1.4.0「生产就绪」总体进度 50%:Phase 26 / 28 已完成,Phase 29 现场与硬件验证待启动</a:t>
            </a:r>
            <a:endParaRPr lang="en-US" sz="1100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100">
                <a:solidFill>
                  <a:srgbClr val="22211E"/>
                </a:solidFill>
                <a:latin typeface="MiSans"/>
                <a:ea typeface="MiSans"/>
              </a:rPr>
              <a:t>· Phase 27 Wave 1~5 完成:协议 1:1 差距全部修复,497 项测试通过</a:t>
            </a:r>
            <a:endParaRPr lang="en-US" sz="1100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100">
                <a:solidFill>
                  <a:srgbClr val="22211E"/>
                </a:solidFill>
                <a:latin typeface="MiSans"/>
                <a:ea typeface="MiSans"/>
              </a:rPr>
              <a:t>· </a:t>
            </a:r>
            <a:r>
              <a:rPr lang="en-US" sz="1100" b="1">
                <a:solidFill>
                  <a:srgbClr val="C26A2E"/>
                </a:solidFill>
                <a:latin typeface="MiSans"/>
                <a:ea typeface="MiSans"/>
              </a:rPr>
              <a:t>Wave 6 云端联调阻塞</a:t>
            </a:r>
            <a:r>
              <a:rPr lang="en-US" sz="1100">
                <a:solidFill>
                  <a:srgbClr val="22211E"/>
                </a:solidFill>
                <a:latin typeface="MiSans"/>
                <a:ea typeface="MiSans"/>
              </a:rPr>
              <a:t>:缺 Insentek 测试/沙箱环境,端到端注册、CFG 下发、cigem 命令往返、OTA 流程无法验证</a:t>
            </a:r>
            <a:endParaRPr lang="en-US" sz="1100"/>
          </a:p>
        </p:txBody>
      </p:sp>
      <p:sp>
        <p:nvSpPr>
          <p:cNvPr id="13" name="mid-div"/>
          <p:cNvSpPr/>
          <p:nvPr/>
        </p:nvSpPr>
        <p:spPr>
          <a:xfrm>
            <a:off x="6807200" y="1524000"/>
            <a:ext cx="12700" cy="4546600"/>
          </a:xfrm>
          <a:prstGeom prst="rect">
            <a:avLst/>
          </a:prstGeom>
          <a:solidFill>
            <a:srgbClr val="D8D3C8"/>
          </a:solidFill>
          <a:ln>
            <a:noFill/>
          </a:ln>
        </p:spPr>
      </p:sp>
      <p:sp>
        <p:nvSpPr>
          <p:cNvPr id="14" name="cmt-box"/>
          <p:cNvSpPr/>
          <p:nvPr/>
        </p:nvSpPr>
        <p:spPr>
          <a:xfrm>
            <a:off x="7061200" y="1524000"/>
            <a:ext cx="4419600" cy="4546600"/>
          </a:xfrm>
          <a:prstGeom prst="rect">
            <a:avLst/>
          </a:prstGeom>
          <a:solidFill>
            <a:srgbClr val="F7EBDC"/>
          </a:solidFill>
          <a:ln>
            <a:noFill/>
          </a:ln>
        </p:spPr>
      </p:sp>
      <p:sp>
        <p:nvSpPr>
          <p:cNvPr id="15" name="cmt-icon"/>
          <p:cNvSpPr/>
          <p:nvPr>
            <p:extLst>
              <p:ext uri="{F5677B7D-0D2A-4D9B-9A5C-6D8D7D0E5A5D}">
                <pptd:icon encoding="base64url">eyJpY29uTmFtZSI6ImZhczpjaGFsa2JvYXJkLXVzZXIifQ</pptd:icon>
              </p:ext>
            </p:extLst>
          </p:nvPr>
        </p:nvSpPr>
        <p:spPr>
          <a:xfrm>
            <a:off x="7264400" y="16764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192" y="384"/>
                </a:moveTo>
                <a:cubicBezTo>
                  <a:pt x="245" y="384"/>
                  <a:pt x="288" y="427"/>
                  <a:pt x="288" y="480"/>
                </a:cubicBezTo>
                <a:cubicBezTo>
                  <a:pt x="288" y="498"/>
                  <a:pt x="274" y="512"/>
                  <a:pt x="256" y="512"/>
                </a:cubicBezTo>
                <a:lnTo>
                  <a:pt x="32" y="512"/>
                </a:lnTo>
                <a:cubicBezTo>
                  <a:pt x="14" y="512"/>
                  <a:pt x="0" y="498"/>
                  <a:pt x="0" y="480"/>
                </a:cubicBezTo>
                <a:cubicBezTo>
                  <a:pt x="0" y="427"/>
                  <a:pt x="43" y="384"/>
                  <a:pt x="96" y="384"/>
                </a:cubicBezTo>
                <a:lnTo>
                  <a:pt x="192" y="384"/>
                </a:lnTo>
                <a:close/>
                <a:moveTo>
                  <a:pt x="544" y="32"/>
                </a:moveTo>
                <a:cubicBezTo>
                  <a:pt x="579" y="32"/>
                  <a:pt x="608" y="61"/>
                  <a:pt x="608" y="96"/>
                </a:cubicBezTo>
                <a:lnTo>
                  <a:pt x="608" y="384"/>
                </a:lnTo>
                <a:cubicBezTo>
                  <a:pt x="608" y="417"/>
                  <a:pt x="583" y="444"/>
                  <a:pt x="551" y="448"/>
                </a:cubicBezTo>
                <a:lnTo>
                  <a:pt x="544" y="448"/>
                </a:lnTo>
                <a:lnTo>
                  <a:pt x="333" y="448"/>
                </a:lnTo>
                <a:cubicBezTo>
                  <a:pt x="328" y="424"/>
                  <a:pt x="317" y="402"/>
                  <a:pt x="301" y="384"/>
                </a:cubicBezTo>
                <a:lnTo>
                  <a:pt x="352" y="384"/>
                </a:lnTo>
                <a:lnTo>
                  <a:pt x="352" y="352"/>
                </a:lnTo>
                <a:cubicBezTo>
                  <a:pt x="352" y="334"/>
                  <a:pt x="366" y="320"/>
                  <a:pt x="384" y="320"/>
                </a:cubicBezTo>
                <a:lnTo>
                  <a:pt x="480" y="320"/>
                </a:lnTo>
                <a:cubicBezTo>
                  <a:pt x="498" y="320"/>
                  <a:pt x="512" y="334"/>
                  <a:pt x="512" y="352"/>
                </a:cubicBezTo>
                <a:lnTo>
                  <a:pt x="512" y="384"/>
                </a:lnTo>
                <a:lnTo>
                  <a:pt x="544" y="384"/>
                </a:lnTo>
                <a:lnTo>
                  <a:pt x="544" y="96"/>
                </a:lnTo>
                <a:lnTo>
                  <a:pt x="192" y="96"/>
                </a:lnTo>
                <a:lnTo>
                  <a:pt x="192" y="153"/>
                </a:lnTo>
                <a:cubicBezTo>
                  <a:pt x="177" y="147"/>
                  <a:pt x="161" y="144"/>
                  <a:pt x="144" y="144"/>
                </a:cubicBezTo>
                <a:cubicBezTo>
                  <a:pt x="139" y="144"/>
                  <a:pt x="133" y="144"/>
                  <a:pt x="128" y="145"/>
                </a:cubicBezTo>
                <a:lnTo>
                  <a:pt x="128" y="96"/>
                </a:lnTo>
                <a:cubicBezTo>
                  <a:pt x="128" y="61"/>
                  <a:pt x="157" y="32"/>
                  <a:pt x="192" y="32"/>
                </a:cubicBezTo>
                <a:lnTo>
                  <a:pt x="544" y="32"/>
                </a:lnTo>
                <a:close/>
                <a:moveTo>
                  <a:pt x="144" y="352"/>
                </a:moveTo>
                <a:cubicBezTo>
                  <a:pt x="100" y="352"/>
                  <a:pt x="64" y="316"/>
                  <a:pt x="64" y="272"/>
                </a:cubicBezTo>
                <a:cubicBezTo>
                  <a:pt x="64" y="228"/>
                  <a:pt x="100" y="192"/>
                  <a:pt x="144" y="192"/>
                </a:cubicBezTo>
                <a:cubicBezTo>
                  <a:pt x="188" y="192"/>
                  <a:pt x="224" y="228"/>
                  <a:pt x="224" y="272"/>
                </a:cubicBezTo>
                <a:cubicBezTo>
                  <a:pt x="224" y="316"/>
                  <a:pt x="188" y="352"/>
                  <a:pt x="144" y="352"/>
                </a:cubicBezTo>
                <a:close/>
              </a:path>
            </a:pathLst>
          </a:custGeom>
          <a:solidFill>
            <a:srgbClr val="C26A2E"/>
          </a:solidFill>
          <a:ln>
            <a:noFill/>
          </a:ln>
        </p:spPr>
      </p:sp>
      <p:sp>
        <p:nvSpPr>
          <p:cNvPr id="16" name="cmt-label"/>
          <p:cNvSpPr txBox="1"/>
          <p:nvPr/>
        </p:nvSpPr>
        <p:spPr>
          <a:xfrm>
            <a:off x="7569200" y="1663700"/>
            <a:ext cx="203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C26A2E"/>
                </a:solidFill>
                <a:latin typeface="MiSans"/>
                <a:ea typeface="MiSans"/>
              </a:rPr>
              <a:t>讲师点评</a:t>
            </a:r>
            <a:endParaRPr lang="en-US" sz="1400"/>
          </a:p>
        </p:txBody>
      </p:sp>
      <p:sp>
        <p:nvSpPr>
          <p:cNvPr id="17" name="cmt-sub"/>
          <p:cNvSpPr txBox="1"/>
          <p:nvPr/>
        </p:nvSpPr>
        <p:spPr>
          <a:xfrm>
            <a:off x="7264400" y="1981200"/>
            <a:ext cx="40132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40000"/>
              </a:lnSpc>
            </a:pPr>
            <a:r>
              <a:rPr lang="en-US" sz="1000">
                <a:solidFill>
                  <a:srgbClr val="6B675F"/>
                </a:solidFill>
                <a:latin typeface="Liter"/>
                <a:ea typeface="Liter"/>
              </a:rPr>
              <a:t>用第二、三章的课程概念拆这个项目</a:t>
            </a:r>
            <a:endParaRPr lang="en-US" sz="1000"/>
          </a:p>
        </p:txBody>
      </p:sp>
      <p:sp>
        <p:nvSpPr>
          <p:cNvPr id="18" name="cmt-body"/>
          <p:cNvSpPr txBox="1"/>
          <p:nvPr/>
        </p:nvSpPr>
        <p:spPr>
          <a:xfrm>
            <a:off x="7264400" y="2286000"/>
            <a:ext cx="4013200" cy="309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50000"/>
              </a:lnSpc>
            </a:pPr>
            <a:r>
              <a:rPr lang="en-US" sz="1200" b="1">
                <a:solidFill>
                  <a:srgbClr val="22211E"/>
                </a:solidFill>
                <a:latin typeface="MiSans"/>
                <a:ea typeface="MiSans"/>
              </a:rPr>
              <a:t>正面:验证即护栏。</a:t>
            </a:r>
            <a:r>
              <a:rPr lang="en-US" sz="1200">
                <a:solidFill>
                  <a:srgbClr val="22211E"/>
                </a:solidFill>
                <a:latin typeface="MiSans"/>
                <a:ea typeface="MiSans"/>
              </a:rPr>
              <a:t>每一圈迭代都有程序化验证——单测 / HIL / MISRA / 预提交全自动;验证自动化,Coding Agent 才敢快跑(呼应第 16 页 Loop 四要素 · 验证、第 18 页验证与护栏)</a:t>
            </a:r>
            <a:endParaRPr lang="en-US" sz="120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200" b="1">
                <a:solidFill>
                  <a:srgbClr val="22211E"/>
                </a:solidFill>
                <a:latin typeface="MiSans"/>
                <a:ea typeface="MiSans"/>
              </a:rPr>
              <a:t>反面:缺沙箱 = 断点。</a:t>
            </a:r>
            <a:r>
              <a:rPr lang="en-US" sz="1200">
                <a:solidFill>
                  <a:srgbClr val="22211E"/>
                </a:solidFill>
                <a:latin typeface="MiSans"/>
                <a:ea typeface="MiSans"/>
              </a:rPr>
              <a:t>没有测试环境,端到端循环断裂,进展停在 Wave 6——Harness 缺一块,智能体就跑不动(呼应第 15 页 Harness)</a:t>
            </a:r>
            <a:endParaRPr lang="en-US" sz="120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200" b="1">
                <a:solidFill>
                  <a:srgbClr val="22211E"/>
                </a:solidFill>
                <a:latin typeface="MiSans"/>
                <a:ea typeface="MiSans"/>
              </a:rPr>
              <a:t>启示:造环境与写代码同样重要。</a:t>
            </a:r>
            <a:r>
              <a:rPr lang="en-US" sz="1200">
                <a:solidFill>
                  <a:srgbClr val="22211E"/>
                </a:solidFill>
                <a:latin typeface="MiSans"/>
                <a:ea typeface="MiSans"/>
              </a:rPr>
              <a:t>沙箱 / 仿真先行,循环才闭得上(呼应第 17 页工具设计)</a:t>
            </a:r>
            <a:endParaRPr lang="en-US" sz="1200"/>
          </a:p>
        </p:txBody>
      </p:sp>
      <p:sp>
        <p:nvSpPr>
          <p:cNvPr id="19" name="cmt-div"/>
          <p:cNvSpPr/>
          <p:nvPr/>
        </p:nvSpPr>
        <p:spPr>
          <a:xfrm>
            <a:off x="7264400" y="5461000"/>
            <a:ext cx="4013200" cy="12700"/>
          </a:xfrm>
          <a:prstGeom prst="rect">
            <a:avLst/>
          </a:prstGeom>
          <a:solidFill>
            <a:srgbClr val="D8D3C8"/>
          </a:solidFill>
          <a:ln>
            <a:noFill/>
          </a:ln>
        </p:spPr>
      </p:sp>
      <p:sp>
        <p:nvSpPr>
          <p:cNvPr id="20" name="cmt-bottom"/>
          <p:cNvSpPr txBox="1"/>
          <p:nvPr/>
        </p:nvSpPr>
        <p:spPr>
          <a:xfrm>
            <a:off x="7264400" y="5562600"/>
            <a:ext cx="40132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C26A2E"/>
                </a:solidFill>
                <a:latin typeface="MiSans"/>
                <a:ea typeface="MiSans"/>
              </a:rPr>
              <a:t>一句话:测试全绿 ≠ 能交付——缺一块环境,循环就停在 Wave 6。</a:t>
            </a:r>
            <a:endParaRPr lang="en-US" sz="1200"/>
          </a:p>
        </p:txBody>
      </p:sp>
      <p:sp>
        <p:nvSpPr>
          <p:cNvPr id="21" name="footer-line"/>
          <p:cNvSpPr/>
          <p:nvPr/>
        </p:nvSpPr>
        <p:spPr>
          <a:xfrm>
            <a:off x="711200" y="6375400"/>
            <a:ext cx="10769600" cy="12700"/>
          </a:xfrm>
          <a:prstGeom prst="rect">
            <a:avLst/>
          </a:prstGeom>
          <a:solidFill>
            <a:srgbClr val="D8D3C8"/>
          </a:solidFill>
          <a:ln>
            <a:noFill/>
          </a:ln>
        </p:spPr>
      </p:sp>
      <p:sp>
        <p:nvSpPr>
          <p:cNvPr id="22" name="footer-src"/>
          <p:cNvSpPr txBox="1"/>
          <p:nvPr/>
        </p:nvSpPr>
        <p:spPr>
          <a:xfrm>
            <a:off x="711200" y="6477000"/>
            <a:ext cx="812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40000"/>
              </a:lnSpc>
            </a:pPr>
            <a:r>
              <a:rPr lang="en-US" sz="1000">
                <a:solidFill>
                  <a:srgbClr val="6B675F"/>
                </a:solidFill>
                <a:latin typeface="Liter"/>
                <a:ea typeface="Liter"/>
              </a:rPr>
              <a:t>来源:IST-OS 项目进度报告(2026-07-22)</a:t>
            </a:r>
            <a:endParaRPr lang="en-US" sz="1000"/>
          </a:p>
        </p:txBody>
      </p:sp>
      <p:sp>
        <p:nvSpPr>
          <p:cNvPr id="23" name="footer-page"/>
          <p:cNvSpPr txBox="1"/>
          <p:nvPr/>
        </p:nvSpPr>
        <p:spPr>
          <a:xfrm>
            <a:off x="10464800" y="64770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r">
              <a:lnSpc>
                <a:spcPct val="140000"/>
              </a:lnSpc>
            </a:pPr>
            <a:r>
              <a:rPr lang="en-US" sz="1000">
                <a:solidFill>
                  <a:srgbClr val="6B675F"/>
                </a:solidFill>
                <a:latin typeface="Liter"/>
                <a:ea typeface="Liter"/>
              </a:rPr>
              <a:t>29 / 35</a:t>
            </a:r>
            <a:endParaRPr lang="en-US" sz="1000"/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826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100" b="1" spc="200" kern="0">
                <a:solidFill>
                  <a:srgbClr val="C26A2E"/>
                </a:solidFill>
                <a:latin typeface="Liter"/>
                <a:ea typeface="Liter"/>
              </a:rPr>
              <a:t>05 内部案例 · 案例④ 耘曜</a:t>
            </a:r>
            <a:endParaRPr lang="en-US" sz="1100"/>
          </a:p>
        </p:txBody>
      </p:sp>
      <p:sp>
        <p:nvSpPr>
          <p:cNvPr id="3" name="title"/>
          <p:cNvSpPr txBox="1"/>
          <p:nvPr/>
        </p:nvSpPr>
        <p:spPr>
          <a:xfrm>
            <a:off x="711200" y="7874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22211E"/>
                </a:solidFill>
                <a:latin typeface="Liter"/>
                <a:ea typeface="Liter"/>
              </a:rPr>
              <a:t>代码重构快,物理现场慢——智能体的边界课</a:t>
            </a:r>
            <a:endParaRPr lang="en-US" sz="2600"/>
          </a:p>
        </p:txBody>
      </p:sp>
      <p:sp>
        <p:nvSpPr>
          <p:cNvPr id="4" name="fact-h"/>
          <p:cNvSpPr txBox="1"/>
          <p:nvPr/>
        </p:nvSpPr>
        <p:spPr>
          <a:xfrm>
            <a:off x="711200" y="15240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E4D3B"/>
                </a:solidFill>
                <a:latin typeface="Liter"/>
                <a:ea typeface="Liter"/>
              </a:rPr>
              <a:t>事实速览 · 报告原文要点</a:t>
            </a:r>
            <a:endParaRPr lang="en-US" sz="1500"/>
          </a:p>
        </p:txBody>
      </p:sp>
      <p:sp>
        <p:nvSpPr>
          <p:cNvPr id="5" name="s1-label"/>
          <p:cNvSpPr txBox="1"/>
          <p:nvPr/>
        </p:nvSpPr>
        <p:spPr>
          <a:xfrm>
            <a:off x="711200" y="18796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100" b="1">
                <a:solidFill>
                  <a:srgbClr val="1E4D3B"/>
                </a:solidFill>
                <a:latin typeface="MiSans"/>
                <a:ea typeface="MiSans"/>
              </a:rPr>
              <a:t>① 架构重构(已完成)</a:t>
            </a:r>
            <a:endParaRPr lang="en-US" sz="1100"/>
          </a:p>
        </p:txBody>
      </p:sp>
      <p:sp>
        <p:nvSpPr>
          <p:cNvPr id="6" name="s1-body"/>
          <p:cNvSpPr txBox="1"/>
          <p:nvPr/>
        </p:nvSpPr>
        <p:spPr>
          <a:xfrm>
            <a:off x="711200" y="2120900"/>
            <a:ext cx="53848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50000"/>
              </a:lnSpc>
            </a:pPr>
            <a:r>
              <a:rPr lang="en-US" sz="1150">
                <a:solidFill>
                  <a:srgbClr val="22211E"/>
                </a:solidFill>
                <a:latin typeface="MiSans"/>
                <a:ea typeface="MiSans"/>
              </a:rPr>
              <a:t>· 单体阻塞式 → 事件驱动:epoll + timerfd + 状态机</a:t>
            </a:r>
            <a:endParaRPr lang="en-US" sz="1150"/>
          </a:p>
          <a:p>
            <a:pPr>
              <a:lnSpc>
                <a:spcPct val="150000"/>
              </a:lnSpc>
            </a:pPr>
            <a:r>
              <a:rPr lang="en-US" sz="1150">
                <a:solidFill>
                  <a:srgbClr val="22211E"/>
                </a:solidFill>
                <a:latin typeface="MiSans"/>
                <a:ea typeface="MiSans"/>
              </a:rPr>
              <a:t>· DeviceContext 替代 66 个全局变量;442 处 printf → 结构化日志</a:t>
            </a:r>
            <a:endParaRPr lang="en-US" sz="1150"/>
          </a:p>
          <a:p>
            <a:pPr>
              <a:lnSpc>
                <a:spcPct val="150000"/>
              </a:lnSpc>
            </a:pPr>
            <a:r>
              <a:rPr lang="en-US" sz="1150">
                <a:solidFill>
                  <a:srgbClr val="22211E"/>
                </a:solidFill>
                <a:latin typeface="MiSans"/>
                <a:ea typeface="MiSans"/>
              </a:rPr>
              <a:t>· system() → 白名单 safe_execute();配置原子写入防断电写坏</a:t>
            </a:r>
            <a:endParaRPr lang="en-US" sz="1150"/>
          </a:p>
          <a:p>
            <a:pPr>
              <a:lnSpc>
                <a:spcPct val="150000"/>
              </a:lnSpc>
            </a:pPr>
            <a:r>
              <a:rPr lang="en-US" sz="1150">
                <a:solidFill>
                  <a:srgbClr val="22211E"/>
                </a:solidFill>
                <a:latin typeface="MiSans"/>
                <a:ea typeface="MiSans"/>
              </a:rPr>
              <a:t>· 苗情/虫情照片压缩后上传,带宽下降约 95%</a:t>
            </a:r>
            <a:endParaRPr lang="en-US" sz="1150"/>
          </a:p>
        </p:txBody>
      </p:sp>
      <p:sp>
        <p:nvSpPr>
          <p:cNvPr id="7" name="s2-label"/>
          <p:cNvSpPr txBox="1"/>
          <p:nvPr/>
        </p:nvSpPr>
        <p:spPr>
          <a:xfrm>
            <a:off x="711200" y="33909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100" b="1">
                <a:solidFill>
                  <a:srgbClr val="1E4D3B"/>
                </a:solidFill>
                <a:latin typeface="MiSans"/>
                <a:ea typeface="MiSans"/>
              </a:rPr>
              <a:t>② 现场调试:修复的关键问题</a:t>
            </a:r>
            <a:endParaRPr lang="en-US" sz="1100"/>
          </a:p>
        </p:txBody>
      </p:sp>
      <p:sp>
        <p:nvSpPr>
          <p:cNvPr id="8" name="s2-body"/>
          <p:cNvSpPr txBox="1"/>
          <p:nvPr/>
        </p:nvSpPr>
        <p:spPr>
          <a:xfrm>
            <a:off x="711200" y="3632200"/>
            <a:ext cx="53848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50000"/>
              </a:lnSpc>
            </a:pPr>
            <a:r>
              <a:rPr lang="en-US" sz="1150">
                <a:solidFill>
                  <a:srgbClr val="22211E"/>
                </a:solidFill>
                <a:latin typeface="MiSans"/>
                <a:ea typeface="MiSans"/>
              </a:rPr>
              <a:t>· 485 采集:串口初始化时序须与原版一致,上电等待 30 → 60 秒</a:t>
            </a:r>
            <a:endParaRPr lang="en-US" sz="1150"/>
          </a:p>
          <a:p>
            <a:pPr>
              <a:lnSpc>
                <a:spcPct val="150000"/>
              </a:lnSpc>
            </a:pPr>
            <a:r>
              <a:rPr lang="en-US" sz="1150">
                <a:solidFill>
                  <a:srgbClr val="22211E"/>
                </a:solidFill>
                <a:latin typeface="MiSans"/>
                <a:ea typeface="MiSans"/>
              </a:rPr>
              <a:t>· 看门狗误杀:PID 文件缺陷致双进程撞 485 总线,flock 保证单实例</a:t>
            </a:r>
            <a:endParaRPr lang="en-US" sz="1150"/>
          </a:p>
          <a:p>
            <a:pPr>
              <a:lnSpc>
                <a:spcPct val="150000"/>
              </a:lnSpc>
            </a:pPr>
            <a:r>
              <a:rPr lang="en-US" sz="1150">
                <a:solidFill>
                  <a:srgbClr val="22211E"/>
                </a:solidFill>
                <a:latin typeface="MiSans"/>
                <a:ea typeface="MiSans"/>
              </a:rPr>
              <a:t>· 断网「假登录」:socket 半开骗过健康检查 → 连续 12 次失败直接重启系统</a:t>
            </a:r>
            <a:endParaRPr lang="en-US" sz="1150"/>
          </a:p>
          <a:p>
            <a:pPr>
              <a:lnSpc>
                <a:spcPct val="150000"/>
              </a:lnSpc>
            </a:pPr>
            <a:r>
              <a:rPr lang="en-US" sz="1150">
                <a:solidFill>
                  <a:srgbClr val="22211E"/>
                </a:solidFill>
                <a:latin typeface="MiSans"/>
                <a:ea typeface="MiSans"/>
              </a:rPr>
              <a:t>· 苗情回退原版:短生命周期模式,由 crontab 按云端配置整点启动</a:t>
            </a:r>
            <a:endParaRPr lang="en-US" sz="1150"/>
          </a:p>
        </p:txBody>
      </p:sp>
      <p:sp>
        <p:nvSpPr>
          <p:cNvPr id="9" name="s3-box"/>
          <p:cNvSpPr/>
          <p:nvPr/>
        </p:nvSpPr>
        <p:spPr>
          <a:xfrm>
            <a:off x="711200" y="4927600"/>
            <a:ext cx="5384800" cy="1117600"/>
          </a:xfrm>
          <a:prstGeom prst="rect">
            <a:avLst/>
          </a:prstGeom>
          <a:solidFill>
            <a:srgbClr val="F7EBDC"/>
          </a:solidFill>
          <a:ln>
            <a:noFill/>
          </a:ln>
        </p:spPr>
      </p:sp>
      <p:sp>
        <p:nvSpPr>
          <p:cNvPr id="10" name="s3-label"/>
          <p:cNvSpPr txBox="1"/>
          <p:nvPr/>
        </p:nvSpPr>
        <p:spPr>
          <a:xfrm>
            <a:off x="914400" y="5054600"/>
            <a:ext cx="49784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100" b="1">
                <a:solidFill>
                  <a:srgbClr val="C26A2E"/>
                </a:solidFill>
                <a:latin typeface="MiSans"/>
                <a:ea typeface="MiSans"/>
              </a:rPr>
              <a:t>③ 教训:代码实现了 ≠ 部署到位</a:t>
            </a:r>
            <a:endParaRPr lang="en-US" sz="1100"/>
          </a:p>
        </p:txBody>
      </p:sp>
      <p:sp>
        <p:nvSpPr>
          <p:cNvPr id="11" name="s3-body"/>
          <p:cNvSpPr txBox="1"/>
          <p:nvPr/>
        </p:nvSpPr>
        <p:spPr>
          <a:xfrm>
            <a:off x="914400" y="5295900"/>
            <a:ext cx="49784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50000"/>
              </a:lnSpc>
            </a:pPr>
            <a:r>
              <a:rPr lang="en-US" sz="1150">
                <a:solidFill>
                  <a:srgbClr val="22211E"/>
                </a:solidFill>
                <a:latin typeface="MiSans"/>
                <a:ea typeface="MiSans"/>
              </a:rPr>
              <a:t>cron 兜底代码早已实现,但 crontab 从未实际部署,断网后兜底从未生效;断网恢复机制待现场连续观察 1–2 周,已补部署检查清单。</a:t>
            </a:r>
            <a:endParaRPr lang="en-US" sz="1150"/>
          </a:p>
        </p:txBody>
      </p:sp>
      <p:sp>
        <p:nvSpPr>
          <p:cNvPr id="12" name="col-div"/>
          <p:cNvSpPr/>
          <p:nvPr/>
        </p:nvSpPr>
        <p:spPr>
          <a:xfrm>
            <a:off x="6299200" y="1524000"/>
            <a:ext cx="12700" cy="4521200"/>
          </a:xfrm>
          <a:prstGeom prst="rect">
            <a:avLst/>
          </a:prstGeom>
          <a:solidFill>
            <a:srgbClr val="D8D3C8"/>
          </a:solidFill>
          <a:ln>
            <a:noFill/>
          </a:ln>
        </p:spPr>
      </p:sp>
      <p:sp>
        <p:nvSpPr>
          <p:cNvPr id="13" name="rv-tag-bg"/>
          <p:cNvSpPr/>
          <p:nvPr/>
        </p:nvSpPr>
        <p:spPr>
          <a:xfrm>
            <a:off x="6502400" y="1524000"/>
            <a:ext cx="990600" cy="254000"/>
          </a:xfrm>
          <a:prstGeom prst="rect">
            <a:avLst/>
          </a:prstGeom>
          <a:solidFill>
            <a:srgbClr val="C26A2E"/>
          </a:solidFill>
          <a:ln>
            <a:noFill/>
          </a:ln>
        </p:spPr>
      </p:sp>
      <p:sp>
        <p:nvSpPr>
          <p:cNvPr id="14" name="rv-tag"/>
          <p:cNvSpPr txBox="1"/>
          <p:nvPr/>
        </p:nvSpPr>
        <p:spPr>
          <a:xfrm>
            <a:off x="6502400" y="1524000"/>
            <a:ext cx="9906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100" b="1">
                <a:solidFill>
                  <a:srgbClr val="FFFFFF"/>
                </a:solidFill>
                <a:latin typeface="MiSans"/>
                <a:ea typeface="MiSans"/>
              </a:rPr>
              <a:t>讲师点评</a:t>
            </a:r>
            <a:endParaRPr lang="en-US" sz="1100"/>
          </a:p>
        </p:txBody>
      </p:sp>
      <p:sp>
        <p:nvSpPr>
          <p:cNvPr id="15" name="rv-p1-t"/>
          <p:cNvSpPr txBox="1"/>
          <p:nvPr/>
        </p:nvSpPr>
        <p:spPr>
          <a:xfrm>
            <a:off x="6502400" y="1930400"/>
            <a:ext cx="49784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300" b="1">
                <a:solidFill>
                  <a:srgbClr val="1E4D3B"/>
                </a:solidFill>
                <a:latin typeface="MiSans"/>
                <a:ea typeface="MiSans"/>
              </a:rPr>
              <a:t>代码层可以被 AI 加速</a:t>
            </a:r>
            <a:endParaRPr lang="en-US" sz="1300"/>
          </a:p>
        </p:txBody>
      </p:sp>
      <p:sp>
        <p:nvSpPr>
          <p:cNvPr id="16" name="rv-p1-d"/>
          <p:cNvSpPr txBox="1"/>
          <p:nvPr/>
        </p:nvSpPr>
        <p:spPr>
          <a:xfrm>
            <a:off x="6502400" y="2184400"/>
            <a:ext cx="49784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50000"/>
              </a:lnSpc>
            </a:pPr>
            <a:r>
              <a:rPr lang="en-US" sz="1150">
                <a:solidFill>
                  <a:srgbClr val="22211E"/>
                </a:solidFill>
                <a:latin typeface="MiSans"/>
                <a:ea typeface="MiSans"/>
              </a:rPr>
              <a:t>重构目标清晰、验收明确,正是 Coding Agent 的主场。</a:t>
            </a:r>
            <a:r>
              <a:rPr lang="en-US" sz="1150">
                <a:solidFill>
                  <a:srgbClr val="6B675F"/>
                </a:solidFill>
                <a:latin typeface="MiSans"/>
                <a:ea typeface="MiSans"/>
              </a:rPr>
              <a:t>呼应第 11 页 · 委派单</a:t>
            </a:r>
            <a:endParaRPr lang="en-US" sz="1150"/>
          </a:p>
        </p:txBody>
      </p:sp>
      <p:sp>
        <p:nvSpPr>
          <p:cNvPr id="17" name="rv-d1"/>
          <p:cNvSpPr/>
          <p:nvPr/>
        </p:nvSpPr>
        <p:spPr>
          <a:xfrm>
            <a:off x="6502400" y="2794000"/>
            <a:ext cx="4978400" cy="12700"/>
          </a:xfrm>
          <a:prstGeom prst="rect">
            <a:avLst/>
          </a:prstGeom>
          <a:solidFill>
            <a:srgbClr val="D8D3C8"/>
          </a:solidFill>
          <a:ln>
            <a:noFill/>
          </a:ln>
        </p:spPr>
      </p:sp>
      <p:sp>
        <p:nvSpPr>
          <p:cNvPr id="18" name="rv-p2-t"/>
          <p:cNvSpPr txBox="1"/>
          <p:nvPr/>
        </p:nvSpPr>
        <p:spPr>
          <a:xfrm>
            <a:off x="6502400" y="2921000"/>
            <a:ext cx="49784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300" b="1">
                <a:solidFill>
                  <a:srgbClr val="1E4D3B"/>
                </a:solidFill>
                <a:latin typeface="MiSans"/>
                <a:ea typeface="MiSans"/>
              </a:rPr>
              <a:t>物理验证循环不可压缩</a:t>
            </a:r>
            <a:endParaRPr lang="en-US" sz="1300"/>
          </a:p>
        </p:txBody>
      </p:sp>
      <p:sp>
        <p:nvSpPr>
          <p:cNvPr id="19" name="rv-p2-d"/>
          <p:cNvSpPr txBox="1"/>
          <p:nvPr/>
        </p:nvSpPr>
        <p:spPr>
          <a:xfrm>
            <a:off x="6502400" y="3175000"/>
            <a:ext cx="49784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50000"/>
              </a:lnSpc>
            </a:pPr>
            <a:r>
              <a:rPr lang="en-US" sz="1150">
                <a:solidFill>
                  <a:srgbClr val="22211E"/>
                </a:solidFill>
                <a:latin typeface="MiSans"/>
                <a:ea typeface="MiSans"/>
              </a:rPr>
              <a:t>断网恢复要现场连续观察 1–2 周——「反馈」环节省不掉,模型再强也快不了。</a:t>
            </a:r>
            <a:r>
              <a:rPr lang="en-US" sz="1150">
                <a:solidFill>
                  <a:srgbClr val="6B675F"/>
                </a:solidFill>
                <a:latin typeface="MiSans"/>
                <a:ea typeface="MiSans"/>
              </a:rPr>
              <a:t>呼应第 16 页 · Loop 四要素</a:t>
            </a:r>
            <a:endParaRPr lang="en-US" sz="1150"/>
          </a:p>
        </p:txBody>
      </p:sp>
      <p:sp>
        <p:nvSpPr>
          <p:cNvPr id="20" name="rv-d2"/>
          <p:cNvSpPr/>
          <p:nvPr/>
        </p:nvSpPr>
        <p:spPr>
          <a:xfrm>
            <a:off x="6502400" y="3784600"/>
            <a:ext cx="4978400" cy="12700"/>
          </a:xfrm>
          <a:prstGeom prst="rect">
            <a:avLst/>
          </a:prstGeom>
          <a:solidFill>
            <a:srgbClr val="D8D3C8"/>
          </a:solidFill>
          <a:ln>
            <a:noFill/>
          </a:ln>
        </p:spPr>
      </p:sp>
      <p:sp>
        <p:nvSpPr>
          <p:cNvPr id="21" name="rv-p3-t"/>
          <p:cNvSpPr txBox="1"/>
          <p:nvPr/>
        </p:nvSpPr>
        <p:spPr>
          <a:xfrm>
            <a:off x="6502400" y="3911600"/>
            <a:ext cx="49784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300" b="1">
                <a:solidFill>
                  <a:srgbClr val="1E4D3B"/>
                </a:solidFill>
                <a:latin typeface="MiSans"/>
                <a:ea typeface="MiSans"/>
              </a:rPr>
              <a:t>反馈断在环境侧 = 循环未闭环</a:t>
            </a:r>
            <a:endParaRPr lang="en-US" sz="1300"/>
          </a:p>
        </p:txBody>
      </p:sp>
      <p:sp>
        <p:nvSpPr>
          <p:cNvPr id="22" name="rv-p3-d"/>
          <p:cNvSpPr txBox="1"/>
          <p:nvPr/>
        </p:nvSpPr>
        <p:spPr>
          <a:xfrm>
            <a:off x="6502400" y="4165600"/>
            <a:ext cx="49784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50000"/>
              </a:lnSpc>
            </a:pPr>
            <a:r>
              <a:rPr lang="en-US" sz="1150">
                <a:solidFill>
                  <a:srgbClr val="22211E"/>
                </a:solidFill>
                <a:latin typeface="MiSans"/>
                <a:ea typeface="MiSans"/>
              </a:rPr>
              <a:t>cron 兜底「代码实现了但环境没部署」:Harness 缺一块,智能体就跑不动。</a:t>
            </a:r>
            <a:r>
              <a:rPr lang="en-US" sz="1150">
                <a:solidFill>
                  <a:srgbClr val="6B675F"/>
                </a:solidFill>
                <a:latin typeface="MiSans"/>
                <a:ea typeface="MiSans"/>
              </a:rPr>
              <a:t>呼应第 15 页 · Harness、第 16 页 · Loop 四要素</a:t>
            </a:r>
            <a:endParaRPr lang="en-US" sz="1150"/>
          </a:p>
        </p:txBody>
      </p:sp>
      <p:sp>
        <p:nvSpPr>
          <p:cNvPr id="23" name="rv-d3"/>
          <p:cNvSpPr/>
          <p:nvPr/>
        </p:nvSpPr>
        <p:spPr>
          <a:xfrm>
            <a:off x="6502400" y="4978400"/>
            <a:ext cx="4978400" cy="12700"/>
          </a:xfrm>
          <a:prstGeom prst="rect">
            <a:avLst/>
          </a:prstGeom>
          <a:solidFill>
            <a:srgbClr val="D8D3C8"/>
          </a:solidFill>
          <a:ln>
            <a:noFill/>
          </a:ln>
        </p:spPr>
      </p:sp>
      <p:sp>
        <p:nvSpPr>
          <p:cNvPr id="24" name="rv-p4-t"/>
          <p:cNvSpPr txBox="1"/>
          <p:nvPr/>
        </p:nvSpPr>
        <p:spPr>
          <a:xfrm>
            <a:off x="6502400" y="5105400"/>
            <a:ext cx="49784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300" b="1">
                <a:solidFill>
                  <a:srgbClr val="1E4D3B"/>
                </a:solidFill>
                <a:latin typeface="MiSans"/>
                <a:ea typeface="MiSans"/>
              </a:rPr>
              <a:t>回退原版的智慧</a:t>
            </a:r>
            <a:endParaRPr lang="en-US" sz="1300"/>
          </a:p>
        </p:txBody>
      </p:sp>
      <p:sp>
        <p:nvSpPr>
          <p:cNvPr id="25" name="rv-p4-d"/>
          <p:cNvSpPr txBox="1"/>
          <p:nvPr/>
        </p:nvSpPr>
        <p:spPr>
          <a:xfrm>
            <a:off x="6502400" y="5359400"/>
            <a:ext cx="49784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/>
          <a:lstStyle/>
          <a:p>
            <a:pPr>
              <a:lnSpc>
                <a:spcPct val="150000"/>
              </a:lnSpc>
            </a:pPr>
            <a:r>
              <a:rPr lang="en-US" sz="1150">
                <a:solidFill>
                  <a:srgbClr val="22211E"/>
                </a:solidFill>
                <a:latin typeface="MiSans"/>
                <a:ea typeface="MiSans"/>
              </a:rPr>
              <a:t>苗情回退原版模式 = 知道何时不用新方案;验证不通过,就回到已知可行解。</a:t>
            </a:r>
            <a:r>
              <a:rPr lang="en-US" sz="1150">
                <a:solidFill>
                  <a:srgbClr val="6B675F"/>
                </a:solidFill>
                <a:latin typeface="MiSans"/>
                <a:ea typeface="MiSans"/>
              </a:rPr>
              <a:t>呼应第 18 页 · 验证护栏</a:t>
            </a:r>
            <a:endParaRPr lang="en-US" sz="1150"/>
          </a:p>
        </p:txBody>
      </p:sp>
      <p:sp>
        <p:nvSpPr>
          <p:cNvPr id="26" name="footer-line"/>
          <p:cNvSpPr/>
          <p:nvPr/>
        </p:nvSpPr>
        <p:spPr>
          <a:xfrm>
            <a:off x="711200" y="6375400"/>
            <a:ext cx="10769600" cy="12700"/>
          </a:xfrm>
          <a:prstGeom prst="rect">
            <a:avLst/>
          </a:prstGeom>
          <a:solidFill>
            <a:srgbClr val="D8D3C8"/>
          </a:solidFill>
          <a:ln>
            <a:noFill/>
          </a:ln>
        </p:spPr>
      </p:sp>
      <p:sp>
        <p:nvSpPr>
          <p:cNvPr id="27" name="footer-src"/>
          <p:cNvSpPr txBox="1"/>
          <p:nvPr/>
        </p:nvSpPr>
        <p:spPr>
          <a:xfrm>
            <a:off x="711200" y="6477000"/>
            <a:ext cx="812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40000"/>
              </a:lnSpc>
            </a:pPr>
            <a:r>
              <a:rPr lang="en-US" sz="1000">
                <a:solidFill>
                  <a:srgbClr val="6B675F"/>
                </a:solidFill>
                <a:latin typeface="Liter"/>
                <a:ea typeface="Liter"/>
              </a:rPr>
              <a:t>来源:耘曜总体进度报告(2026-07-22)</a:t>
            </a:r>
            <a:endParaRPr lang="en-US" sz="1000"/>
          </a:p>
        </p:txBody>
      </p:sp>
      <p:sp>
        <p:nvSpPr>
          <p:cNvPr id="28" name="footer-page"/>
          <p:cNvSpPr txBox="1"/>
          <p:nvPr/>
        </p:nvSpPr>
        <p:spPr>
          <a:xfrm>
            <a:off x="10210800" y="64770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r">
              <a:lnSpc>
                <a:spcPct val="140000"/>
              </a:lnSpc>
            </a:pPr>
            <a:r>
              <a:rPr lang="en-US" sz="1000">
                <a:solidFill>
                  <a:srgbClr val="6B675F"/>
                </a:solidFill>
                <a:latin typeface="Liter"/>
                <a:ea typeface="Liter"/>
              </a:rPr>
              <a:t>30 / 35</a:t>
            </a:r>
            <a:endParaRPr lang="en-US" sz="1000"/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826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100" b="1" spc="200" kern="0">
                <a:solidFill>
                  <a:srgbClr val="C26A2E"/>
                </a:solidFill>
                <a:latin typeface="Liter"/>
                <a:ea typeface="Liter"/>
              </a:rPr>
              <a:t>05 内部案例 · 案例总评</a:t>
            </a:r>
            <a:endParaRPr lang="en-US" sz="1100"/>
          </a:p>
        </p:txBody>
      </p:sp>
      <p:sp>
        <p:nvSpPr>
          <p:cNvPr id="3" name="title"/>
          <p:cNvSpPr txBox="1"/>
          <p:nvPr/>
        </p:nvSpPr>
        <p:spPr>
          <a:xfrm>
            <a:off x="711200" y="7874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22211E"/>
                </a:solidFill>
                <a:latin typeface="Liter"/>
                <a:ea typeface="Liter"/>
              </a:rPr>
              <a:t>四张答卷:对照 Loop 四要素看我们的项目</a:t>
            </a:r>
            <a:endParaRPr lang="en-US" sz="2600"/>
          </a:p>
        </p:txBody>
      </p:sp>
      <p:sp>
        <p:nvSpPr>
          <p:cNvPr id="4" name="legend"/>
          <p:cNvSpPr txBox="1"/>
          <p:nvPr/>
        </p:nvSpPr>
        <p:spPr>
          <a:xfrm>
            <a:off x="711200" y="1320800"/>
            <a:ext cx="107696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r">
              <a:lnSpc>
                <a:spcPct val="140000"/>
              </a:lnSpc>
            </a:pPr>
            <a:r>
              <a:rPr lang="en-US" sz="1000">
                <a:solidFill>
                  <a:srgbClr val="6B675F"/>
                </a:solidFill>
                <a:latin typeface="Liter"/>
                <a:ea typeface="Liter"/>
              </a:rPr>
              <a:t>评级口径:强 = 松绿 · 中 = 墨色 · 弱 = 赭石(讲师点评,非项目考核)</a:t>
            </a:r>
            <a:endParaRPr lang="en-US" sz="1000"/>
          </a:p>
        </p:txBody>
      </p:sp>
      <p:graphicFrame>
        <p:nvGraphicFramePr>
          <p:cNvPr id="5" name="loop-table"/>
          <p:cNvGraphicFramePr>
            <a:graphicFrameLocks noGrp="1"/>
          </p:cNvGraphicFramePr>
          <p:nvPr/>
        </p:nvGraphicFramePr>
        <p:xfrm>
          <a:off x="711200" y="1600200"/>
          <a:ext cx="10769600" cy="2844800"/>
        </p:xfrm>
        <a:graphic>
          <a:graphicData uri="http://schemas.openxmlformats.org/drawingml/2006/table">
            <a:tbl>
              <a:tblPr/>
              <a:tblGrid>
                <a:gridCol w="1723136"/>
                <a:gridCol w="1184656"/>
                <a:gridCol w="1184656"/>
                <a:gridCol w="1184656"/>
                <a:gridCol w="1184656"/>
                <a:gridCol w="4307840"/>
              </a:tblGrid>
              <a:tr h="455168"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Liter"/>
                          <a:ea typeface="Liter"/>
                        </a:rPr>
                        <a:t>项目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3C8"/>
                      </a:solidFill>
                    </a:lnB>
                    <a:solidFill>
                      <a:srgbClr val="1E4D3B"/>
                    </a:solidFill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Liter"/>
                          <a:ea typeface="Liter"/>
                        </a:rPr>
                        <a:t>目标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3C8"/>
                      </a:solidFill>
                    </a:lnB>
                    <a:solidFill>
                      <a:srgbClr val="1E4D3B"/>
                    </a:solidFill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Liter"/>
                          <a:ea typeface="Liter"/>
                        </a:rPr>
                        <a:t>行动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3C8"/>
                      </a:solidFill>
                    </a:lnB>
                    <a:solidFill>
                      <a:srgbClr val="1E4D3B"/>
                    </a:solidFill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Liter"/>
                          <a:ea typeface="Liter"/>
                        </a:rPr>
                        <a:t>反馈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3C8"/>
                      </a:solidFill>
                    </a:lnB>
                    <a:solidFill>
                      <a:srgbClr val="1E4D3B"/>
                    </a:solidFill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Liter"/>
                          <a:ea typeface="Liter"/>
                        </a:rPr>
                        <a:t>验证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3C8"/>
                      </a:solidFill>
                    </a:lnB>
                    <a:solidFill>
                      <a:srgbClr val="1E4D3B"/>
                    </a:solidFill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Liter"/>
                          <a:ea typeface="Liter"/>
                        </a:rPr>
                        <a:t>总评(讲师点评)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3C8"/>
                      </a:solidFill>
                    </a:lnB>
                    <a:solidFill>
                      <a:srgbClr val="1E4D3B"/>
                    </a:solidFill>
                  </a:tcPr>
                </a:tc>
              </a:tr>
              <a:tr h="597408"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00" b="1">
                          <a:solidFill>
                            <a:srgbClr val="22211E"/>
                          </a:solidFill>
                          <a:latin typeface="Liter"/>
                          <a:ea typeface="Liter"/>
                        </a:rPr>
                        <a:t>onsub.pub 智能灌溉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3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ctr">
                        <a:lnSpc>
                          <a:spcPct val="140000"/>
                        </a:lnSpc>
                      </a:pPr>
                      <a:r>
                        <a:rPr lang="en-US" sz="1200" b="1">
                          <a:solidFill>
                            <a:srgbClr val="1E4D3B"/>
                          </a:solidFill>
                          <a:latin typeface="Liter"/>
                          <a:ea typeface="Liter"/>
                        </a:rPr>
                        <a:t>强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3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ctr">
                        <a:lnSpc>
                          <a:spcPct val="140000"/>
                        </a:lnSpc>
                      </a:pPr>
                      <a:r>
                        <a:rPr lang="en-US" sz="1200" b="1">
                          <a:solidFill>
                            <a:srgbClr val="1E4D3B"/>
                          </a:solidFill>
                          <a:latin typeface="Liter"/>
                          <a:ea typeface="Liter"/>
                        </a:rPr>
                        <a:t>强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3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ctr">
                        <a:lnSpc>
                          <a:spcPct val="140000"/>
                        </a:lnSpc>
                      </a:pPr>
                      <a:r>
                        <a:rPr lang="en-US" sz="1200" b="1">
                          <a:solidFill>
                            <a:srgbClr val="1E4D3B"/>
                          </a:solidFill>
                          <a:latin typeface="Liter"/>
                          <a:ea typeface="Liter"/>
                        </a:rPr>
                        <a:t>强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3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ctr">
                        <a:lnSpc>
                          <a:spcPct val="140000"/>
                        </a:lnSpc>
                      </a:pPr>
                      <a:r>
                        <a:rPr lang="en-US" sz="1200">
                          <a:solidFill>
                            <a:srgbClr val="22211E"/>
                          </a:solidFill>
                          <a:latin typeface="Liter"/>
                          <a:ea typeface="Liter"/>
                        </a:rPr>
                        <a:t>中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3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00">
                          <a:solidFill>
                            <a:srgbClr val="22211E"/>
                          </a:solidFill>
                          <a:latin typeface="Liter"/>
                          <a:ea typeface="Liter"/>
                        </a:rPr>
                        <a:t>最接近完整 Loop;验证靠人工核对判读说明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3C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7408"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00" b="1">
                          <a:solidFill>
                            <a:srgbClr val="22211E"/>
                          </a:solidFill>
                          <a:latin typeface="Liter"/>
                          <a:ea typeface="Liter"/>
                        </a:rPr>
                        <a:t>e生态平台重构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3C8"/>
                      </a:solidFill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ctr">
                        <a:lnSpc>
                          <a:spcPct val="140000"/>
                        </a:lnSpc>
                      </a:pPr>
                      <a:r>
                        <a:rPr lang="en-US" sz="1200" b="1">
                          <a:solidFill>
                            <a:srgbClr val="1E4D3B"/>
                          </a:solidFill>
                          <a:latin typeface="Liter"/>
                          <a:ea typeface="Liter"/>
                        </a:rPr>
                        <a:t>强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3C8"/>
                      </a:solidFill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ctr">
                        <a:lnSpc>
                          <a:spcPct val="140000"/>
                        </a:lnSpc>
                      </a:pPr>
                      <a:r>
                        <a:rPr lang="en-US" sz="1200">
                          <a:solidFill>
                            <a:srgbClr val="22211E"/>
                          </a:solidFill>
                          <a:latin typeface="Liter"/>
                          <a:ea typeface="Liter"/>
                        </a:rPr>
                        <a:t>中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3C8"/>
                      </a:solidFill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ctr">
                        <a:lnSpc>
                          <a:spcPct val="140000"/>
                        </a:lnSpc>
                      </a:pPr>
                      <a:r>
                        <a:rPr lang="en-US" sz="1200">
                          <a:solidFill>
                            <a:srgbClr val="22211E"/>
                          </a:solidFill>
                          <a:latin typeface="Liter"/>
                          <a:ea typeface="Liter"/>
                        </a:rPr>
                        <a:t>中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3C8"/>
                      </a:solidFill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ctr">
                        <a:lnSpc>
                          <a:spcPct val="140000"/>
                        </a:lnSpc>
                      </a:pPr>
                      <a:r>
                        <a:rPr lang="en-US" sz="1200">
                          <a:solidFill>
                            <a:srgbClr val="22211E"/>
                          </a:solidFill>
                          <a:latin typeface="Liter"/>
                          <a:ea typeface="Liter"/>
                        </a:rPr>
                        <a:t>中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3C8"/>
                      </a:solidFill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00">
                          <a:solidFill>
                            <a:srgbClr val="22211E"/>
                          </a:solidFill>
                          <a:latin typeface="Liter"/>
                          <a:ea typeface="Liter"/>
                        </a:rPr>
                        <a:t>Harness 思维用在工程组织:提案即验收,评审即回路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3C8"/>
                      </a:solidFill>
                    </a:lnB>
                    <a:solidFill>
                      <a:srgbClr val="F7F5F0"/>
                    </a:solidFill>
                  </a:tcPr>
                </a:tc>
              </a:tr>
              <a:tr h="597408"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00" b="1">
                          <a:solidFill>
                            <a:srgbClr val="22211E"/>
                          </a:solidFill>
                          <a:latin typeface="Liter"/>
                          <a:ea typeface="Liter"/>
                        </a:rPr>
                        <a:t>IST-OS 固件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3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ctr">
                        <a:lnSpc>
                          <a:spcPct val="140000"/>
                        </a:lnSpc>
                      </a:pPr>
                      <a:r>
                        <a:rPr lang="en-US" sz="1200">
                          <a:solidFill>
                            <a:srgbClr val="22211E"/>
                          </a:solidFill>
                          <a:latin typeface="Liter"/>
                          <a:ea typeface="Liter"/>
                        </a:rPr>
                        <a:t>中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3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ctr">
                        <a:lnSpc>
                          <a:spcPct val="140000"/>
                        </a:lnSpc>
                      </a:pPr>
                      <a:r>
                        <a:rPr lang="en-US" sz="1200" b="1">
                          <a:solidFill>
                            <a:srgbClr val="1E4D3B"/>
                          </a:solidFill>
                          <a:latin typeface="Liter"/>
                          <a:ea typeface="Liter"/>
                        </a:rPr>
                        <a:t>强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3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ctr">
                        <a:lnSpc>
                          <a:spcPct val="140000"/>
                        </a:lnSpc>
                      </a:pPr>
                      <a:r>
                        <a:rPr lang="en-US" sz="1200" b="1">
                          <a:solidFill>
                            <a:srgbClr val="C26A2E"/>
                          </a:solidFill>
                          <a:latin typeface="Liter"/>
                          <a:ea typeface="Liter"/>
                        </a:rPr>
                        <a:t>弱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3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ctr">
                        <a:lnSpc>
                          <a:spcPct val="140000"/>
                        </a:lnSpc>
                      </a:pPr>
                      <a:r>
                        <a:rPr lang="en-US" sz="1200" b="1">
                          <a:solidFill>
                            <a:srgbClr val="1E4D3B"/>
                          </a:solidFill>
                          <a:latin typeface="Liter"/>
                          <a:ea typeface="Liter"/>
                        </a:rPr>
                        <a:t>强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3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00">
                          <a:solidFill>
                            <a:srgbClr val="22211E"/>
                          </a:solidFill>
                          <a:latin typeface="Liter"/>
                          <a:ea typeface="Liter"/>
                        </a:rPr>
                        <a:t>自动化测试让 Agent 敢快跑;断点在环境:Wave 6 缺沙箱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3C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7408"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00" b="1">
                          <a:solidFill>
                            <a:srgbClr val="22211E"/>
                          </a:solidFill>
                          <a:latin typeface="Liter"/>
                          <a:ea typeface="Liter"/>
                        </a:rPr>
                        <a:t>耘曜重构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3C8"/>
                      </a:solidFill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ctr">
                        <a:lnSpc>
                          <a:spcPct val="140000"/>
                        </a:lnSpc>
                      </a:pPr>
                      <a:r>
                        <a:rPr lang="en-US" sz="1200">
                          <a:solidFill>
                            <a:srgbClr val="22211E"/>
                          </a:solidFill>
                          <a:latin typeface="Liter"/>
                          <a:ea typeface="Liter"/>
                        </a:rPr>
                        <a:t>中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3C8"/>
                      </a:solidFill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ctr">
                        <a:lnSpc>
                          <a:spcPct val="140000"/>
                        </a:lnSpc>
                      </a:pPr>
                      <a:r>
                        <a:rPr lang="en-US" sz="1200" b="1">
                          <a:solidFill>
                            <a:srgbClr val="1E4D3B"/>
                          </a:solidFill>
                          <a:latin typeface="Liter"/>
                          <a:ea typeface="Liter"/>
                        </a:rPr>
                        <a:t>强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3C8"/>
                      </a:solidFill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ctr">
                        <a:lnSpc>
                          <a:spcPct val="140000"/>
                        </a:lnSpc>
                      </a:pPr>
                      <a:r>
                        <a:rPr lang="en-US" sz="1200" b="1">
                          <a:solidFill>
                            <a:srgbClr val="C26A2E"/>
                          </a:solidFill>
                          <a:latin typeface="Liter"/>
                          <a:ea typeface="Liter"/>
                        </a:rPr>
                        <a:t>弱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3C8"/>
                      </a:solidFill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ctr">
                        <a:lnSpc>
                          <a:spcPct val="140000"/>
                        </a:lnSpc>
                      </a:pPr>
                      <a:r>
                        <a:rPr lang="en-US" sz="1200">
                          <a:solidFill>
                            <a:srgbClr val="22211E"/>
                          </a:solidFill>
                          <a:latin typeface="Liter"/>
                          <a:ea typeface="Liter"/>
                        </a:rPr>
                        <a:t>中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3C8"/>
                      </a:solidFill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200">
                          <a:solidFill>
                            <a:srgbClr val="22211E"/>
                          </a:solidFill>
                          <a:latin typeface="Liter"/>
                          <a:ea typeface="Liter"/>
                        </a:rPr>
                        <a:t>重构跑得快;断点在物理现场:断网场景反馈缺失</a:t>
                      </a:r>
                      <a:endParaRPr lang="en-US" sz="1200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3C8"/>
                      </a:solidFill>
                    </a:lnB>
                    <a:solidFill>
                      <a:srgbClr val="F7F5F0"/>
                    </a:solidFill>
                  </a:tcPr>
                </a:tc>
              </a:tr>
            </a:tbl>
          </a:graphicData>
        </a:graphic>
      </p:graphicFrame>
      <p:sp>
        <p:nvSpPr>
          <p:cNvPr id="6" name="insight-box"/>
          <p:cNvSpPr/>
          <p:nvPr/>
        </p:nvSpPr>
        <p:spPr>
          <a:xfrm>
            <a:off x="711200" y="4648200"/>
            <a:ext cx="10769600" cy="609600"/>
          </a:xfrm>
          <a:prstGeom prst="rect">
            <a:avLst/>
          </a:prstGeom>
          <a:solidFill>
            <a:srgbClr val="EAF1EC"/>
          </a:solidFill>
          <a:ln>
            <a:noFill/>
          </a:ln>
        </p:spPr>
      </p:sp>
      <p:sp>
        <p:nvSpPr>
          <p:cNvPr id="7" name="insight-bar"/>
          <p:cNvSpPr/>
          <p:nvPr/>
        </p:nvSpPr>
        <p:spPr>
          <a:xfrm>
            <a:off x="711200" y="4648200"/>
            <a:ext cx="50800" cy="609600"/>
          </a:xfrm>
          <a:prstGeom prst="rect">
            <a:avLst/>
          </a:prstGeom>
          <a:solidFill>
            <a:srgbClr val="1E4D3B"/>
          </a:solidFill>
          <a:ln>
            <a:noFill/>
          </a:ln>
        </p:spPr>
      </p:sp>
      <p:sp>
        <p:nvSpPr>
          <p:cNvPr id="8" name="insight-text"/>
          <p:cNvSpPr txBox="1"/>
          <p:nvPr/>
        </p:nvSpPr>
        <p:spPr>
          <a:xfrm>
            <a:off x="990600" y="4826000"/>
            <a:ext cx="10287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250" b="1">
                <a:solidFill>
                  <a:srgbClr val="1E4D3B"/>
                </a:solidFill>
                <a:latin typeface="MiSans"/>
                <a:ea typeface="MiSans"/>
              </a:rPr>
              <a:t>共同启示:</a:t>
            </a:r>
            <a:r>
              <a:rPr lang="en-US" sz="1250">
                <a:solidFill>
                  <a:srgbClr val="22211E"/>
                </a:solidFill>
                <a:latin typeface="MiSans"/>
                <a:ea typeface="MiSans"/>
              </a:rPr>
              <a:t>「验证」与「环境」是四张答卷的共同短板——沙箱、仿真、部署到位的兜底,比更强的模型更决定智能体成效。</a:t>
            </a:r>
            <a:endParaRPr lang="en-US" sz="1250"/>
          </a:p>
        </p:txBody>
      </p:sp>
      <p:sp>
        <p:nvSpPr>
          <p:cNvPr id="9" name="mig-box"/>
          <p:cNvSpPr/>
          <p:nvPr/>
        </p:nvSpPr>
        <p:spPr>
          <a:xfrm>
            <a:off x="711200" y="5410200"/>
            <a:ext cx="10769600" cy="609600"/>
          </a:xfrm>
          <a:prstGeom prst="rect">
            <a:avLst/>
          </a:prstGeom>
          <a:solidFill>
            <a:srgbClr val="F7EBDC"/>
          </a:solidFill>
          <a:ln>
            <a:noFill/>
          </a:ln>
        </p:spPr>
      </p:sp>
      <p:sp>
        <p:nvSpPr>
          <p:cNvPr id="10" name="mig-bar"/>
          <p:cNvSpPr/>
          <p:nvPr/>
        </p:nvSpPr>
        <p:spPr>
          <a:xfrm>
            <a:off x="711200" y="5410200"/>
            <a:ext cx="50800" cy="609600"/>
          </a:xfrm>
          <a:prstGeom prst="rect">
            <a:avLst/>
          </a:prstGeom>
          <a:solidFill>
            <a:srgbClr val="C26A2E"/>
          </a:solidFill>
          <a:ln>
            <a:noFill/>
          </a:ln>
        </p:spPr>
      </p:sp>
      <p:sp>
        <p:nvSpPr>
          <p:cNvPr id="11" name="mig-text"/>
          <p:cNvSpPr txBox="1"/>
          <p:nvPr/>
        </p:nvSpPr>
        <p:spPr>
          <a:xfrm>
            <a:off x="990600" y="5410200"/>
            <a:ext cx="10287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5000"/>
              </a:lnSpc>
            </a:pPr>
            <a:r>
              <a:rPr lang="en-US" sz="1200" b="1">
                <a:solidFill>
                  <a:srgbClr val="C26A2E"/>
                </a:solidFill>
                <a:latin typeface="MiSans"/>
                <a:ea typeface="MiSans"/>
              </a:rPr>
              <a:t>迁移建议:</a:t>
            </a:r>
            <a:r>
              <a:rPr lang="en-US" sz="1200">
                <a:solidFill>
                  <a:srgbClr val="22211E"/>
                </a:solidFill>
                <a:latin typeface="MiSans"/>
                <a:ea typeface="MiSans"/>
              </a:rPr>
              <a:t>把「判灌 Skill」的经验复制到墒情巡检报告场景——规则写成可对话修订的 Skill,每日自动跑、人来核对(呼应第 19 页巡检案例、第 33 页机会地图)。</a:t>
            </a:r>
            <a:endParaRPr lang="en-US" sz="1200"/>
          </a:p>
        </p:txBody>
      </p:sp>
      <p:sp>
        <p:nvSpPr>
          <p:cNvPr id="12" name="footer-line"/>
          <p:cNvSpPr/>
          <p:nvPr/>
        </p:nvSpPr>
        <p:spPr>
          <a:xfrm>
            <a:off x="711200" y="6375400"/>
            <a:ext cx="10769600" cy="12700"/>
          </a:xfrm>
          <a:prstGeom prst="rect">
            <a:avLst/>
          </a:prstGeom>
          <a:solidFill>
            <a:srgbClr val="D8D3C8"/>
          </a:solidFill>
          <a:ln>
            <a:noFill/>
          </a:ln>
        </p:spPr>
      </p:sp>
      <p:sp>
        <p:nvSpPr>
          <p:cNvPr id="13" name="footer-src"/>
          <p:cNvSpPr txBox="1"/>
          <p:nvPr/>
        </p:nvSpPr>
        <p:spPr>
          <a:xfrm>
            <a:off x="711200" y="6477000"/>
            <a:ext cx="812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40000"/>
              </a:lnSpc>
            </a:pPr>
            <a:r>
              <a:rPr lang="en-US" sz="1000">
                <a:solidFill>
                  <a:srgbClr val="6B675F"/>
                </a:solidFill>
                <a:latin typeface="Liter"/>
                <a:ea typeface="Liter"/>
              </a:rPr>
              <a:t>来源:四份项目进展报告(2026-07-22)综合</a:t>
            </a:r>
            <a:endParaRPr lang="en-US" sz="1000"/>
          </a:p>
        </p:txBody>
      </p:sp>
      <p:sp>
        <p:nvSpPr>
          <p:cNvPr id="14" name="footer-page"/>
          <p:cNvSpPr txBox="1"/>
          <p:nvPr/>
        </p:nvSpPr>
        <p:spPr>
          <a:xfrm>
            <a:off x="10210800" y="64770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r">
              <a:lnSpc>
                <a:spcPct val="140000"/>
              </a:lnSpc>
            </a:pPr>
            <a:r>
              <a:rPr lang="en-US" sz="1000">
                <a:solidFill>
                  <a:srgbClr val="6B675F"/>
                </a:solidFill>
                <a:latin typeface="Liter"/>
                <a:ea typeface="Liter"/>
              </a:rPr>
              <a:t>31 / 35</a:t>
            </a:r>
            <a:endParaRPr lang="en-US" sz="1000"/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1E4D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-kicker"/>
          <p:cNvSpPr txBox="1"/>
          <p:nvPr/>
        </p:nvSpPr>
        <p:spPr>
          <a:xfrm>
            <a:off x="711200" y="1219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100" b="1" spc="200" kern="0">
                <a:solidFill>
                  <a:srgbClr val="C26A2E"/>
                </a:solidFill>
                <a:latin typeface="Liter"/>
                <a:ea typeface="Liter"/>
              </a:rPr>
              <a:t>CHAPTER 06 · 落地行动</a:t>
            </a:r>
            <a:endParaRPr lang="en-US" sz="1100"/>
          </a:p>
        </p:txBody>
      </p:sp>
      <p:sp>
        <p:nvSpPr>
          <p:cNvPr id="3" name="ch-num"/>
          <p:cNvSpPr txBox="1"/>
          <p:nvPr/>
        </p:nvSpPr>
        <p:spPr>
          <a:xfrm>
            <a:off x="711200" y="1600200"/>
            <a:ext cx="33020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6400" b="1">
                <a:solidFill>
                  <a:srgbClr val="C26A2E"/>
                </a:solidFill>
                <a:latin typeface="Liter"/>
                <a:ea typeface="Liter"/>
              </a:rPr>
              <a:t>06</a:t>
            </a:r>
            <a:endParaRPr lang="en-US" sz="6400"/>
          </a:p>
        </p:txBody>
      </p:sp>
      <p:sp>
        <p:nvSpPr>
          <p:cNvPr id="4" name="ch-title"/>
          <p:cNvSpPr txBox="1"/>
          <p:nvPr/>
        </p:nvSpPr>
        <p:spPr>
          <a:xfrm>
            <a:off x="711200" y="2819400"/>
            <a:ext cx="10160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3400" b="1">
                <a:solidFill>
                  <a:srgbClr val="F7F5F0"/>
                </a:solidFill>
                <a:latin typeface="Liter"/>
                <a:ea typeface="Liter"/>
              </a:rPr>
              <a:t>从知道到做到:落地与边界</a:t>
            </a:r>
            <a:endParaRPr lang="en-US" sz="3400"/>
          </a:p>
        </p:txBody>
      </p:sp>
      <p:sp>
        <p:nvSpPr>
          <p:cNvPr id="5" name="ch-bar"/>
          <p:cNvSpPr/>
          <p:nvPr/>
        </p:nvSpPr>
        <p:spPr>
          <a:xfrm>
            <a:off x="711200" y="3759200"/>
            <a:ext cx="1219200" cy="38100"/>
          </a:xfrm>
          <a:prstGeom prst="rect">
            <a:avLst/>
          </a:prstGeom>
          <a:solidFill>
            <a:srgbClr val="C26A2E"/>
          </a:solidFill>
          <a:ln>
            <a:noFill/>
          </a:ln>
        </p:spPr>
      </p:sp>
      <p:sp>
        <p:nvSpPr>
          <p:cNvPr id="6" name="ch-q-label"/>
          <p:cNvSpPr txBox="1"/>
          <p:nvPr/>
        </p:nvSpPr>
        <p:spPr>
          <a:xfrm>
            <a:off x="711200" y="41148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40000"/>
              </a:lnSpc>
            </a:pPr>
            <a:r>
              <a:rPr lang="en-US" sz="1000">
                <a:solidFill>
                  <a:srgbClr val="F7F5F0">
                    <a:alpha val="60000"/>
                  </a:srgbClr>
                </a:solidFill>
                <a:latin typeface="Liter"/>
                <a:ea typeface="Liter"/>
              </a:rPr>
              <a:t>本章学习问题</a:t>
            </a:r>
            <a:endParaRPr lang="en-US" sz="1000"/>
          </a:p>
        </p:txBody>
      </p:sp>
      <p:sp>
        <p:nvSpPr>
          <p:cNvPr id="7" name="ch-q"/>
          <p:cNvSpPr txBox="1"/>
          <p:nvPr/>
        </p:nvSpPr>
        <p:spPr>
          <a:xfrm>
            <a:off x="711200" y="4368800"/>
            <a:ext cx="8890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55000"/>
              </a:lnSpc>
            </a:pPr>
            <a:r>
              <a:rPr lang="en-US" sz="1700" b="1">
                <a:solidFill>
                  <a:srgbClr val="F7F5F0"/>
                </a:solidFill>
                <a:latin typeface="Liter"/>
                <a:ea typeface="Liter"/>
              </a:rPr>
              <a:t>从哪里开始?哪些不能做?</a:t>
            </a:r>
            <a:endParaRPr lang="en-US" sz="1700"/>
          </a:p>
        </p:txBody>
      </p:sp>
      <p:sp>
        <p:nvSpPr>
          <p:cNvPr id="8" name="ch-kw-label"/>
          <p:cNvSpPr txBox="1"/>
          <p:nvPr/>
        </p:nvSpPr>
        <p:spPr>
          <a:xfrm>
            <a:off x="711200" y="50292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40000"/>
              </a:lnSpc>
            </a:pPr>
            <a:r>
              <a:rPr lang="en-US" sz="1000">
                <a:solidFill>
                  <a:srgbClr val="F7F5F0">
                    <a:alpha val="60000"/>
                  </a:srgbClr>
                </a:solidFill>
                <a:latin typeface="Liter"/>
                <a:ea typeface="Liter"/>
              </a:rPr>
              <a:t>关键词</a:t>
            </a:r>
            <a:endParaRPr lang="en-US" sz="1000"/>
          </a:p>
        </p:txBody>
      </p:sp>
      <p:sp>
        <p:nvSpPr>
          <p:cNvPr id="9" name="ch-kw"/>
          <p:cNvSpPr txBox="1"/>
          <p:nvPr/>
        </p:nvSpPr>
        <p:spPr>
          <a:xfrm>
            <a:off x="711200" y="5283200"/>
            <a:ext cx="889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55000"/>
              </a:lnSpc>
            </a:pPr>
            <a:r>
              <a:rPr lang="en-US" sz="1400">
                <a:solidFill>
                  <a:srgbClr val="F7F5F0">
                    <a:alpha val="80000"/>
                  </a:srgbClr>
                </a:solidFill>
                <a:latin typeface="Liter"/>
                <a:ea typeface="Liter"/>
              </a:rPr>
              <a:t>机会地图 · 三条红线 · 30 天行动</a:t>
            </a:r>
            <a:endParaRPr lang="en-US" sz="1400"/>
          </a:p>
        </p:txBody>
      </p:sp>
      <p:sp>
        <p:nvSpPr>
          <p:cNvPr id="10" name="ch-footer-left"/>
          <p:cNvSpPr txBox="1"/>
          <p:nvPr/>
        </p:nvSpPr>
        <p:spPr>
          <a:xfrm>
            <a:off x="711200" y="64770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40000"/>
              </a:lnSpc>
            </a:pPr>
            <a:r>
              <a:rPr lang="en-US" sz="1000">
                <a:solidFill>
                  <a:srgbClr val="F7F5F0">
                    <a:alpha val="40000"/>
                  </a:srgbClr>
                </a:solidFill>
                <a:latin typeface="Liter"/>
                <a:ea typeface="Liter"/>
              </a:rPr>
              <a:t>东方智感 · AI 内训第三期</a:t>
            </a:r>
            <a:endParaRPr lang="en-US" sz="1000"/>
          </a:p>
        </p:txBody>
      </p:sp>
      <p:sp>
        <p:nvSpPr>
          <p:cNvPr id="11" name="ch-footer-page"/>
          <p:cNvSpPr txBox="1"/>
          <p:nvPr/>
        </p:nvSpPr>
        <p:spPr>
          <a:xfrm>
            <a:off x="10210800" y="64770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r">
              <a:lnSpc>
                <a:spcPct val="140000"/>
              </a:lnSpc>
            </a:pPr>
            <a:r>
              <a:rPr lang="en-US" sz="1000">
                <a:solidFill>
                  <a:srgbClr val="F7F5F0">
                    <a:alpha val="40000"/>
                  </a:srgbClr>
                </a:solidFill>
                <a:latin typeface="Liter"/>
                <a:ea typeface="Liter"/>
              </a:rPr>
              <a:t>32 / 35</a:t>
            </a:r>
            <a:endParaRPr lang="en-US" sz="1000"/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508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100" b="1" spc="200" kern="0">
                <a:solidFill>
                  <a:srgbClr val="C26A2E"/>
                </a:solidFill>
                <a:latin typeface="Liter"/>
                <a:ea typeface="Liter"/>
              </a:rPr>
              <a:t>06 落地行动 · 机会地图</a:t>
            </a:r>
            <a:endParaRPr lang="en-US" sz="1100"/>
          </a:p>
        </p:txBody>
      </p:sp>
      <p:sp>
        <p:nvSpPr>
          <p:cNvPr id="3" name="title"/>
          <p:cNvSpPr txBox="1"/>
          <p:nvPr/>
        </p:nvSpPr>
        <p:spPr>
          <a:xfrm>
            <a:off x="711200" y="787400"/>
            <a:ext cx="107696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22211E"/>
                </a:solidFill>
                <a:latin typeface="Liter"/>
                <a:ea typeface="Liter"/>
              </a:rPr>
              <a:t>机会地图:先认领「高价值 × 低难度」的场景</a:t>
            </a:r>
            <a:endParaRPr lang="en-US" sz="2600"/>
          </a:p>
        </p:txBody>
      </p:sp>
      <p:sp>
        <p:nvSpPr>
          <p:cNvPr id="4" name="quad-highlight"/>
          <p:cNvSpPr/>
          <p:nvPr/>
        </p:nvSpPr>
        <p:spPr>
          <a:xfrm>
            <a:off x="1651000" y="1778000"/>
            <a:ext cx="3111500" cy="1905000"/>
          </a:xfrm>
          <a:prstGeom prst="rect">
            <a:avLst/>
          </a:prstGeom>
          <a:solidFill>
            <a:srgbClr val="EAF1EC"/>
          </a:solidFill>
          <a:ln>
            <a:noFill/>
          </a:ln>
        </p:spPr>
      </p:sp>
      <p:sp>
        <p:nvSpPr>
          <p:cNvPr id="5" name="quad-label-tl"/>
          <p:cNvSpPr txBox="1"/>
          <p:nvPr/>
        </p:nvSpPr>
        <p:spPr>
          <a:xfrm>
            <a:off x="1778000" y="1879600"/>
            <a:ext cx="1143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100" b="1">
                <a:solidFill>
                  <a:srgbClr val="1E4D3B"/>
                </a:solidFill>
                <a:latin typeface="MiSans"/>
                <a:ea typeface="MiSans"/>
              </a:rPr>
              <a:t>优先启动区</a:t>
            </a:r>
            <a:endParaRPr lang="en-US" sz="1100"/>
          </a:p>
        </p:txBody>
      </p:sp>
      <p:sp>
        <p:nvSpPr>
          <p:cNvPr id="6" name="quad-label-tr"/>
          <p:cNvSpPr txBox="1"/>
          <p:nvPr/>
        </p:nvSpPr>
        <p:spPr>
          <a:xfrm>
            <a:off x="6654800" y="1879600"/>
            <a:ext cx="1143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r">
              <a:lnSpc>
                <a:spcPct val="140000"/>
              </a:lnSpc>
            </a:pPr>
            <a:r>
              <a:rPr lang="en-US" sz="1000">
                <a:solidFill>
                  <a:srgbClr val="6B675F"/>
                </a:solidFill>
                <a:latin typeface="Liter"/>
                <a:ea typeface="Liter"/>
              </a:rPr>
              <a:t>值得投入区</a:t>
            </a:r>
            <a:endParaRPr lang="en-US" sz="1000"/>
          </a:p>
        </p:txBody>
      </p:sp>
      <p:sp>
        <p:nvSpPr>
          <p:cNvPr id="7" name="quad-label-bl"/>
          <p:cNvSpPr txBox="1"/>
          <p:nvPr/>
        </p:nvSpPr>
        <p:spPr>
          <a:xfrm>
            <a:off x="1778000" y="5308600"/>
            <a:ext cx="1143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40000"/>
              </a:lnSpc>
            </a:pPr>
            <a:r>
              <a:rPr lang="en-US" sz="1000">
                <a:solidFill>
                  <a:srgbClr val="6B675F"/>
                </a:solidFill>
                <a:latin typeface="Liter"/>
                <a:ea typeface="Liter"/>
              </a:rPr>
              <a:t>轻松小赢区</a:t>
            </a:r>
            <a:endParaRPr lang="en-US" sz="1000"/>
          </a:p>
        </p:txBody>
      </p:sp>
      <p:sp>
        <p:nvSpPr>
          <p:cNvPr id="8" name="quad-label-br"/>
          <p:cNvSpPr txBox="1"/>
          <p:nvPr/>
        </p:nvSpPr>
        <p:spPr>
          <a:xfrm>
            <a:off x="6654800" y="5308600"/>
            <a:ext cx="1143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r">
              <a:lnSpc>
                <a:spcPct val="140000"/>
              </a:lnSpc>
            </a:pPr>
            <a:r>
              <a:rPr lang="en-US" sz="1000">
                <a:solidFill>
                  <a:srgbClr val="6B675F"/>
                </a:solidFill>
                <a:latin typeface="Liter"/>
                <a:ea typeface="Liter"/>
              </a:rPr>
              <a:t>暂缓评估区</a:t>
            </a:r>
            <a:endParaRPr lang="en-US" sz="1000"/>
          </a:p>
        </p:txBody>
      </p:sp>
      <p:sp>
        <p:nvSpPr>
          <p:cNvPr id="9" name="mid-v"/>
          <p:cNvSpPr/>
          <p:nvPr>
            <p:extLst>
              <p:ext uri="{F5677B7D-0D2A-4D9B-9A5C-6D8D7D0E5A5D}">
                <pptd:line encoding="base64url">eyJjdXJ2ZSI6InNoYXJwIiwicG9pbnRzIjoiMSwwIDEsMzAwIiwidmlld0JveCI6WzIsMzAwXX0</pptd:line>
              </p:ext>
            </p:extLst>
          </p:nvPr>
        </p:nvSpPr>
        <p:spPr>
          <a:xfrm>
            <a:off x="4749800" y="1778000"/>
            <a:ext cx="25400" cy="3810000"/>
          </a:xfrm>
          <a:custGeom>
            <a:avLst/>
            <a:gdLst/>
            <a:ahLst/>
            <a:cxnLst/>
            <a:rect l="l" t="t" r="r" b="b"/>
            <a:pathLst>
              <a:path w="2" h="300">
                <a:moveTo>
                  <a:pt x="1" y="0"/>
                </a:moveTo>
                <a:lnTo>
                  <a:pt x="1" y="300"/>
                </a:lnTo>
              </a:path>
            </a:pathLst>
          </a:custGeom>
          <a:noFill/>
          <a:ln w="12700">
            <a:solidFill>
              <a:srgbClr val="D8D3C8"/>
            </a:solidFill>
            <a:prstDash val="dash"/>
          </a:ln>
        </p:spPr>
      </p:sp>
      <p:sp>
        <p:nvSpPr>
          <p:cNvPr id="10" name="mid-h"/>
          <p:cNvSpPr/>
          <p:nvPr>
            <p:extLst>
              <p:ext uri="{F5677B7D-0D2A-4D9B-9A5C-6D8D7D0E5A5D}">
                <pptd:line encoding="base64url">eyJjdXJ2ZSI6InNoYXJwIiwicG9pbnRzIjoiMCwxIDQ5MCwxIiwidmlld0JveCI6WzQ5MCwyXX0</pptd:line>
              </p:ext>
            </p:extLst>
          </p:nvPr>
        </p:nvSpPr>
        <p:spPr>
          <a:xfrm>
            <a:off x="1651000" y="3670300"/>
            <a:ext cx="6223000" cy="25400"/>
          </a:xfrm>
          <a:custGeom>
            <a:avLst/>
            <a:gdLst/>
            <a:ahLst/>
            <a:cxnLst/>
            <a:rect l="l" t="t" r="r" b="b"/>
            <a:pathLst>
              <a:path w="490" h="2">
                <a:moveTo>
                  <a:pt x="0" y="1"/>
                </a:moveTo>
                <a:lnTo>
                  <a:pt x="490" y="1"/>
                </a:lnTo>
              </a:path>
            </a:pathLst>
          </a:custGeom>
          <a:noFill/>
          <a:ln w="12700">
            <a:solidFill>
              <a:srgbClr val="D8D3C8"/>
            </a:solidFill>
            <a:prstDash val="dash"/>
          </a:ln>
        </p:spPr>
      </p:sp>
      <p:sp>
        <p:nvSpPr>
          <p:cNvPr id="11" name="axis-y"/>
          <p:cNvSpPr/>
          <p:nvPr>
            <p:extLst>
              <p:ext uri="{F5677B7D-0D2A-4D9B-9A5C-6D8D7D0E5A5D}">
                <pptd:line encoding="base64url">eyJjdXJ2ZSI6InNoYXJwIiwicG9pbnRzIjoiMSwzMDAgMSwwIiwidmlld0JveCI6WzIsMzAwXX0</pptd:line>
              </p:ext>
            </p:extLst>
          </p:nvPr>
        </p:nvSpPr>
        <p:spPr>
          <a:xfrm>
            <a:off x="1638300" y="1778000"/>
            <a:ext cx="25400" cy="3810000"/>
          </a:xfrm>
          <a:custGeom>
            <a:avLst/>
            <a:gdLst/>
            <a:ahLst/>
            <a:cxnLst/>
            <a:rect l="l" t="t" r="r" b="b"/>
            <a:pathLst>
              <a:path w="2" h="300">
                <a:moveTo>
                  <a:pt x="1" y="300"/>
                </a:moveTo>
                <a:lnTo>
                  <a:pt x="1" y="0"/>
                </a:lnTo>
              </a:path>
            </a:pathLst>
          </a:custGeom>
          <a:noFill/>
          <a:ln w="25400">
            <a:solidFill>
              <a:srgbClr val="1E4D3B"/>
            </a:solidFill>
            <a:tailEnd type="arrow"/>
          </a:ln>
        </p:spPr>
      </p:sp>
      <p:sp>
        <p:nvSpPr>
          <p:cNvPr id="12" name="axis-x"/>
          <p:cNvSpPr/>
          <p:nvPr>
            <p:extLst>
              <p:ext uri="{F5677B7D-0D2A-4D9B-9A5C-6D8D7D0E5A5D}">
                <pptd:line encoding="base64url">eyJjdXJ2ZSI6InNoYXJwIiwicG9pbnRzIjoiMCwxIDQ5MCwxIiwidmlld0JveCI6WzQ5MCwyXX0</pptd:line>
              </p:ext>
            </p:extLst>
          </p:nvPr>
        </p:nvSpPr>
        <p:spPr>
          <a:xfrm>
            <a:off x="1651000" y="5575300"/>
            <a:ext cx="6223000" cy="25400"/>
          </a:xfrm>
          <a:custGeom>
            <a:avLst/>
            <a:gdLst/>
            <a:ahLst/>
            <a:cxnLst/>
            <a:rect l="l" t="t" r="r" b="b"/>
            <a:pathLst>
              <a:path w="490" h="2">
                <a:moveTo>
                  <a:pt x="0" y="1"/>
                </a:moveTo>
                <a:lnTo>
                  <a:pt x="490" y="1"/>
                </a:lnTo>
              </a:path>
            </a:pathLst>
          </a:custGeom>
          <a:noFill/>
          <a:ln w="25400">
            <a:solidFill>
              <a:srgbClr val="1E4D3B"/>
            </a:solidFill>
            <a:tailEnd type="arrow"/>
          </a:ln>
        </p:spPr>
      </p:sp>
      <p:sp>
        <p:nvSpPr>
          <p:cNvPr id="13" name="axis-y-label"/>
          <p:cNvSpPr txBox="1"/>
          <p:nvPr/>
        </p:nvSpPr>
        <p:spPr>
          <a:xfrm>
            <a:off x="1219200" y="1600200"/>
            <a:ext cx="431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40000"/>
              </a:lnSpc>
            </a:pPr>
            <a:r>
              <a:rPr lang="en-US" sz="1000">
                <a:solidFill>
                  <a:srgbClr val="6B675F"/>
                </a:solidFill>
                <a:latin typeface="Liter"/>
                <a:ea typeface="Liter"/>
              </a:rPr>
              <a:t>价值</a:t>
            </a:r>
            <a:endParaRPr lang="en-US" sz="1000"/>
          </a:p>
        </p:txBody>
      </p:sp>
      <p:sp>
        <p:nvSpPr>
          <p:cNvPr id="14" name="axis-x-label"/>
          <p:cNvSpPr txBox="1"/>
          <p:nvPr/>
        </p:nvSpPr>
        <p:spPr>
          <a:xfrm>
            <a:off x="6959600" y="5664200"/>
            <a:ext cx="914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r">
              <a:lnSpc>
                <a:spcPct val="140000"/>
              </a:lnSpc>
            </a:pPr>
            <a:r>
              <a:rPr lang="en-US" sz="1000">
                <a:solidFill>
                  <a:srgbClr val="6B675F"/>
                </a:solidFill>
                <a:latin typeface="Liter"/>
                <a:ea typeface="Liter"/>
              </a:rPr>
              <a:t>实施难度</a:t>
            </a:r>
            <a:endParaRPr lang="en-US" sz="1000"/>
          </a:p>
        </p:txBody>
      </p:sp>
      <p:sp>
        <p:nvSpPr>
          <p:cNvPr id="15" name="dot1"/>
          <p:cNvSpPr/>
          <p:nvPr/>
        </p:nvSpPr>
        <p:spPr>
          <a:xfrm>
            <a:off x="2578100" y="2197100"/>
            <a:ext cx="177800" cy="177800"/>
          </a:xfrm>
          <a:prstGeom prst="ellipse">
            <a:avLst/>
          </a:prstGeom>
          <a:solidFill>
            <a:srgbClr val="C26A2E"/>
          </a:solidFill>
          <a:ln>
            <a:noFill/>
          </a:ln>
        </p:spPr>
      </p:sp>
      <p:sp>
        <p:nvSpPr>
          <p:cNvPr id="16" name="dot1-label"/>
          <p:cNvSpPr txBox="1"/>
          <p:nvPr/>
        </p:nvSpPr>
        <p:spPr>
          <a:xfrm>
            <a:off x="2844800" y="2184400"/>
            <a:ext cx="127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22211E"/>
                </a:solidFill>
                <a:latin typeface="MiSans"/>
                <a:ea typeface="MiSans"/>
              </a:rPr>
              <a:t>墒情巡检报告</a:t>
            </a:r>
            <a:endParaRPr lang="en-US" sz="1100"/>
          </a:p>
        </p:txBody>
      </p:sp>
      <p:sp>
        <p:nvSpPr>
          <p:cNvPr id="17" name="dot2"/>
          <p:cNvSpPr/>
          <p:nvPr/>
        </p:nvSpPr>
        <p:spPr>
          <a:xfrm>
            <a:off x="3657600" y="2768600"/>
            <a:ext cx="177800" cy="177800"/>
          </a:xfrm>
          <a:prstGeom prst="ellipse">
            <a:avLst/>
          </a:prstGeom>
          <a:solidFill>
            <a:srgbClr val="C26A2E"/>
          </a:solidFill>
          <a:ln>
            <a:noFill/>
          </a:ln>
        </p:spPr>
      </p:sp>
      <p:sp>
        <p:nvSpPr>
          <p:cNvPr id="18" name="dot2-label"/>
          <p:cNvSpPr txBox="1"/>
          <p:nvPr/>
        </p:nvSpPr>
        <p:spPr>
          <a:xfrm>
            <a:off x="3924300" y="2755900"/>
            <a:ext cx="889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22211E"/>
                </a:solidFill>
                <a:latin typeface="MiSans"/>
                <a:ea typeface="MiSans"/>
              </a:rPr>
              <a:t>会议纪要</a:t>
            </a:r>
            <a:endParaRPr lang="en-US" sz="1100"/>
          </a:p>
        </p:txBody>
      </p:sp>
      <p:sp>
        <p:nvSpPr>
          <p:cNvPr id="19" name="dot3"/>
          <p:cNvSpPr/>
          <p:nvPr/>
        </p:nvSpPr>
        <p:spPr>
          <a:xfrm>
            <a:off x="2959100" y="3187700"/>
            <a:ext cx="177800" cy="177800"/>
          </a:xfrm>
          <a:prstGeom prst="ellipse">
            <a:avLst/>
          </a:prstGeom>
          <a:solidFill>
            <a:srgbClr val="C26A2E"/>
          </a:solidFill>
          <a:ln>
            <a:noFill/>
          </a:ln>
        </p:spPr>
      </p:sp>
      <p:sp>
        <p:nvSpPr>
          <p:cNvPr id="20" name="dot3-label"/>
          <p:cNvSpPr txBox="1"/>
          <p:nvPr/>
        </p:nvSpPr>
        <p:spPr>
          <a:xfrm>
            <a:off x="3225800" y="31750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22211E"/>
                </a:solidFill>
                <a:latin typeface="MiSans"/>
                <a:ea typeface="MiSans"/>
              </a:rPr>
              <a:t>知识库问答</a:t>
            </a:r>
            <a:endParaRPr lang="en-US" sz="1100"/>
          </a:p>
        </p:txBody>
      </p:sp>
      <p:sp>
        <p:nvSpPr>
          <p:cNvPr id="21" name="dot4"/>
          <p:cNvSpPr/>
          <p:nvPr/>
        </p:nvSpPr>
        <p:spPr>
          <a:xfrm>
            <a:off x="4927600" y="2133600"/>
            <a:ext cx="177800" cy="177800"/>
          </a:xfrm>
          <a:prstGeom prst="ellipse">
            <a:avLst/>
          </a:prstGeom>
          <a:solidFill>
            <a:srgbClr val="1E4D3B"/>
          </a:solidFill>
          <a:ln>
            <a:noFill/>
          </a:ln>
        </p:spPr>
      </p:sp>
      <p:sp>
        <p:nvSpPr>
          <p:cNvPr id="22" name="dot4-label"/>
          <p:cNvSpPr txBox="1"/>
          <p:nvPr/>
        </p:nvSpPr>
        <p:spPr>
          <a:xfrm>
            <a:off x="5194300" y="2120900"/>
            <a:ext cx="127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22211E"/>
                </a:solidFill>
                <a:latin typeface="MiSans"/>
                <a:ea typeface="MiSans"/>
              </a:rPr>
              <a:t>异常值守排查</a:t>
            </a:r>
            <a:endParaRPr lang="en-US" sz="1100"/>
          </a:p>
        </p:txBody>
      </p:sp>
      <p:sp>
        <p:nvSpPr>
          <p:cNvPr id="23" name="dot5"/>
          <p:cNvSpPr/>
          <p:nvPr/>
        </p:nvSpPr>
        <p:spPr>
          <a:xfrm>
            <a:off x="5499100" y="2514600"/>
            <a:ext cx="177800" cy="177800"/>
          </a:xfrm>
          <a:prstGeom prst="ellipse">
            <a:avLst/>
          </a:prstGeom>
          <a:solidFill>
            <a:srgbClr val="1E4D3B"/>
          </a:solidFill>
          <a:ln>
            <a:noFill/>
          </a:ln>
        </p:spPr>
      </p:sp>
      <p:sp>
        <p:nvSpPr>
          <p:cNvPr id="24" name="dot5-label"/>
          <p:cNvSpPr txBox="1"/>
          <p:nvPr/>
        </p:nvSpPr>
        <p:spPr>
          <a:xfrm>
            <a:off x="5765800" y="2501900"/>
            <a:ext cx="889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22211E"/>
                </a:solidFill>
                <a:latin typeface="MiSans"/>
                <a:ea typeface="MiSans"/>
              </a:rPr>
              <a:t>编码助手</a:t>
            </a:r>
            <a:endParaRPr lang="en-US" sz="1100"/>
          </a:p>
        </p:txBody>
      </p:sp>
      <p:sp>
        <p:nvSpPr>
          <p:cNvPr id="25" name="dot6"/>
          <p:cNvSpPr/>
          <p:nvPr/>
        </p:nvSpPr>
        <p:spPr>
          <a:xfrm>
            <a:off x="5372100" y="3086100"/>
            <a:ext cx="177800" cy="177800"/>
          </a:xfrm>
          <a:prstGeom prst="ellipse">
            <a:avLst/>
          </a:prstGeom>
          <a:solidFill>
            <a:srgbClr val="1E4D3B"/>
          </a:solidFill>
          <a:ln>
            <a:noFill/>
          </a:ln>
        </p:spPr>
      </p:sp>
      <p:sp>
        <p:nvSpPr>
          <p:cNvPr id="26" name="dot6-label"/>
          <p:cNvSpPr txBox="1"/>
          <p:nvPr/>
        </p:nvSpPr>
        <p:spPr>
          <a:xfrm>
            <a:off x="5638800" y="3073400"/>
            <a:ext cx="127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22211E"/>
                </a:solidFill>
                <a:latin typeface="MiSans"/>
                <a:ea typeface="MiSans"/>
              </a:rPr>
              <a:t>方案初稿生成</a:t>
            </a:r>
            <a:endParaRPr lang="en-US" sz="1100"/>
          </a:p>
        </p:txBody>
      </p:sp>
      <p:sp>
        <p:nvSpPr>
          <p:cNvPr id="27" name="dot7"/>
          <p:cNvSpPr/>
          <p:nvPr/>
        </p:nvSpPr>
        <p:spPr>
          <a:xfrm>
            <a:off x="6388100" y="3721100"/>
            <a:ext cx="177800" cy="177800"/>
          </a:xfrm>
          <a:prstGeom prst="ellipse">
            <a:avLst/>
          </a:prstGeom>
          <a:solidFill>
            <a:srgbClr val="1E4D3B"/>
          </a:solidFill>
          <a:ln>
            <a:noFill/>
          </a:ln>
        </p:spPr>
      </p:sp>
      <p:sp>
        <p:nvSpPr>
          <p:cNvPr id="28" name="dot7-label"/>
          <p:cNvSpPr txBox="1"/>
          <p:nvPr/>
        </p:nvSpPr>
        <p:spPr>
          <a:xfrm>
            <a:off x="6654800" y="3708400"/>
            <a:ext cx="889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22211E"/>
                </a:solidFill>
                <a:latin typeface="MiSans"/>
                <a:ea typeface="MiSans"/>
              </a:rPr>
              <a:t>标书框架</a:t>
            </a:r>
            <a:endParaRPr lang="en-US" sz="1100"/>
          </a:p>
        </p:txBody>
      </p:sp>
      <p:sp>
        <p:nvSpPr>
          <p:cNvPr id="29" name="dot8"/>
          <p:cNvSpPr/>
          <p:nvPr/>
        </p:nvSpPr>
        <p:spPr>
          <a:xfrm>
            <a:off x="2768600" y="4229100"/>
            <a:ext cx="177800" cy="177800"/>
          </a:xfrm>
          <a:prstGeom prst="ellipse">
            <a:avLst/>
          </a:prstGeom>
          <a:solidFill>
            <a:srgbClr val="1E4D3B"/>
          </a:solidFill>
          <a:ln>
            <a:noFill/>
          </a:ln>
        </p:spPr>
      </p:sp>
      <p:sp>
        <p:nvSpPr>
          <p:cNvPr id="30" name="dot8-label"/>
          <p:cNvSpPr txBox="1"/>
          <p:nvPr/>
        </p:nvSpPr>
        <p:spPr>
          <a:xfrm>
            <a:off x="3035300" y="42164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22211E"/>
                </a:solidFill>
                <a:latin typeface="MiSans"/>
                <a:ea typeface="MiSans"/>
              </a:rPr>
              <a:t>客户 FAQ</a:t>
            </a:r>
            <a:endParaRPr lang="en-US" sz="1100"/>
          </a:p>
        </p:txBody>
      </p:sp>
      <p:sp>
        <p:nvSpPr>
          <p:cNvPr id="31" name="guide-h"/>
          <p:cNvSpPr txBox="1"/>
          <p:nvPr/>
        </p:nvSpPr>
        <p:spPr>
          <a:xfrm>
            <a:off x="8382000" y="1778000"/>
            <a:ext cx="3098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E4D3B"/>
                </a:solidFill>
                <a:latin typeface="Liter"/>
                <a:ea typeface="Liter"/>
              </a:rPr>
              <a:t>怎么读这张图</a:t>
            </a:r>
            <a:endParaRPr lang="en-US" sz="1500"/>
          </a:p>
        </p:txBody>
      </p:sp>
      <p:sp>
        <p:nvSpPr>
          <p:cNvPr id="32" name="guide-txt"/>
          <p:cNvSpPr txBox="1"/>
          <p:nvPr/>
        </p:nvSpPr>
        <p:spPr>
          <a:xfrm>
            <a:off x="8382000" y="2108200"/>
            <a:ext cx="30988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50000"/>
              </a:lnSpc>
            </a:pPr>
            <a:r>
              <a:rPr lang="en-US" sz="1100">
                <a:solidFill>
                  <a:srgbClr val="6B675F"/>
                </a:solidFill>
                <a:latin typeface="Liter"/>
                <a:ea typeface="Liter"/>
              </a:rPr>
              <a:t>横轴:实施难度(数据可得性、系统集成、流程改动);纵轴:业务价值(省时、提质、增收)。</a:t>
            </a:r>
            <a:endParaRPr lang="en-US" sz="1100"/>
          </a:p>
        </p:txBody>
      </p:sp>
      <p:sp>
        <p:nvSpPr>
          <p:cNvPr id="33" name="legend-dot1"/>
          <p:cNvSpPr/>
          <p:nvPr/>
        </p:nvSpPr>
        <p:spPr>
          <a:xfrm>
            <a:off x="8382000" y="3009900"/>
            <a:ext cx="127000" cy="127000"/>
          </a:xfrm>
          <a:prstGeom prst="ellipse">
            <a:avLst/>
          </a:prstGeom>
          <a:solidFill>
            <a:srgbClr val="C26A2E"/>
          </a:solidFill>
          <a:ln>
            <a:noFill/>
          </a:ln>
        </p:spPr>
      </p:sp>
      <p:sp>
        <p:nvSpPr>
          <p:cNvPr id="34" name="legend-txt1"/>
          <p:cNvSpPr txBox="1"/>
          <p:nvPr/>
        </p:nvSpPr>
        <p:spPr>
          <a:xfrm>
            <a:off x="8610600" y="2971800"/>
            <a:ext cx="2870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22211E"/>
                </a:solidFill>
                <a:latin typeface="MiSans"/>
                <a:ea typeface="MiSans"/>
              </a:rPr>
              <a:t>建议优先:高价值 × 低难度</a:t>
            </a:r>
            <a:endParaRPr lang="en-US" sz="1100"/>
          </a:p>
        </p:txBody>
      </p:sp>
      <p:sp>
        <p:nvSpPr>
          <p:cNvPr id="35" name="legend-dot2"/>
          <p:cNvSpPr/>
          <p:nvPr/>
        </p:nvSpPr>
        <p:spPr>
          <a:xfrm>
            <a:off x="8382000" y="3289300"/>
            <a:ext cx="127000" cy="127000"/>
          </a:xfrm>
          <a:prstGeom prst="ellipse">
            <a:avLst/>
          </a:prstGeom>
          <a:solidFill>
            <a:srgbClr val="1E4D3B"/>
          </a:solidFill>
          <a:ln>
            <a:noFill/>
          </a:ln>
        </p:spPr>
      </p:sp>
      <p:sp>
        <p:nvSpPr>
          <p:cNvPr id="36" name="legend-txt2"/>
          <p:cNvSpPr txBox="1"/>
          <p:nvPr/>
        </p:nvSpPr>
        <p:spPr>
          <a:xfrm>
            <a:off x="8610600" y="3251200"/>
            <a:ext cx="2870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22211E"/>
                </a:solidFill>
                <a:latin typeface="MiSans"/>
                <a:ea typeface="MiSans"/>
              </a:rPr>
              <a:t>评估后推进</a:t>
            </a:r>
            <a:endParaRPr lang="en-US" sz="1100"/>
          </a:p>
        </p:txBody>
      </p:sp>
      <p:sp>
        <p:nvSpPr>
          <p:cNvPr id="37" name="right-divider"/>
          <p:cNvSpPr/>
          <p:nvPr/>
        </p:nvSpPr>
        <p:spPr>
          <a:xfrm>
            <a:off x="8382000" y="3606800"/>
            <a:ext cx="3098800" cy="12700"/>
          </a:xfrm>
          <a:prstGeom prst="rect">
            <a:avLst/>
          </a:prstGeom>
          <a:solidFill>
            <a:srgbClr val="D8D3C8"/>
          </a:solidFill>
          <a:ln>
            <a:noFill/>
          </a:ln>
        </p:spPr>
      </p:sp>
      <p:sp>
        <p:nvSpPr>
          <p:cNvPr id="38" name="priority-txt"/>
          <p:cNvSpPr txBox="1"/>
          <p:nvPr/>
        </p:nvSpPr>
        <p:spPr>
          <a:xfrm>
            <a:off x="8382000" y="3759200"/>
            <a:ext cx="30988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20000"/>
              </a:lnSpc>
            </a:pPr>
            <a:r>
              <a:rPr lang="en-US" sz="1200">
                <a:solidFill>
                  <a:srgbClr val="22211E"/>
                </a:solidFill>
                <a:latin typeface="MiSans"/>
                <a:ea typeface="MiSans"/>
              </a:rPr>
              <a:t>建议优先三个:</a:t>
            </a:r>
            <a:r>
              <a:rPr lang="en-US" sz="1200" b="1">
                <a:solidFill>
                  <a:srgbClr val="22211E"/>
                </a:solidFill>
                <a:latin typeface="MiSans"/>
                <a:ea typeface="MiSans"/>
              </a:rPr>
              <a:t>墒情巡检报告、会议纪要、知识库问答</a:t>
            </a:r>
            <a:r>
              <a:rPr lang="en-US" sz="1200">
                <a:solidFill>
                  <a:srgbClr val="22211E"/>
                </a:solidFill>
                <a:latin typeface="MiSans"/>
                <a:ea typeface="MiSans"/>
              </a:rPr>
              <a:t>——本月就能跑通。</a:t>
            </a:r>
            <a:endParaRPr lang="en-US" sz="1600"/>
          </a:p>
        </p:txBody>
      </p:sp>
      <p:sp>
        <p:nvSpPr>
          <p:cNvPr id="39" name="act-bg"/>
          <p:cNvSpPr/>
          <p:nvPr/>
        </p:nvSpPr>
        <p:spPr>
          <a:xfrm>
            <a:off x="8382000" y="4622800"/>
            <a:ext cx="3098800" cy="1016000"/>
          </a:xfrm>
          <a:prstGeom prst="rect">
            <a:avLst/>
          </a:prstGeom>
          <a:solidFill>
            <a:srgbClr val="EAF1EC"/>
          </a:solidFill>
          <a:ln>
            <a:noFill/>
          </a:ln>
        </p:spPr>
      </p:sp>
      <p:sp>
        <p:nvSpPr>
          <p:cNvPr id="40" name="act-icon"/>
          <p:cNvSpPr/>
          <p:nvPr>
            <p:extLst>
              <p:ext uri="{F5677B7D-0D2A-4D9B-9A5C-6D8D7D0E5A5D}">
                <pptd:icon encoding="base64url">eyJpY29uTmFtZSI6ImZhczpmbGFnIn0</pptd:icon>
              </p:ext>
            </p:extLst>
          </p:nvPr>
        </p:nvSpPr>
        <p:spPr>
          <a:xfrm>
            <a:off x="8585200" y="48260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64" y="32"/>
                </a:moveTo>
                <a:cubicBezTo>
                  <a:pt x="64" y="14"/>
                  <a:pt x="50" y="0"/>
                  <a:pt x="32" y="0"/>
                </a:cubicBezTo>
                <a:cubicBezTo>
                  <a:pt x="14" y="0"/>
                  <a:pt x="0" y="14"/>
                  <a:pt x="0" y="32"/>
                </a:cubicBezTo>
                <a:lnTo>
                  <a:pt x="0" y="480"/>
                </a:lnTo>
                <a:cubicBezTo>
                  <a:pt x="0" y="498"/>
                  <a:pt x="14" y="512"/>
                  <a:pt x="32" y="512"/>
                </a:cubicBezTo>
                <a:cubicBezTo>
                  <a:pt x="50" y="512"/>
                  <a:pt x="64" y="498"/>
                  <a:pt x="64" y="480"/>
                </a:cubicBezTo>
                <a:lnTo>
                  <a:pt x="64" y="358"/>
                </a:lnTo>
                <a:lnTo>
                  <a:pt x="127" y="340"/>
                </a:lnTo>
                <a:cubicBezTo>
                  <a:pt x="169" y="327"/>
                  <a:pt x="214" y="331"/>
                  <a:pt x="253" y="350"/>
                </a:cubicBezTo>
                <a:cubicBezTo>
                  <a:pt x="296" y="372"/>
                  <a:pt x="345" y="374"/>
                  <a:pt x="390" y="358"/>
                </a:cubicBezTo>
                <a:lnTo>
                  <a:pt x="427" y="344"/>
                </a:lnTo>
                <a:cubicBezTo>
                  <a:pt x="440" y="339"/>
                  <a:pt x="448" y="327"/>
                  <a:pt x="448" y="314"/>
                </a:cubicBezTo>
                <a:lnTo>
                  <a:pt x="448" y="66"/>
                </a:lnTo>
                <a:cubicBezTo>
                  <a:pt x="448" y="43"/>
                  <a:pt x="424" y="28"/>
                  <a:pt x="403" y="38"/>
                </a:cubicBezTo>
                <a:lnTo>
                  <a:pt x="391" y="44"/>
                </a:lnTo>
                <a:cubicBezTo>
                  <a:pt x="347" y="67"/>
                  <a:pt x="294" y="67"/>
                  <a:pt x="249" y="44"/>
                </a:cubicBezTo>
                <a:cubicBezTo>
                  <a:pt x="212" y="26"/>
                  <a:pt x="170" y="22"/>
                  <a:pt x="131" y="34"/>
                </a:cubicBezTo>
                <a:lnTo>
                  <a:pt x="64" y="54"/>
                </a:lnTo>
                <a:lnTo>
                  <a:pt x="64" y="32"/>
                </a:lnTo>
                <a:close/>
              </a:path>
            </a:pathLst>
          </a:custGeom>
          <a:solidFill>
            <a:srgbClr val="1E4D3B"/>
          </a:solidFill>
          <a:ln>
            <a:noFill/>
          </a:ln>
        </p:spPr>
      </p:sp>
      <p:sp>
        <p:nvSpPr>
          <p:cNvPr id="41" name="act-txt"/>
          <p:cNvSpPr txBox="1"/>
          <p:nvPr/>
        </p:nvSpPr>
        <p:spPr>
          <a:xfrm>
            <a:off x="8890000" y="4724400"/>
            <a:ext cx="2413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1200" b="1">
                <a:solidFill>
                  <a:srgbClr val="1E4D3B"/>
                </a:solidFill>
                <a:latin typeface="MiSans"/>
                <a:ea typeface="MiSans"/>
              </a:rPr>
              <a:t>行动</a:t>
            </a:r>
            <a:endParaRPr lang="en-US" sz="1600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1100">
                <a:solidFill>
                  <a:srgbClr val="22211E"/>
                </a:solidFill>
                <a:latin typeface="MiSans"/>
                <a:ea typeface="MiSans"/>
              </a:rPr>
              <a:t>会后每个部门认领 1 个候选场景,填入部门机会清单。</a:t>
            </a:r>
            <a:endParaRPr lang="en-US" sz="1600"/>
          </a:p>
        </p:txBody>
      </p:sp>
      <p:sp>
        <p:nvSpPr>
          <p:cNvPr id="42" name="footer-line"/>
          <p:cNvSpPr/>
          <p:nvPr/>
        </p:nvSpPr>
        <p:spPr>
          <a:xfrm>
            <a:off x="711200" y="6375400"/>
            <a:ext cx="10769600" cy="12700"/>
          </a:xfrm>
          <a:prstGeom prst="rect">
            <a:avLst/>
          </a:prstGeom>
          <a:solidFill>
            <a:srgbClr val="D8D3C8"/>
          </a:solidFill>
          <a:ln>
            <a:noFill/>
          </a:ln>
        </p:spPr>
      </p:sp>
      <p:sp>
        <p:nvSpPr>
          <p:cNvPr id="43" name="footer-left"/>
          <p:cNvSpPr txBox="1"/>
          <p:nvPr/>
        </p:nvSpPr>
        <p:spPr>
          <a:xfrm>
            <a:off x="711200" y="6477000"/>
            <a:ext cx="812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40000"/>
              </a:lnSpc>
            </a:pPr>
            <a:r>
              <a:rPr lang="en-US" sz="1000">
                <a:solidFill>
                  <a:srgbClr val="6B675F"/>
                </a:solidFill>
                <a:latin typeface="Liter"/>
                <a:ea typeface="Liter"/>
              </a:rPr>
              <a:t>教学盘点,供内部讨论 · 场景基于公开产品能力的教学推演</a:t>
            </a:r>
            <a:endParaRPr lang="en-US" sz="1000"/>
          </a:p>
        </p:txBody>
      </p:sp>
      <p:sp>
        <p:nvSpPr>
          <p:cNvPr id="44" name="footer-page"/>
          <p:cNvSpPr txBox="1"/>
          <p:nvPr/>
        </p:nvSpPr>
        <p:spPr>
          <a:xfrm>
            <a:off x="10210800" y="64770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r">
              <a:lnSpc>
                <a:spcPct val="140000"/>
              </a:lnSpc>
            </a:pPr>
            <a:r>
              <a:rPr lang="en-US" sz="1000">
                <a:solidFill>
                  <a:srgbClr val="6B675F"/>
                </a:solidFill>
                <a:latin typeface="Liter"/>
                <a:ea typeface="Liter"/>
              </a:rPr>
              <a:t>33 / 35</a:t>
            </a:r>
            <a:endParaRPr lang="en-US" sz="1000"/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508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100" b="1" spc="200" kern="0">
                <a:solidFill>
                  <a:srgbClr val="C26A2E"/>
                </a:solidFill>
                <a:latin typeface="Liter"/>
                <a:ea typeface="Liter"/>
              </a:rPr>
              <a:t>06 落地行动 · 风险与边界</a:t>
            </a:r>
            <a:endParaRPr lang="en-US" sz="1100"/>
          </a:p>
        </p:txBody>
      </p:sp>
      <p:sp>
        <p:nvSpPr>
          <p:cNvPr id="3" name="title"/>
          <p:cNvSpPr txBox="1"/>
          <p:nvPr/>
        </p:nvSpPr>
        <p:spPr>
          <a:xfrm>
            <a:off x="711200" y="787400"/>
            <a:ext cx="107696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22211E"/>
                </a:solidFill>
                <a:latin typeface="Liter"/>
                <a:ea typeface="Liter"/>
              </a:rPr>
              <a:t>三条红线:数据不出界、数字要核验、高风险人确认</a:t>
            </a:r>
            <a:endParaRPr lang="en-US" sz="2600"/>
          </a:p>
        </p:txBody>
      </p:sp>
      <p:sp>
        <p:nvSpPr>
          <p:cNvPr id="4" name="rule1-bar"/>
          <p:cNvSpPr/>
          <p:nvPr/>
        </p:nvSpPr>
        <p:spPr>
          <a:xfrm>
            <a:off x="711200" y="1727200"/>
            <a:ext cx="50800" cy="685800"/>
          </a:xfrm>
          <a:prstGeom prst="rect">
            <a:avLst/>
          </a:prstGeom>
          <a:solidFill>
            <a:srgbClr val="C26A2E"/>
          </a:solidFill>
          <a:ln>
            <a:noFill/>
          </a:ln>
        </p:spPr>
      </p:sp>
      <p:sp>
        <p:nvSpPr>
          <p:cNvPr id="5" name="rule1-num"/>
          <p:cNvSpPr txBox="1"/>
          <p:nvPr/>
        </p:nvSpPr>
        <p:spPr>
          <a:xfrm>
            <a:off x="914400" y="1752600"/>
            <a:ext cx="4318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2000" b="1">
                <a:solidFill>
                  <a:srgbClr val="C26A2E"/>
                </a:solidFill>
                <a:latin typeface="MiSans"/>
                <a:ea typeface="MiSans"/>
              </a:rPr>
              <a:t>①</a:t>
            </a:r>
            <a:endParaRPr lang="en-US" sz="2000"/>
          </a:p>
        </p:txBody>
      </p:sp>
      <p:sp>
        <p:nvSpPr>
          <p:cNvPr id="6" name="rule1-title"/>
          <p:cNvSpPr txBox="1"/>
          <p:nvPr/>
        </p:nvSpPr>
        <p:spPr>
          <a:xfrm>
            <a:off x="1422400" y="1752600"/>
            <a:ext cx="203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E4D3B"/>
                </a:solidFill>
                <a:latin typeface="Liter"/>
                <a:ea typeface="Liter"/>
              </a:rPr>
              <a:t>数据安全</a:t>
            </a:r>
            <a:endParaRPr lang="en-US" sz="1500"/>
          </a:p>
        </p:txBody>
      </p:sp>
      <p:sp>
        <p:nvSpPr>
          <p:cNvPr id="7" name="rule1-desc"/>
          <p:cNvSpPr txBox="1"/>
          <p:nvPr/>
        </p:nvSpPr>
        <p:spPr>
          <a:xfrm>
            <a:off x="1422400" y="2082800"/>
            <a:ext cx="10058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200">
                <a:solidFill>
                  <a:srgbClr val="22211E"/>
                </a:solidFill>
                <a:latin typeface="MiSans"/>
                <a:ea typeface="MiSans"/>
              </a:rPr>
              <a:t>客户监测数据不出授权边界;调用外部模型前先脱敏,敏感字段不进入提示词。</a:t>
            </a:r>
            <a:endParaRPr lang="en-US" sz="1200"/>
          </a:p>
        </p:txBody>
      </p:sp>
      <p:sp>
        <p:nvSpPr>
          <p:cNvPr id="8" name="rule2-bar"/>
          <p:cNvSpPr/>
          <p:nvPr/>
        </p:nvSpPr>
        <p:spPr>
          <a:xfrm>
            <a:off x="711200" y="2540000"/>
            <a:ext cx="50800" cy="685800"/>
          </a:xfrm>
          <a:prstGeom prst="rect">
            <a:avLst/>
          </a:prstGeom>
          <a:solidFill>
            <a:srgbClr val="C26A2E"/>
          </a:solidFill>
          <a:ln>
            <a:noFill/>
          </a:ln>
        </p:spPr>
      </p:sp>
      <p:sp>
        <p:nvSpPr>
          <p:cNvPr id="9" name="rule2-num"/>
          <p:cNvSpPr txBox="1"/>
          <p:nvPr/>
        </p:nvSpPr>
        <p:spPr>
          <a:xfrm>
            <a:off x="914400" y="2565400"/>
            <a:ext cx="4318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2000" b="1">
                <a:solidFill>
                  <a:srgbClr val="C26A2E"/>
                </a:solidFill>
                <a:latin typeface="MiSans"/>
                <a:ea typeface="MiSans"/>
              </a:rPr>
              <a:t>②</a:t>
            </a:r>
            <a:endParaRPr lang="en-US" sz="2000"/>
          </a:p>
        </p:txBody>
      </p:sp>
      <p:sp>
        <p:nvSpPr>
          <p:cNvPr id="10" name="rule2-title"/>
          <p:cNvSpPr txBox="1"/>
          <p:nvPr/>
        </p:nvSpPr>
        <p:spPr>
          <a:xfrm>
            <a:off x="1422400" y="2565400"/>
            <a:ext cx="203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E4D3B"/>
                </a:solidFill>
                <a:latin typeface="Liter"/>
                <a:ea typeface="Liter"/>
              </a:rPr>
              <a:t>幻觉核查</a:t>
            </a:r>
            <a:endParaRPr lang="en-US" sz="1500"/>
          </a:p>
        </p:txBody>
      </p:sp>
      <p:sp>
        <p:nvSpPr>
          <p:cNvPr id="11" name="rule2-desc"/>
          <p:cNvSpPr txBox="1"/>
          <p:nvPr/>
        </p:nvSpPr>
        <p:spPr>
          <a:xfrm>
            <a:off x="1422400" y="2895600"/>
            <a:ext cx="10058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200">
                <a:solidFill>
                  <a:srgbClr val="22211E"/>
                </a:solidFill>
                <a:latin typeface="MiSans"/>
                <a:ea typeface="MiSans"/>
              </a:rPr>
              <a:t>对外发出的每个数字、每条事实必须人工核验——模型会一本正经地给出错误答案。</a:t>
            </a:r>
            <a:endParaRPr lang="en-US" sz="1200"/>
          </a:p>
        </p:txBody>
      </p:sp>
      <p:sp>
        <p:nvSpPr>
          <p:cNvPr id="12" name="rule3-bar"/>
          <p:cNvSpPr/>
          <p:nvPr/>
        </p:nvSpPr>
        <p:spPr>
          <a:xfrm>
            <a:off x="711200" y="3352800"/>
            <a:ext cx="50800" cy="685800"/>
          </a:xfrm>
          <a:prstGeom prst="rect">
            <a:avLst/>
          </a:prstGeom>
          <a:solidFill>
            <a:srgbClr val="C26A2E"/>
          </a:solidFill>
          <a:ln>
            <a:noFill/>
          </a:ln>
        </p:spPr>
      </p:sp>
      <p:sp>
        <p:nvSpPr>
          <p:cNvPr id="13" name="rule3-num"/>
          <p:cNvSpPr txBox="1"/>
          <p:nvPr/>
        </p:nvSpPr>
        <p:spPr>
          <a:xfrm>
            <a:off x="914400" y="3378200"/>
            <a:ext cx="4318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2000" b="1">
                <a:solidFill>
                  <a:srgbClr val="C26A2E"/>
                </a:solidFill>
                <a:latin typeface="MiSans"/>
                <a:ea typeface="MiSans"/>
              </a:rPr>
              <a:t>③</a:t>
            </a:r>
            <a:endParaRPr lang="en-US" sz="2000"/>
          </a:p>
        </p:txBody>
      </p:sp>
      <p:sp>
        <p:nvSpPr>
          <p:cNvPr id="14" name="rule3-title"/>
          <p:cNvSpPr txBox="1"/>
          <p:nvPr/>
        </p:nvSpPr>
        <p:spPr>
          <a:xfrm>
            <a:off x="1422400" y="3378200"/>
            <a:ext cx="203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1E4D3B"/>
                </a:solidFill>
                <a:latin typeface="Liter"/>
                <a:ea typeface="Liter"/>
              </a:rPr>
              <a:t>责任边界</a:t>
            </a:r>
            <a:endParaRPr lang="en-US" sz="1500"/>
          </a:p>
        </p:txBody>
      </p:sp>
      <p:sp>
        <p:nvSpPr>
          <p:cNvPr id="15" name="rule3-desc"/>
          <p:cNvSpPr txBox="1"/>
          <p:nvPr/>
        </p:nvSpPr>
        <p:spPr>
          <a:xfrm>
            <a:off x="1422400" y="3708400"/>
            <a:ext cx="10058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200">
                <a:solidFill>
                  <a:srgbClr val="22211E"/>
                </a:solidFill>
                <a:latin typeface="MiSans"/>
                <a:ea typeface="MiSans"/>
              </a:rPr>
              <a:t>高风险动作必须人确认:对外发送、预警发布、生产写入,一律先过人、再执行。</a:t>
            </a:r>
            <a:endParaRPr lang="en-US" sz="1200"/>
          </a:p>
        </p:txBody>
      </p:sp>
      <p:sp>
        <p:nvSpPr>
          <p:cNvPr id="16" name="ok-bg"/>
          <p:cNvSpPr/>
          <p:nvPr/>
        </p:nvSpPr>
        <p:spPr>
          <a:xfrm>
            <a:off x="711200" y="4318000"/>
            <a:ext cx="5283200" cy="1676400"/>
          </a:xfrm>
          <a:prstGeom prst="rect">
            <a:avLst/>
          </a:prstGeom>
          <a:solidFill>
            <a:srgbClr val="EAF1EC"/>
          </a:solidFill>
          <a:ln>
            <a:noFill/>
          </a:ln>
        </p:spPr>
      </p:sp>
      <p:sp>
        <p:nvSpPr>
          <p:cNvPr id="17" name="ok-icon"/>
          <p:cNvSpPr/>
          <p:nvPr>
            <p:extLst>
              <p:ext uri="{F5677B7D-0D2A-4D9B-9A5C-6D8D7D0E5A5D}">
                <pptd:icon encoding="base64url">eyJpY29uTmFtZSI6ImZhczpjaXJjbGUtY2hlY2sifQ</pptd:icon>
              </p:ext>
            </p:extLst>
          </p:nvPr>
        </p:nvSpPr>
        <p:spPr>
          <a:xfrm>
            <a:off x="965200" y="45212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374" y="146"/>
                </a:moveTo>
                <a:cubicBezTo>
                  <a:pt x="363" y="138"/>
                  <a:pt x="348" y="140"/>
                  <a:pt x="341" y="151"/>
                </a:cubicBezTo>
                <a:lnTo>
                  <a:pt x="221" y="315"/>
                </a:lnTo>
                <a:lnTo>
                  <a:pt x="169" y="263"/>
                </a:lnTo>
                <a:cubicBezTo>
                  <a:pt x="160" y="254"/>
                  <a:pt x="144" y="254"/>
                  <a:pt x="135" y="263"/>
                </a:cubicBezTo>
                <a:cubicBezTo>
                  <a:pt x="126" y="273"/>
                  <a:pt x="126" y="288"/>
                  <a:pt x="135" y="297"/>
                </a:cubicBezTo>
                <a:lnTo>
                  <a:pt x="207" y="369"/>
                </a:lnTo>
                <a:cubicBezTo>
                  <a:pt x="212" y="374"/>
                  <a:pt x="219" y="377"/>
                  <a:pt x="226" y="376"/>
                </a:cubicBezTo>
                <a:cubicBezTo>
                  <a:pt x="233" y="376"/>
                  <a:pt x="239" y="372"/>
                  <a:pt x="243" y="366"/>
                </a:cubicBezTo>
                <a:lnTo>
                  <a:pt x="379" y="179"/>
                </a:lnTo>
                <a:cubicBezTo>
                  <a:pt x="387" y="169"/>
                  <a:pt x="385" y="154"/>
                  <a:pt x="374" y="146"/>
                </a:cubicBezTo>
                <a:close/>
              </a:path>
            </a:pathLst>
          </a:custGeom>
          <a:solidFill>
            <a:srgbClr val="1E4D3B"/>
          </a:solidFill>
          <a:ln>
            <a:noFill/>
          </a:ln>
        </p:spPr>
      </p:sp>
      <p:sp>
        <p:nvSpPr>
          <p:cNvPr id="18" name="ok-h"/>
          <p:cNvSpPr txBox="1"/>
          <p:nvPr/>
        </p:nvSpPr>
        <p:spPr>
          <a:xfrm>
            <a:off x="1295400" y="44704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1E4D3B"/>
                </a:solidFill>
                <a:latin typeface="MiSans"/>
                <a:ea typeface="MiSans"/>
              </a:rPr>
              <a:t>可以放心派出去</a:t>
            </a:r>
            <a:endParaRPr lang="en-US" sz="1400"/>
          </a:p>
        </p:txBody>
      </p:sp>
      <p:sp>
        <p:nvSpPr>
          <p:cNvPr id="19" name="ok-list"/>
          <p:cNvSpPr txBox="1"/>
          <p:nvPr/>
        </p:nvSpPr>
        <p:spPr>
          <a:xfrm>
            <a:off x="965200" y="4851400"/>
            <a:ext cx="4826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70000"/>
              </a:lnSpc>
            </a:pPr>
            <a:r>
              <a:rPr lang="en-US" sz="1200">
                <a:solidFill>
                  <a:srgbClr val="22211E"/>
                </a:solidFill>
                <a:latin typeface="MiSans"/>
                <a:ea typeface="MiSans"/>
              </a:rPr>
              <a:t>· 辅助起草:方案、邮件、纪要初稿</a:t>
            </a:r>
            <a:endParaRPr lang="en-US" sz="1200"/>
          </a:p>
          <a:p>
            <a:pPr algn="l">
              <a:lnSpc>
                <a:spcPct val="170000"/>
              </a:lnSpc>
            </a:pPr>
            <a:r>
              <a:rPr lang="en-US" sz="1200">
                <a:solidFill>
                  <a:srgbClr val="22211E"/>
                </a:solidFill>
                <a:latin typeface="MiSans"/>
                <a:ea typeface="MiSans"/>
              </a:rPr>
              <a:t>· 内部分析:数据汇总、调研简报</a:t>
            </a:r>
            <a:endParaRPr lang="en-US" sz="1200"/>
          </a:p>
          <a:p>
            <a:pPr algn="l">
              <a:lnSpc>
                <a:spcPct val="170000"/>
              </a:lnSpc>
            </a:pPr>
            <a:r>
              <a:rPr lang="en-US" sz="1200">
                <a:solidFill>
                  <a:srgbClr val="22211E"/>
                </a:solidFill>
                <a:latin typeface="MiSans"/>
                <a:ea typeface="MiSans"/>
              </a:rPr>
              <a:t>· 值守初判:自动巡检、异常初筛</a:t>
            </a:r>
            <a:endParaRPr lang="en-US" sz="1200"/>
          </a:p>
        </p:txBody>
      </p:sp>
      <p:sp>
        <p:nvSpPr>
          <p:cNvPr id="20" name="no-bg"/>
          <p:cNvSpPr/>
          <p:nvPr/>
        </p:nvSpPr>
        <p:spPr>
          <a:xfrm>
            <a:off x="6197600" y="4318000"/>
            <a:ext cx="5283200" cy="1676400"/>
          </a:xfrm>
          <a:prstGeom prst="rect">
            <a:avLst/>
          </a:prstGeom>
          <a:solidFill>
            <a:srgbClr val="F7EBDC"/>
          </a:solidFill>
          <a:ln>
            <a:noFill/>
          </a:ln>
        </p:spPr>
      </p:sp>
      <p:sp>
        <p:nvSpPr>
          <p:cNvPr id="21" name="no-icon"/>
          <p:cNvSpPr/>
          <p:nvPr>
            <p:extLst>
              <p:ext uri="{F5677B7D-0D2A-4D9B-9A5C-6D8D7D0E5A5D}">
                <pptd:icon encoding="base64url">eyJpY29uTmFtZSI6ImZhczpoYW5kIn0</pptd:icon>
              </p:ext>
            </p:extLst>
          </p:nvPr>
        </p:nvSpPr>
        <p:spPr>
          <a:xfrm>
            <a:off x="6451600" y="45212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88" y="32"/>
                </a:moveTo>
                <a:cubicBezTo>
                  <a:pt x="288" y="14"/>
                  <a:pt x="274" y="0"/>
                  <a:pt x="256" y="0"/>
                </a:cubicBezTo>
                <a:cubicBezTo>
                  <a:pt x="238" y="0"/>
                  <a:pt x="224" y="14"/>
                  <a:pt x="224" y="32"/>
                </a:cubicBezTo>
                <a:lnTo>
                  <a:pt x="224" y="240"/>
                </a:lnTo>
                <a:cubicBezTo>
                  <a:pt x="224" y="249"/>
                  <a:pt x="217" y="256"/>
                  <a:pt x="208" y="256"/>
                </a:cubicBezTo>
                <a:cubicBezTo>
                  <a:pt x="199" y="256"/>
                  <a:pt x="192" y="249"/>
                  <a:pt x="192" y="240"/>
                </a:cubicBezTo>
                <a:lnTo>
                  <a:pt x="192" y="64"/>
                </a:lnTo>
                <a:cubicBezTo>
                  <a:pt x="192" y="46"/>
                  <a:pt x="178" y="32"/>
                  <a:pt x="160" y="32"/>
                </a:cubicBezTo>
                <a:cubicBezTo>
                  <a:pt x="142" y="32"/>
                  <a:pt x="128" y="46"/>
                  <a:pt x="128" y="64"/>
                </a:cubicBezTo>
                <a:lnTo>
                  <a:pt x="128" y="336"/>
                </a:lnTo>
                <a:cubicBezTo>
                  <a:pt x="128" y="338"/>
                  <a:pt x="128" y="339"/>
                  <a:pt x="128" y="341"/>
                </a:cubicBezTo>
                <a:lnTo>
                  <a:pt x="68" y="283"/>
                </a:lnTo>
                <a:cubicBezTo>
                  <a:pt x="52" y="268"/>
                  <a:pt x="26" y="268"/>
                  <a:pt x="11" y="284"/>
                </a:cubicBezTo>
                <a:cubicBezTo>
                  <a:pt x="-4" y="300"/>
                  <a:pt x="-4" y="326"/>
                  <a:pt x="12" y="341"/>
                </a:cubicBezTo>
                <a:lnTo>
                  <a:pt x="125" y="448"/>
                </a:lnTo>
                <a:cubicBezTo>
                  <a:pt x="168" y="489"/>
                  <a:pt x="225" y="512"/>
                  <a:pt x="285" y="512"/>
                </a:cubicBezTo>
                <a:lnTo>
                  <a:pt x="304" y="512"/>
                </a:lnTo>
                <a:cubicBezTo>
                  <a:pt x="401" y="512"/>
                  <a:pt x="480" y="433"/>
                  <a:pt x="480" y="336"/>
                </a:cubicBezTo>
                <a:lnTo>
                  <a:pt x="480" y="128"/>
                </a:lnTo>
                <a:cubicBezTo>
                  <a:pt x="480" y="110"/>
                  <a:pt x="466" y="96"/>
                  <a:pt x="448" y="96"/>
                </a:cubicBezTo>
                <a:cubicBezTo>
                  <a:pt x="430" y="96"/>
                  <a:pt x="416" y="110"/>
                  <a:pt x="416" y="128"/>
                </a:cubicBezTo>
                <a:lnTo>
                  <a:pt x="416" y="240"/>
                </a:lnTo>
                <a:cubicBezTo>
                  <a:pt x="416" y="249"/>
                  <a:pt x="409" y="256"/>
                  <a:pt x="400" y="256"/>
                </a:cubicBezTo>
                <a:cubicBezTo>
                  <a:pt x="391" y="256"/>
                  <a:pt x="384" y="249"/>
                  <a:pt x="384" y="240"/>
                </a:cubicBezTo>
                <a:lnTo>
                  <a:pt x="384" y="64"/>
                </a:lnTo>
                <a:cubicBezTo>
                  <a:pt x="384" y="46"/>
                  <a:pt x="370" y="32"/>
                  <a:pt x="352" y="32"/>
                </a:cubicBezTo>
                <a:cubicBezTo>
                  <a:pt x="334" y="32"/>
                  <a:pt x="320" y="46"/>
                  <a:pt x="320" y="64"/>
                </a:cubicBezTo>
                <a:lnTo>
                  <a:pt x="320" y="240"/>
                </a:lnTo>
                <a:cubicBezTo>
                  <a:pt x="320" y="249"/>
                  <a:pt x="313" y="256"/>
                  <a:pt x="304" y="256"/>
                </a:cubicBezTo>
                <a:cubicBezTo>
                  <a:pt x="295" y="256"/>
                  <a:pt x="288" y="249"/>
                  <a:pt x="288" y="240"/>
                </a:cubicBezTo>
                <a:lnTo>
                  <a:pt x="288" y="32"/>
                </a:lnTo>
                <a:close/>
              </a:path>
            </a:pathLst>
          </a:custGeom>
          <a:solidFill>
            <a:srgbClr val="C26A2E"/>
          </a:solidFill>
          <a:ln>
            <a:noFill/>
          </a:ln>
        </p:spPr>
      </p:sp>
      <p:sp>
        <p:nvSpPr>
          <p:cNvPr id="22" name="no-h"/>
          <p:cNvSpPr txBox="1"/>
          <p:nvPr/>
        </p:nvSpPr>
        <p:spPr>
          <a:xfrm>
            <a:off x="6781800" y="44704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C26A2E"/>
                </a:solidFill>
                <a:latin typeface="MiSans"/>
                <a:ea typeface="MiSans"/>
              </a:rPr>
              <a:t>必须人在回路</a:t>
            </a:r>
            <a:endParaRPr lang="en-US" sz="1400"/>
          </a:p>
        </p:txBody>
      </p:sp>
      <p:sp>
        <p:nvSpPr>
          <p:cNvPr id="23" name="no-list"/>
          <p:cNvSpPr txBox="1"/>
          <p:nvPr/>
        </p:nvSpPr>
        <p:spPr>
          <a:xfrm>
            <a:off x="6451600" y="4851400"/>
            <a:ext cx="4826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70000"/>
              </a:lnSpc>
            </a:pPr>
            <a:r>
              <a:rPr lang="en-US" sz="1200">
                <a:solidFill>
                  <a:srgbClr val="22211E"/>
                </a:solidFill>
                <a:latin typeface="MiSans"/>
                <a:ea typeface="MiSans"/>
              </a:rPr>
              <a:t>· 对外交付:报告、方案发出前</a:t>
            </a:r>
            <a:endParaRPr lang="en-US" sz="1200"/>
          </a:p>
          <a:p>
            <a:pPr algn="l">
              <a:lnSpc>
                <a:spcPct val="170000"/>
              </a:lnSpc>
            </a:pPr>
            <a:r>
              <a:rPr lang="en-US" sz="1200">
                <a:solidFill>
                  <a:srgbClr val="22211E"/>
                </a:solidFill>
                <a:latin typeface="MiSans"/>
                <a:ea typeface="MiSans"/>
              </a:rPr>
              <a:t>· 预警发布:地灾、墒情预警信息</a:t>
            </a:r>
            <a:endParaRPr lang="en-US" sz="1200"/>
          </a:p>
          <a:p>
            <a:pPr algn="l">
              <a:lnSpc>
                <a:spcPct val="170000"/>
              </a:lnSpc>
            </a:pPr>
            <a:r>
              <a:rPr lang="en-US" sz="1200">
                <a:solidFill>
                  <a:srgbClr val="22211E"/>
                </a:solidFill>
                <a:latin typeface="MiSans"/>
                <a:ea typeface="MiSans"/>
              </a:rPr>
              <a:t>· 系统变更:生产写入、配置修改</a:t>
            </a:r>
            <a:endParaRPr lang="en-US" sz="1200"/>
          </a:p>
        </p:txBody>
      </p:sp>
      <p:sp>
        <p:nvSpPr>
          <p:cNvPr id="24" name="footer-line"/>
          <p:cNvSpPr/>
          <p:nvPr/>
        </p:nvSpPr>
        <p:spPr>
          <a:xfrm>
            <a:off x="711200" y="6375400"/>
            <a:ext cx="10769600" cy="12700"/>
          </a:xfrm>
          <a:prstGeom prst="rect">
            <a:avLst/>
          </a:prstGeom>
          <a:solidFill>
            <a:srgbClr val="D8D3C8"/>
          </a:solidFill>
          <a:ln>
            <a:noFill/>
          </a:ln>
        </p:spPr>
      </p:sp>
      <p:sp>
        <p:nvSpPr>
          <p:cNvPr id="25" name="footer-left"/>
          <p:cNvSpPr txBox="1"/>
          <p:nvPr/>
        </p:nvSpPr>
        <p:spPr>
          <a:xfrm>
            <a:off x="711200" y="6477000"/>
            <a:ext cx="812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40000"/>
              </a:lnSpc>
            </a:pPr>
            <a:r>
              <a:rPr lang="en-US" sz="1000">
                <a:solidFill>
                  <a:srgbClr val="6B675F"/>
                </a:solidFill>
                <a:latin typeface="Liter"/>
                <a:ea typeface="Liter"/>
              </a:rPr>
              <a:t>东方智感 · AI 内训第三期 | 护栏共识,全员须记住</a:t>
            </a:r>
            <a:endParaRPr lang="en-US" sz="1000"/>
          </a:p>
        </p:txBody>
      </p:sp>
      <p:sp>
        <p:nvSpPr>
          <p:cNvPr id="26" name="footer-page"/>
          <p:cNvSpPr txBox="1"/>
          <p:nvPr/>
        </p:nvSpPr>
        <p:spPr>
          <a:xfrm>
            <a:off x="10210800" y="64770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r">
              <a:lnSpc>
                <a:spcPct val="140000"/>
              </a:lnSpc>
            </a:pPr>
            <a:r>
              <a:rPr lang="en-US" sz="1000">
                <a:solidFill>
                  <a:srgbClr val="6B675F"/>
                </a:solidFill>
                <a:latin typeface="Liter"/>
                <a:ea typeface="Liter"/>
              </a:rPr>
              <a:t>34 / 35</a:t>
            </a:r>
            <a:endParaRPr lang="en-US" sz="1000"/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508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1100" b="1" spc="200" kern="0">
                <a:solidFill>
                  <a:srgbClr val="C26A2E"/>
                </a:solidFill>
                <a:latin typeface="Liter"/>
                <a:ea typeface="Liter"/>
              </a:rPr>
              <a:t>06 落地行动 · 30 天行动计划</a:t>
            </a:r>
            <a:endParaRPr lang="en-US" sz="1100"/>
          </a:p>
        </p:txBody>
      </p:sp>
      <p:sp>
        <p:nvSpPr>
          <p:cNvPr id="3" name="title"/>
          <p:cNvSpPr txBox="1"/>
          <p:nvPr/>
        </p:nvSpPr>
        <p:spPr>
          <a:xfrm>
            <a:off x="711200" y="787400"/>
            <a:ext cx="107696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20000"/>
              </a:lnSpc>
            </a:pPr>
            <a:r>
              <a:rPr lang="en-US" sz="2600" b="1">
                <a:solidFill>
                  <a:srgbClr val="22211E"/>
                </a:solidFill>
                <a:latin typeface="Liter"/>
                <a:ea typeface="Liter"/>
              </a:rPr>
              <a:t>30 天行动计划:从第一张委派单开始</a:t>
            </a:r>
            <a:endParaRPr lang="en-US" sz="2600"/>
          </a:p>
        </p:txBody>
      </p:sp>
      <p:sp>
        <p:nvSpPr>
          <p:cNvPr id="4" name="tl-week1"/>
          <p:cNvSpPr txBox="1"/>
          <p:nvPr/>
        </p:nvSpPr>
        <p:spPr>
          <a:xfrm>
            <a:off x="787400" y="21082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ctr">
              <a:lnSpc>
                <a:spcPct val="120000"/>
              </a:lnSpc>
            </a:pPr>
            <a:r>
              <a:rPr lang="en-US" sz="1400" b="1">
                <a:solidFill>
                  <a:srgbClr val="C26A2E"/>
                </a:solidFill>
                <a:latin typeface="MiSans"/>
                <a:ea typeface="MiSans"/>
              </a:rPr>
              <a:t>第 1 周</a:t>
            </a:r>
            <a:endParaRPr lang="en-US" sz="1400"/>
          </a:p>
        </p:txBody>
      </p:sp>
      <p:sp>
        <p:nvSpPr>
          <p:cNvPr id="5" name="tl-week2"/>
          <p:cNvSpPr txBox="1"/>
          <p:nvPr/>
        </p:nvSpPr>
        <p:spPr>
          <a:xfrm>
            <a:off x="3479800" y="21082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ctr">
              <a:lnSpc>
                <a:spcPct val="120000"/>
              </a:lnSpc>
            </a:pPr>
            <a:r>
              <a:rPr lang="en-US" sz="1400" b="1">
                <a:solidFill>
                  <a:srgbClr val="C26A2E"/>
                </a:solidFill>
                <a:latin typeface="MiSans"/>
                <a:ea typeface="MiSans"/>
              </a:rPr>
              <a:t>第 2 周</a:t>
            </a:r>
            <a:endParaRPr lang="en-US" sz="1400"/>
          </a:p>
        </p:txBody>
      </p:sp>
      <p:sp>
        <p:nvSpPr>
          <p:cNvPr id="6" name="tl-week3"/>
          <p:cNvSpPr txBox="1"/>
          <p:nvPr/>
        </p:nvSpPr>
        <p:spPr>
          <a:xfrm>
            <a:off x="6172200" y="21082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ctr">
              <a:lnSpc>
                <a:spcPct val="120000"/>
              </a:lnSpc>
            </a:pPr>
            <a:r>
              <a:rPr lang="en-US" sz="1400" b="1">
                <a:solidFill>
                  <a:srgbClr val="C26A2E"/>
                </a:solidFill>
                <a:latin typeface="MiSans"/>
                <a:ea typeface="MiSans"/>
              </a:rPr>
              <a:t>第 3 周</a:t>
            </a:r>
            <a:endParaRPr lang="en-US" sz="1400"/>
          </a:p>
        </p:txBody>
      </p:sp>
      <p:sp>
        <p:nvSpPr>
          <p:cNvPr id="7" name="tl-week4"/>
          <p:cNvSpPr txBox="1"/>
          <p:nvPr/>
        </p:nvSpPr>
        <p:spPr>
          <a:xfrm>
            <a:off x="8864600" y="21082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ctr">
              <a:lnSpc>
                <a:spcPct val="120000"/>
              </a:lnSpc>
            </a:pPr>
            <a:r>
              <a:rPr lang="en-US" sz="1400" b="1">
                <a:solidFill>
                  <a:srgbClr val="C26A2E"/>
                </a:solidFill>
                <a:latin typeface="MiSans"/>
                <a:ea typeface="MiSans"/>
              </a:rPr>
              <a:t>第 4 周</a:t>
            </a:r>
            <a:endParaRPr lang="en-US" sz="1400"/>
          </a:p>
        </p:txBody>
      </p:sp>
      <p:sp>
        <p:nvSpPr>
          <p:cNvPr id="8" name="tl-line"/>
          <p:cNvSpPr/>
          <p:nvPr>
            <p:extLst>
              <p:ext uri="{F5677B7D-0D2A-4D9B-9A5C-6D8D7D0E5A5D}">
                <pptd:line encoding="base64url">eyJjdXJ2ZSI6InNoYXJwIiwicG9pbnRzIjoiMCwxIDc0OCwxIiwidmlld0JveCI6Wzc0OCwyXX0</pptd:line>
              </p:ext>
            </p:extLst>
          </p:nvPr>
        </p:nvSpPr>
        <p:spPr>
          <a:xfrm>
            <a:off x="1346200" y="2654300"/>
            <a:ext cx="9499600" cy="25400"/>
          </a:xfrm>
          <a:custGeom>
            <a:avLst/>
            <a:gdLst/>
            <a:ahLst/>
            <a:cxnLst/>
            <a:rect l="l" t="t" r="r" b="b"/>
            <a:pathLst>
              <a:path w="748" h="2">
                <a:moveTo>
                  <a:pt x="0" y="1"/>
                </a:moveTo>
                <a:lnTo>
                  <a:pt x="748" y="1"/>
                </a:lnTo>
              </a:path>
            </a:pathLst>
          </a:custGeom>
          <a:noFill/>
          <a:ln w="25400">
            <a:solidFill>
              <a:srgbClr val="1E4D3B"/>
            </a:solidFill>
            <a:tailEnd type="arrow"/>
          </a:ln>
        </p:spPr>
      </p:sp>
      <p:sp>
        <p:nvSpPr>
          <p:cNvPr id="9" name="tl-node1"/>
          <p:cNvSpPr/>
          <p:nvPr/>
        </p:nvSpPr>
        <p:spPr>
          <a:xfrm>
            <a:off x="1930400" y="2540000"/>
            <a:ext cx="254000" cy="254000"/>
          </a:xfrm>
          <a:prstGeom prst="ellipse">
            <a:avLst/>
          </a:prstGeom>
          <a:solidFill>
            <a:srgbClr val="1E4D3B"/>
          </a:solidFill>
          <a:ln>
            <a:noFill/>
          </a:ln>
        </p:spPr>
      </p:sp>
      <p:sp>
        <p:nvSpPr>
          <p:cNvPr id="10" name="tl-node2"/>
          <p:cNvSpPr/>
          <p:nvPr/>
        </p:nvSpPr>
        <p:spPr>
          <a:xfrm>
            <a:off x="4622800" y="2540000"/>
            <a:ext cx="254000" cy="254000"/>
          </a:xfrm>
          <a:prstGeom prst="ellipse">
            <a:avLst/>
          </a:prstGeom>
          <a:solidFill>
            <a:srgbClr val="1E4D3B"/>
          </a:solidFill>
          <a:ln>
            <a:noFill/>
          </a:ln>
        </p:spPr>
      </p:sp>
      <p:sp>
        <p:nvSpPr>
          <p:cNvPr id="11" name="tl-node3"/>
          <p:cNvSpPr/>
          <p:nvPr/>
        </p:nvSpPr>
        <p:spPr>
          <a:xfrm>
            <a:off x="7315200" y="2540000"/>
            <a:ext cx="254000" cy="254000"/>
          </a:xfrm>
          <a:prstGeom prst="ellipse">
            <a:avLst/>
          </a:prstGeom>
          <a:solidFill>
            <a:srgbClr val="1E4D3B"/>
          </a:solidFill>
          <a:ln>
            <a:noFill/>
          </a:ln>
        </p:spPr>
      </p:sp>
      <p:sp>
        <p:nvSpPr>
          <p:cNvPr id="12" name="tl-node4"/>
          <p:cNvSpPr/>
          <p:nvPr/>
        </p:nvSpPr>
        <p:spPr>
          <a:xfrm>
            <a:off x="10007600" y="2540000"/>
            <a:ext cx="254000" cy="254000"/>
          </a:xfrm>
          <a:prstGeom prst="ellipse">
            <a:avLst/>
          </a:prstGeom>
          <a:solidFill>
            <a:srgbClr val="C26A2E"/>
          </a:solidFill>
          <a:ln>
            <a:noFill/>
          </a:ln>
        </p:spPr>
      </p:sp>
      <p:sp>
        <p:nvSpPr>
          <p:cNvPr id="13" name="tl-desc1"/>
          <p:cNvSpPr txBox="1"/>
          <p:nvPr/>
        </p:nvSpPr>
        <p:spPr>
          <a:xfrm>
            <a:off x="787400" y="2971800"/>
            <a:ext cx="254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ctr">
              <a:lnSpc>
                <a:spcPct val="150000"/>
              </a:lnSpc>
            </a:pPr>
            <a:r>
              <a:rPr lang="en-US" sz="1100">
                <a:solidFill>
                  <a:srgbClr val="22211E"/>
                </a:solidFill>
                <a:latin typeface="MiSans"/>
                <a:ea typeface="MiSans"/>
              </a:rPr>
              <a:t>写一张任务委派单,并用 Agent 完整跑通一次</a:t>
            </a:r>
            <a:endParaRPr lang="en-US" sz="1100"/>
          </a:p>
        </p:txBody>
      </p:sp>
      <p:sp>
        <p:nvSpPr>
          <p:cNvPr id="14" name="tl-desc2"/>
          <p:cNvSpPr txBox="1"/>
          <p:nvPr/>
        </p:nvSpPr>
        <p:spPr>
          <a:xfrm>
            <a:off x="3479800" y="2971800"/>
            <a:ext cx="254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ctr">
              <a:lnSpc>
                <a:spcPct val="150000"/>
              </a:lnSpc>
            </a:pPr>
            <a:r>
              <a:rPr lang="en-US" sz="1100">
                <a:solidFill>
                  <a:srgbClr val="22211E"/>
                </a:solidFill>
                <a:latin typeface="MiSans"/>
                <a:ea typeface="MiSans"/>
              </a:rPr>
              <a:t>复盘循环:目标—行动—反馈—验证,哪一环缺失</a:t>
            </a:r>
            <a:endParaRPr lang="en-US" sz="1100"/>
          </a:p>
        </p:txBody>
      </p:sp>
      <p:sp>
        <p:nvSpPr>
          <p:cNvPr id="15" name="tl-desc3"/>
          <p:cNvSpPr txBox="1"/>
          <p:nvPr/>
        </p:nvSpPr>
        <p:spPr>
          <a:xfrm>
            <a:off x="6172200" y="2971800"/>
            <a:ext cx="2540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ctr">
              <a:lnSpc>
                <a:spcPct val="150000"/>
              </a:lnSpc>
            </a:pPr>
            <a:r>
              <a:rPr lang="en-US" sz="1100">
                <a:solidFill>
                  <a:srgbClr val="22211E"/>
                </a:solidFill>
                <a:latin typeface="MiSans"/>
                <a:ea typeface="MiSans"/>
              </a:rPr>
              <a:t>在部门内分享一个跑通的场景</a:t>
            </a:r>
            <a:endParaRPr lang="en-US" sz="1100"/>
          </a:p>
        </p:txBody>
      </p:sp>
      <p:sp>
        <p:nvSpPr>
          <p:cNvPr id="16" name="tl-desc4"/>
          <p:cNvSpPr txBox="1"/>
          <p:nvPr/>
        </p:nvSpPr>
        <p:spPr>
          <a:xfrm>
            <a:off x="8864600" y="2971800"/>
            <a:ext cx="254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ctr">
              <a:lnSpc>
                <a:spcPct val="150000"/>
              </a:lnSpc>
            </a:pPr>
            <a:r>
              <a:rPr lang="en-US" sz="1100">
                <a:solidFill>
                  <a:srgbClr val="22211E"/>
                </a:solidFill>
                <a:latin typeface="MiSans"/>
                <a:ea typeface="MiSans"/>
              </a:rPr>
              <a:t>提交「机会地图」认领,进入公司落地清单</a:t>
            </a:r>
            <a:endParaRPr lang="en-US" sz="1100"/>
          </a:p>
        </p:txBody>
      </p:sp>
      <p:sp>
        <p:nvSpPr>
          <p:cNvPr id="17" name="end-bar"/>
          <p:cNvSpPr/>
          <p:nvPr/>
        </p:nvSpPr>
        <p:spPr>
          <a:xfrm>
            <a:off x="5461000" y="4241800"/>
            <a:ext cx="1270000" cy="38100"/>
          </a:xfrm>
          <a:prstGeom prst="rect">
            <a:avLst/>
          </a:prstGeom>
          <a:solidFill>
            <a:srgbClr val="C26A2E"/>
          </a:solidFill>
          <a:ln>
            <a:noFill/>
          </a:ln>
        </p:spPr>
      </p:sp>
      <p:sp>
        <p:nvSpPr>
          <p:cNvPr id="18" name="end-txt"/>
          <p:cNvSpPr txBox="1"/>
          <p:nvPr/>
        </p:nvSpPr>
        <p:spPr>
          <a:xfrm>
            <a:off x="1651000" y="4521200"/>
            <a:ext cx="88900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ctr">
              <a:lnSpc>
                <a:spcPct val="120000"/>
              </a:lnSpc>
            </a:pPr>
            <a:r>
              <a:rPr lang="en-US" sz="2200" b="1">
                <a:solidFill>
                  <a:srgbClr val="1E4D3B"/>
                </a:solidFill>
                <a:latin typeface="MiSans"/>
                <a:ea typeface="MiSans"/>
              </a:rPr>
              <a:t>从会问到会派活</a:t>
            </a:r>
            <a:endParaRPr lang="en-US" sz="1600"/>
          </a:p>
          <a:p>
            <a:pPr algn="ctr">
              <a:lnSpc>
                <a:spcPct val="120000"/>
              </a:lnSpc>
              <a:spcBef>
                <a:spcPts val="1200"/>
              </a:spcBef>
            </a:pPr>
            <a:r>
              <a:rPr lang="en-US" sz="1300">
                <a:solidFill>
                  <a:srgbClr val="6B675F"/>
                </a:solidFill>
                <a:latin typeface="MiSans"/>
                <a:ea typeface="MiSans"/>
              </a:rPr>
              <a:t>智能体时代,感知真实世界的人,也要学会指挥数字世界的手</a:t>
            </a:r>
            <a:endParaRPr lang="en-US" sz="1600"/>
          </a:p>
        </p:txBody>
      </p:sp>
      <p:sp>
        <p:nvSpPr>
          <p:cNvPr id="19" name="end-caption"/>
          <p:cNvSpPr txBox="1"/>
          <p:nvPr/>
        </p:nvSpPr>
        <p:spPr>
          <a:xfrm>
            <a:off x="2921000" y="5740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ctr">
              <a:lnSpc>
                <a:spcPct val="140000"/>
              </a:lnSpc>
            </a:pPr>
            <a:r>
              <a:rPr lang="en-US" sz="1000">
                <a:solidFill>
                  <a:srgbClr val="6B675F"/>
                </a:solidFill>
                <a:latin typeface="Liter"/>
                <a:ea typeface="Liter"/>
              </a:rPr>
              <a:t>东方智感 Insentek · AI 内训第三期 · 感谢参与</a:t>
            </a:r>
            <a:endParaRPr lang="en-US" sz="1000"/>
          </a:p>
        </p:txBody>
      </p:sp>
      <p:sp>
        <p:nvSpPr>
          <p:cNvPr id="20" name="footer-line"/>
          <p:cNvSpPr/>
          <p:nvPr/>
        </p:nvSpPr>
        <p:spPr>
          <a:xfrm>
            <a:off x="711200" y="6375400"/>
            <a:ext cx="10769600" cy="12700"/>
          </a:xfrm>
          <a:prstGeom prst="rect">
            <a:avLst/>
          </a:prstGeom>
          <a:solidFill>
            <a:srgbClr val="D8D3C8"/>
          </a:solidFill>
          <a:ln>
            <a:noFill/>
          </a:ln>
        </p:spPr>
      </p:sp>
      <p:sp>
        <p:nvSpPr>
          <p:cNvPr id="21" name="footer-left"/>
          <p:cNvSpPr txBox="1"/>
          <p:nvPr/>
        </p:nvSpPr>
        <p:spPr>
          <a:xfrm>
            <a:off x="711200" y="6477000"/>
            <a:ext cx="812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/>
          <a:lstStyle/>
          <a:p>
            <a:pPr>
              <a:lnSpc>
                <a:spcPct val="140000"/>
              </a:lnSpc>
            </a:pPr>
            <a:r>
              <a:rPr lang="en-US" sz="1000">
                <a:solidFill>
                  <a:srgbClr val="6B675F"/>
                </a:solidFill>
                <a:latin typeface="Liter"/>
                <a:ea typeface="Liter"/>
              </a:rPr>
              <a:t>东方智感 · AI 内训第三期</a:t>
            </a:r>
            <a:endParaRPr lang="en-US" sz="1000"/>
          </a:p>
        </p:txBody>
      </p:sp>
      <p:sp>
        <p:nvSpPr>
          <p:cNvPr id="22" name="footer-page"/>
          <p:cNvSpPr txBox="1"/>
          <p:nvPr/>
        </p:nvSpPr>
        <p:spPr>
          <a:xfrm>
            <a:off x="10210800" y="64770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r">
              <a:lnSpc>
                <a:spcPct val="140000"/>
              </a:lnSpc>
            </a:pPr>
            <a:r>
              <a:rPr lang="en-US" sz="1000">
                <a:solidFill>
                  <a:srgbClr val="6B675F"/>
                </a:solidFill>
                <a:latin typeface="Liter"/>
                <a:ea typeface="Liter"/>
              </a:rPr>
              <a:t>35 / 35</a:t>
            </a:r>
            <a:endParaRPr lang="en-US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Neo Design</Application>
  <Slides>35</Slides>
</Properties>
</file>

<file path=docProps/core.xml><?xml version="1.0" encoding="utf-8"?>
<cp:coreProperties xmlns:cp="http://schemas.openxmlformats.org/package/2006/metadata/core-properties" xmlns:dc="http://purl.org/dc/elements/1.1/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/>
  </property>
</Properties>
</file>